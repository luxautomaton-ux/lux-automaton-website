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pic>
        <p:nvPicPr>
          <p:cNvPr id="2" name="Picture 1" descr="00_workshop_hero.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02</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WORKSHOP OVERVIEW</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One week. One source. One coordinated publishing system.</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A practical 90-minute workshop for founders and small teams.</a:t>
            </a:r>
          </a:p>
        </p:txBody>
      </p:sp>
      <p:sp>
        <p:nvSpPr>
          <p:cNvPr id="9" name="Rounded Rectangle 8"/>
          <p:cNvSpPr/>
          <p:nvPr/>
        </p:nvSpPr>
        <p:spPr>
          <a:xfrm>
            <a:off x="502920" y="2331720"/>
            <a:ext cx="2057400" cy="237744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514600"/>
            <a:ext cx="475488" cy="47548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01</a:t>
            </a:r>
          </a:p>
        </p:txBody>
      </p:sp>
      <p:sp>
        <p:nvSpPr>
          <p:cNvPr id="12" name="TextBox 11"/>
          <p:cNvSpPr txBox="1"/>
          <p:nvPr/>
        </p:nvSpPr>
        <p:spPr>
          <a:xfrm>
            <a:off x="1298448" y="2496312"/>
            <a:ext cx="107899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Define Your Content Pillars</a:t>
            </a:r>
          </a:p>
        </p:txBody>
      </p:sp>
      <p:sp>
        <p:nvSpPr>
          <p:cNvPr id="13" name="TextBox 12"/>
          <p:cNvSpPr txBox="1"/>
          <p:nvPr/>
        </p:nvSpPr>
        <p:spPr>
          <a:xfrm>
            <a:off x="731520" y="3008376"/>
            <a:ext cx="1600200" cy="1554480"/>
          </a:xfrm>
          <a:prstGeom prst="rect">
            <a:avLst/>
          </a:prstGeom>
          <a:noFill/>
        </p:spPr>
        <p:txBody>
          <a:bodyPr wrap="square" lIns="36576" rIns="36576" tIns="36576" bIns="36576" anchor="t">
            <a:normAutofit/>
          </a:bodyPr>
          <a:lstStyle/>
          <a:p>
            <a:pPr algn="l"/>
            <a:r>
              <a:rPr sz="1130" b="0" i="0">
                <a:solidFill>
                  <a:srgbClr val="DDE9F7"/>
                </a:solidFill>
                <a:latin typeface="Inter"/>
              </a:rPr>
              <a:t>18 min
Choose the recurring conversations your brand should lead, then create an evidence-rich bank of ideas inside each pillar.</a:t>
            </a:r>
          </a:p>
        </p:txBody>
      </p:sp>
      <p:sp>
        <p:nvSpPr>
          <p:cNvPr id="14" name="Rounded Rectangle 13"/>
          <p:cNvSpPr/>
          <p:nvPr/>
        </p:nvSpPr>
        <p:spPr>
          <a:xfrm>
            <a:off x="2816352" y="2331720"/>
            <a:ext cx="2057400" cy="237744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99232" y="2514600"/>
            <a:ext cx="475488" cy="475488"/>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51460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02</a:t>
            </a:r>
          </a:p>
        </p:txBody>
      </p:sp>
      <p:sp>
        <p:nvSpPr>
          <p:cNvPr id="17" name="TextBox 16"/>
          <p:cNvSpPr txBox="1"/>
          <p:nvPr/>
        </p:nvSpPr>
        <p:spPr>
          <a:xfrm>
            <a:off x="3611880" y="2496312"/>
            <a:ext cx="107899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Create a Weekly Publishing Rhythm</a:t>
            </a:r>
          </a:p>
        </p:txBody>
      </p:sp>
      <p:sp>
        <p:nvSpPr>
          <p:cNvPr id="18" name="TextBox 17"/>
          <p:cNvSpPr txBox="1"/>
          <p:nvPr/>
        </p:nvSpPr>
        <p:spPr>
          <a:xfrm>
            <a:off x="3044952" y="3008376"/>
            <a:ext cx="1600200" cy="1554480"/>
          </a:xfrm>
          <a:prstGeom prst="rect">
            <a:avLst/>
          </a:prstGeom>
          <a:noFill/>
        </p:spPr>
        <p:txBody>
          <a:bodyPr wrap="square" lIns="36576" rIns="36576" tIns="36576" bIns="36576" anchor="t">
            <a:normAutofit/>
          </a:bodyPr>
          <a:lstStyle/>
          <a:p>
            <a:pPr algn="l"/>
            <a:r>
              <a:rPr sz="1130" b="0" i="0">
                <a:solidFill>
                  <a:srgbClr val="DDE9F7"/>
                </a:solidFill>
                <a:latin typeface="Inter"/>
              </a:rPr>
              <a:t>18 min
Give every publishing day a purpose and connect the work through one simple production board.</a:t>
            </a:r>
          </a:p>
        </p:txBody>
      </p:sp>
      <p:sp>
        <p:nvSpPr>
          <p:cNvPr id="19" name="Rounded Rectangle 18"/>
          <p:cNvSpPr/>
          <p:nvPr/>
        </p:nvSpPr>
        <p:spPr>
          <a:xfrm>
            <a:off x="5129783" y="2331720"/>
            <a:ext cx="2057400" cy="237744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312664" y="2514600"/>
            <a:ext cx="475488" cy="47548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2664" y="251460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03</a:t>
            </a:r>
          </a:p>
        </p:txBody>
      </p:sp>
      <p:sp>
        <p:nvSpPr>
          <p:cNvPr id="22" name="TextBox 21"/>
          <p:cNvSpPr txBox="1"/>
          <p:nvPr/>
        </p:nvSpPr>
        <p:spPr>
          <a:xfrm>
            <a:off x="5925312" y="2496312"/>
            <a:ext cx="107899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Draft Without Sounding Generic</a:t>
            </a:r>
          </a:p>
        </p:txBody>
      </p:sp>
      <p:sp>
        <p:nvSpPr>
          <p:cNvPr id="23" name="TextBox 22"/>
          <p:cNvSpPr txBox="1"/>
          <p:nvPr/>
        </p:nvSpPr>
        <p:spPr>
          <a:xfrm>
            <a:off x="5358383" y="3008376"/>
            <a:ext cx="1600200" cy="1554480"/>
          </a:xfrm>
          <a:prstGeom prst="rect">
            <a:avLst/>
          </a:prstGeom>
          <a:noFill/>
        </p:spPr>
        <p:txBody>
          <a:bodyPr wrap="square" lIns="36576" rIns="36576" tIns="36576" bIns="36576" anchor="t">
            <a:normAutofit/>
          </a:bodyPr>
          <a:lstStyle/>
          <a:p>
            <a:pPr algn="l"/>
            <a:r>
              <a:rPr sz="1130" b="0" i="0">
                <a:solidFill>
                  <a:srgbClr val="DDE9F7"/>
                </a:solidFill>
                <a:latin typeface="Inter"/>
              </a:rPr>
              <a:t>20 min
Capture the founder's natural voice and use a structured drafting brief that gives AI real source material, boundaries, and intent.</a:t>
            </a:r>
          </a:p>
        </p:txBody>
      </p:sp>
      <p:sp>
        <p:nvSpPr>
          <p:cNvPr id="24" name="Rounded Rectangle 23"/>
          <p:cNvSpPr/>
          <p:nvPr/>
        </p:nvSpPr>
        <p:spPr>
          <a:xfrm>
            <a:off x="7443216" y="2331720"/>
            <a:ext cx="2057400" cy="237744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626096" y="2514600"/>
            <a:ext cx="475488"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26096" y="251460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04</a:t>
            </a:r>
          </a:p>
        </p:txBody>
      </p:sp>
      <p:sp>
        <p:nvSpPr>
          <p:cNvPr id="27" name="TextBox 26"/>
          <p:cNvSpPr txBox="1"/>
          <p:nvPr/>
        </p:nvSpPr>
        <p:spPr>
          <a:xfrm>
            <a:off x="8238744" y="2496312"/>
            <a:ext cx="107899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Review and Approve</a:t>
            </a:r>
          </a:p>
        </p:txBody>
      </p:sp>
      <p:sp>
        <p:nvSpPr>
          <p:cNvPr id="28" name="TextBox 27"/>
          <p:cNvSpPr txBox="1"/>
          <p:nvPr/>
        </p:nvSpPr>
        <p:spPr>
          <a:xfrm>
            <a:off x="7671816" y="3008376"/>
            <a:ext cx="1600200" cy="1554480"/>
          </a:xfrm>
          <a:prstGeom prst="rect">
            <a:avLst/>
          </a:prstGeom>
          <a:noFill/>
        </p:spPr>
        <p:txBody>
          <a:bodyPr wrap="square" lIns="36576" rIns="36576" tIns="36576" bIns="36576" anchor="t">
            <a:normAutofit/>
          </a:bodyPr>
          <a:lstStyle/>
          <a:p>
            <a:pPr algn="l"/>
            <a:r>
              <a:rPr sz="1130" b="0" i="0">
                <a:solidFill>
                  <a:srgbClr val="DDE9F7"/>
                </a:solidFill>
                <a:latin typeface="Inter"/>
              </a:rPr>
              <a:t>17 min
Separate drafting from approval, use a five-pass editorial review, and define the lane every asset follows before publication.</a:t>
            </a:r>
          </a:p>
        </p:txBody>
      </p:sp>
      <p:sp>
        <p:nvSpPr>
          <p:cNvPr id="29" name="Rounded Rectangle 28"/>
          <p:cNvSpPr/>
          <p:nvPr/>
        </p:nvSpPr>
        <p:spPr>
          <a:xfrm>
            <a:off x="9756648" y="2331720"/>
            <a:ext cx="2057400" cy="23774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39528" y="2514600"/>
            <a:ext cx="475488" cy="475488"/>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39528" y="251460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05</a:t>
            </a:r>
          </a:p>
        </p:txBody>
      </p:sp>
      <p:sp>
        <p:nvSpPr>
          <p:cNvPr id="32" name="TextBox 31"/>
          <p:cNvSpPr txBox="1"/>
          <p:nvPr/>
        </p:nvSpPr>
        <p:spPr>
          <a:xfrm>
            <a:off x="10552176" y="2496312"/>
            <a:ext cx="107899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Repurpose into Video and Email</a:t>
            </a:r>
          </a:p>
        </p:txBody>
      </p:sp>
      <p:sp>
        <p:nvSpPr>
          <p:cNvPr id="33" name="TextBox 32"/>
          <p:cNvSpPr txBox="1"/>
          <p:nvPr/>
        </p:nvSpPr>
        <p:spPr>
          <a:xfrm>
            <a:off x="9985248" y="3008376"/>
            <a:ext cx="1600200" cy="1554480"/>
          </a:xfrm>
          <a:prstGeom prst="rect">
            <a:avLst/>
          </a:prstGeom>
          <a:noFill/>
        </p:spPr>
        <p:txBody>
          <a:bodyPr wrap="square" lIns="36576" rIns="36576" tIns="36576" bIns="36576" anchor="t">
            <a:normAutofit/>
          </a:bodyPr>
          <a:lstStyle/>
          <a:p>
            <a:pPr algn="l"/>
            <a:r>
              <a:rPr sz="1130" b="0" i="0">
                <a:solidFill>
                  <a:srgbClr val="DDE9F7"/>
                </a:solidFill>
                <a:latin typeface="Inter"/>
              </a:rPr>
              <a:t>17 min
Translate the approved idea into channel-native video and email while preserving the original insight and voice.</a:t>
            </a:r>
          </a:p>
        </p:txBody>
      </p:sp>
      <p:sp>
        <p:nvSpPr>
          <p:cNvPr id="34" name="Rounded Rectangle 33"/>
          <p:cNvSpPr/>
          <p:nvPr/>
        </p:nvSpPr>
        <p:spPr>
          <a:xfrm>
            <a:off x="685800" y="5047488"/>
            <a:ext cx="10835640" cy="86868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239512"/>
            <a:ext cx="1234440" cy="228600"/>
          </a:xfrm>
          <a:prstGeom prst="rect">
            <a:avLst/>
          </a:prstGeom>
          <a:noFill/>
        </p:spPr>
        <p:txBody>
          <a:bodyPr wrap="square" lIns="36576" rIns="36576" tIns="36576" bIns="36576" anchor="t">
            <a:spAutoFit/>
          </a:bodyPr>
          <a:lstStyle/>
          <a:p>
            <a:pPr algn="l"/>
            <a:r>
              <a:rPr sz="900" b="1" i="0">
                <a:solidFill>
                  <a:srgbClr val="06B6D4"/>
                </a:solidFill>
                <a:latin typeface="Inter Display"/>
              </a:rPr>
              <a:t>FINAL BUILD</a:t>
            </a:r>
          </a:p>
        </p:txBody>
      </p:sp>
      <p:sp>
        <p:nvSpPr>
          <p:cNvPr id="36" name="TextBox 35"/>
          <p:cNvSpPr txBox="1"/>
          <p:nvPr/>
        </p:nvSpPr>
        <p:spPr>
          <a:xfrm>
            <a:off x="2103120" y="5166360"/>
            <a:ext cx="9098280" cy="530352"/>
          </a:xfrm>
          <a:prstGeom prst="rect">
            <a:avLst/>
          </a:prstGeom>
          <a:noFill/>
        </p:spPr>
        <p:txBody>
          <a:bodyPr wrap="square" lIns="36576" rIns="36576" tIns="36576" bIns="36576" anchor="t">
            <a:normAutofit/>
          </a:bodyPr>
          <a:lstStyle/>
          <a:p>
            <a:pPr algn="l"/>
            <a:r>
              <a:rPr sz="1350" b="1" i="0">
                <a:solidFill>
                  <a:srgbClr val="FFFFFF"/>
                </a:solidFill>
                <a:latin typeface="Inter"/>
              </a:rPr>
              <a:t>A complete one-week Content Command Center containing a three-pillar strategy, a 15-idea bank, a weekly publishing board, one approved anchor post, a short-form video script, an email draft, and a documented review and approval workflow.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03</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8B5CF6"/>
                </a:solidFill>
                <a:latin typeface="Inter Display"/>
              </a:rPr>
              <a:t>LEARNING FRAMEWORK</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What learners will build</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Every exercise creates an asset for the final Content Command Center.</a:t>
            </a:r>
          </a:p>
        </p:txBody>
      </p:sp>
      <p:sp>
        <p:nvSpPr>
          <p:cNvPr id="9" name="Rounded Rectangle 8"/>
          <p:cNvSpPr/>
          <p:nvPr/>
        </p:nvSpPr>
        <p:spPr>
          <a:xfrm>
            <a:off x="594360" y="2148840"/>
            <a:ext cx="5166360" cy="86868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 y="2313432"/>
            <a:ext cx="502920" cy="5029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286000"/>
            <a:ext cx="502920" cy="530352"/>
          </a:xfrm>
          <a:prstGeom prst="rect">
            <a:avLst/>
          </a:prstGeom>
          <a:noFill/>
        </p:spPr>
        <p:txBody>
          <a:bodyPr wrap="square" lIns="36576" rIns="36576" tIns="36576" bIns="36576" anchor="ctr">
            <a:normAutofit/>
          </a:bodyPr>
          <a:lstStyle/>
          <a:p>
            <a:pPr algn="ctr"/>
            <a:r>
              <a:rPr sz="1800" b="1" i="0">
                <a:solidFill>
                  <a:srgbClr val="FFFFFF"/>
                </a:solidFill>
                <a:latin typeface="Inter Display"/>
              </a:rPr>
              <a:t>✓</a:t>
            </a:r>
          </a:p>
        </p:txBody>
      </p:sp>
      <p:sp>
        <p:nvSpPr>
          <p:cNvPr id="12" name="TextBox 11"/>
          <p:cNvSpPr txBox="1"/>
          <p:nvPr/>
        </p:nvSpPr>
        <p:spPr>
          <a:xfrm>
            <a:off x="1399032" y="2304288"/>
            <a:ext cx="4114800" cy="512064"/>
          </a:xfrm>
          <a:prstGeom prst="rect">
            <a:avLst/>
          </a:prstGeom>
          <a:noFill/>
        </p:spPr>
        <p:txBody>
          <a:bodyPr wrap="square" lIns="36576" rIns="36576" tIns="36576" bIns="36576" anchor="t">
            <a:normAutofit/>
          </a:bodyPr>
          <a:lstStyle/>
          <a:p>
            <a:pPr algn="l"/>
            <a:r>
              <a:rPr sz="1320" b="1" i="0">
                <a:solidFill>
                  <a:srgbClr val="FFFFFF"/>
                </a:solidFill>
                <a:latin typeface="Inter"/>
              </a:rPr>
              <a:t>Define three durable content pillars tied to audience needs and business goals.</a:t>
            </a:r>
          </a:p>
        </p:txBody>
      </p:sp>
      <p:sp>
        <p:nvSpPr>
          <p:cNvPr id="13" name="Rounded Rectangle 12"/>
          <p:cNvSpPr/>
          <p:nvPr/>
        </p:nvSpPr>
        <p:spPr>
          <a:xfrm>
            <a:off x="594360" y="3246120"/>
            <a:ext cx="5166360" cy="86868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58952" y="3410712"/>
            <a:ext cx="502920" cy="5029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383279"/>
            <a:ext cx="502920" cy="530352"/>
          </a:xfrm>
          <a:prstGeom prst="rect">
            <a:avLst/>
          </a:prstGeom>
          <a:noFill/>
        </p:spPr>
        <p:txBody>
          <a:bodyPr wrap="square" lIns="36576" rIns="36576" tIns="36576" bIns="36576" anchor="ctr">
            <a:normAutofit/>
          </a:bodyPr>
          <a:lstStyle/>
          <a:p>
            <a:pPr algn="ctr"/>
            <a:r>
              <a:rPr sz="1800" b="1" i="0">
                <a:solidFill>
                  <a:srgbClr val="FFFFFF"/>
                </a:solidFill>
                <a:latin typeface="Inter Display"/>
              </a:rPr>
              <a:t>✓</a:t>
            </a:r>
          </a:p>
        </p:txBody>
      </p:sp>
      <p:sp>
        <p:nvSpPr>
          <p:cNvPr id="16" name="TextBox 15"/>
          <p:cNvSpPr txBox="1"/>
          <p:nvPr/>
        </p:nvSpPr>
        <p:spPr>
          <a:xfrm>
            <a:off x="1399032" y="3401568"/>
            <a:ext cx="4114800" cy="512064"/>
          </a:xfrm>
          <a:prstGeom prst="rect">
            <a:avLst/>
          </a:prstGeom>
          <a:noFill/>
        </p:spPr>
        <p:txBody>
          <a:bodyPr wrap="square" lIns="36576" rIns="36576" tIns="36576" bIns="36576" anchor="t">
            <a:normAutofit/>
          </a:bodyPr>
          <a:lstStyle/>
          <a:p>
            <a:pPr algn="l"/>
            <a:r>
              <a:rPr sz="1320" b="1" i="0">
                <a:solidFill>
                  <a:srgbClr val="FFFFFF"/>
                </a:solidFill>
                <a:latin typeface="Inter"/>
              </a:rPr>
              <a:t>Build a realistic weekly publishing rhythm with a clear job for each content touchpoint.</a:t>
            </a:r>
          </a:p>
        </p:txBody>
      </p:sp>
      <p:sp>
        <p:nvSpPr>
          <p:cNvPr id="17" name="Rounded Rectangle 16"/>
          <p:cNvSpPr/>
          <p:nvPr/>
        </p:nvSpPr>
        <p:spPr>
          <a:xfrm>
            <a:off x="594360" y="4343400"/>
            <a:ext cx="5166360" cy="86868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8952" y="4507992"/>
            <a:ext cx="502920" cy="5029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4480560"/>
            <a:ext cx="502920" cy="530352"/>
          </a:xfrm>
          <a:prstGeom prst="rect">
            <a:avLst/>
          </a:prstGeom>
          <a:noFill/>
        </p:spPr>
        <p:txBody>
          <a:bodyPr wrap="square" lIns="36576" rIns="36576" tIns="36576" bIns="36576" anchor="ctr">
            <a:normAutofit/>
          </a:bodyPr>
          <a:lstStyle/>
          <a:p>
            <a:pPr algn="ctr"/>
            <a:r>
              <a:rPr sz="1800" b="1" i="0">
                <a:solidFill>
                  <a:srgbClr val="FFFFFF"/>
                </a:solidFill>
                <a:latin typeface="Inter Display"/>
              </a:rPr>
              <a:t>✓</a:t>
            </a:r>
          </a:p>
        </p:txBody>
      </p:sp>
      <p:sp>
        <p:nvSpPr>
          <p:cNvPr id="20" name="TextBox 19"/>
          <p:cNvSpPr txBox="1"/>
          <p:nvPr/>
        </p:nvSpPr>
        <p:spPr>
          <a:xfrm>
            <a:off x="1399032" y="4498848"/>
            <a:ext cx="4114800" cy="512064"/>
          </a:xfrm>
          <a:prstGeom prst="rect">
            <a:avLst/>
          </a:prstGeom>
          <a:noFill/>
        </p:spPr>
        <p:txBody>
          <a:bodyPr wrap="square" lIns="36576" rIns="36576" tIns="36576" bIns="36576" anchor="t">
            <a:normAutofit/>
          </a:bodyPr>
          <a:lstStyle/>
          <a:p>
            <a:pPr algn="l"/>
            <a:r>
              <a:rPr sz="1320" b="1" i="0">
                <a:solidFill>
                  <a:srgbClr val="FFFFFF"/>
                </a:solidFill>
                <a:latin typeface="Inter"/>
              </a:rPr>
              <a:t>Create specific, evidence-rich drafts that retain the founder's natural voice.</a:t>
            </a:r>
          </a:p>
        </p:txBody>
      </p:sp>
      <p:sp>
        <p:nvSpPr>
          <p:cNvPr id="21" name="Rounded Rectangle 20"/>
          <p:cNvSpPr/>
          <p:nvPr/>
        </p:nvSpPr>
        <p:spPr>
          <a:xfrm>
            <a:off x="6309360" y="2148840"/>
            <a:ext cx="5166360" cy="86868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73952" y="2313432"/>
            <a:ext cx="50292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2286000"/>
            <a:ext cx="502920" cy="530352"/>
          </a:xfrm>
          <a:prstGeom prst="rect">
            <a:avLst/>
          </a:prstGeom>
          <a:noFill/>
        </p:spPr>
        <p:txBody>
          <a:bodyPr wrap="square" lIns="36576" rIns="36576" tIns="36576" bIns="36576" anchor="ctr">
            <a:normAutofit/>
          </a:bodyPr>
          <a:lstStyle/>
          <a:p>
            <a:pPr algn="ctr"/>
            <a:r>
              <a:rPr sz="1800" b="1" i="0">
                <a:solidFill>
                  <a:srgbClr val="FFFFFF"/>
                </a:solidFill>
                <a:latin typeface="Inter Display"/>
              </a:rPr>
              <a:t>✓</a:t>
            </a:r>
          </a:p>
        </p:txBody>
      </p:sp>
      <p:sp>
        <p:nvSpPr>
          <p:cNvPr id="24" name="TextBox 23"/>
          <p:cNvSpPr txBox="1"/>
          <p:nvPr/>
        </p:nvSpPr>
        <p:spPr>
          <a:xfrm>
            <a:off x="7114032" y="2304288"/>
            <a:ext cx="4114800" cy="512064"/>
          </a:xfrm>
          <a:prstGeom prst="rect">
            <a:avLst/>
          </a:prstGeom>
          <a:noFill/>
        </p:spPr>
        <p:txBody>
          <a:bodyPr wrap="square" lIns="36576" rIns="36576" tIns="36576" bIns="36576" anchor="t">
            <a:normAutofit/>
          </a:bodyPr>
          <a:lstStyle/>
          <a:p>
            <a:pPr algn="l"/>
            <a:r>
              <a:rPr sz="1320" b="1" i="0">
                <a:solidFill>
                  <a:srgbClr val="FFFFFF"/>
                </a:solidFill>
                <a:latin typeface="Inter"/>
              </a:rPr>
              <a:t>Apply a repeatable human review and approval process before publication.</a:t>
            </a:r>
          </a:p>
        </p:txBody>
      </p:sp>
      <p:sp>
        <p:nvSpPr>
          <p:cNvPr id="25" name="Rounded Rectangle 24"/>
          <p:cNvSpPr/>
          <p:nvPr/>
        </p:nvSpPr>
        <p:spPr>
          <a:xfrm>
            <a:off x="6309360" y="3246120"/>
            <a:ext cx="5166360" cy="86868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73952" y="3410712"/>
            <a:ext cx="502920" cy="5029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3383279"/>
            <a:ext cx="502920" cy="530352"/>
          </a:xfrm>
          <a:prstGeom prst="rect">
            <a:avLst/>
          </a:prstGeom>
          <a:noFill/>
        </p:spPr>
        <p:txBody>
          <a:bodyPr wrap="square" lIns="36576" rIns="36576" tIns="36576" bIns="36576" anchor="ctr">
            <a:normAutofit/>
          </a:bodyPr>
          <a:lstStyle/>
          <a:p>
            <a:pPr algn="ctr"/>
            <a:r>
              <a:rPr sz="1800" b="1" i="0">
                <a:solidFill>
                  <a:srgbClr val="FFFFFF"/>
                </a:solidFill>
                <a:latin typeface="Inter Display"/>
              </a:rPr>
              <a:t>✓</a:t>
            </a:r>
          </a:p>
        </p:txBody>
      </p:sp>
      <p:sp>
        <p:nvSpPr>
          <p:cNvPr id="28" name="TextBox 27"/>
          <p:cNvSpPr txBox="1"/>
          <p:nvPr/>
        </p:nvSpPr>
        <p:spPr>
          <a:xfrm>
            <a:off x="7114032" y="3401568"/>
            <a:ext cx="4114800" cy="512064"/>
          </a:xfrm>
          <a:prstGeom prst="rect">
            <a:avLst/>
          </a:prstGeom>
          <a:noFill/>
        </p:spPr>
        <p:txBody>
          <a:bodyPr wrap="square" lIns="36576" rIns="36576" tIns="36576" bIns="36576" anchor="t">
            <a:normAutofit/>
          </a:bodyPr>
          <a:lstStyle/>
          <a:p>
            <a:pPr algn="l"/>
            <a:r>
              <a:rPr sz="1320" b="1" i="0">
                <a:solidFill>
                  <a:srgbClr val="FFFFFF"/>
                </a:solidFill>
                <a:latin typeface="Inter"/>
              </a:rPr>
              <a:t>Translate one approved idea into a short-form video and an email without simple copy-and-paste repetition.</a:t>
            </a:r>
          </a:p>
        </p:txBody>
      </p:sp>
      <p:sp>
        <p:nvSpPr>
          <p:cNvPr id="29" name="Rounded Rectangle 28"/>
          <p:cNvSpPr/>
          <p:nvPr/>
        </p:nvSpPr>
        <p:spPr>
          <a:xfrm>
            <a:off x="6309360" y="4343400"/>
            <a:ext cx="5166360" cy="86868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73952" y="4507992"/>
            <a:ext cx="502920" cy="5029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4480560"/>
            <a:ext cx="502920" cy="530352"/>
          </a:xfrm>
          <a:prstGeom prst="rect">
            <a:avLst/>
          </a:prstGeom>
          <a:noFill/>
        </p:spPr>
        <p:txBody>
          <a:bodyPr wrap="square" lIns="36576" rIns="36576" tIns="36576" bIns="36576" anchor="ctr">
            <a:normAutofit/>
          </a:bodyPr>
          <a:lstStyle/>
          <a:p>
            <a:pPr algn="ctr"/>
            <a:r>
              <a:rPr sz="1800" b="1" i="0">
                <a:solidFill>
                  <a:srgbClr val="FFFFFF"/>
                </a:solidFill>
                <a:latin typeface="Inter Display"/>
              </a:rPr>
              <a:t>✓</a:t>
            </a:r>
          </a:p>
        </p:txBody>
      </p:sp>
      <p:sp>
        <p:nvSpPr>
          <p:cNvPr id="32" name="TextBox 31"/>
          <p:cNvSpPr txBox="1"/>
          <p:nvPr/>
        </p:nvSpPr>
        <p:spPr>
          <a:xfrm>
            <a:off x="7114032" y="4498848"/>
            <a:ext cx="4114800" cy="512064"/>
          </a:xfrm>
          <a:prstGeom prst="rect">
            <a:avLst/>
          </a:prstGeom>
          <a:noFill/>
        </p:spPr>
        <p:txBody>
          <a:bodyPr wrap="square" lIns="36576" rIns="36576" tIns="36576" bIns="36576" anchor="t">
            <a:normAutofit/>
          </a:bodyPr>
          <a:lstStyle/>
          <a:p>
            <a:pPr algn="l"/>
            <a:r>
              <a:rPr sz="1320" b="1" i="0">
                <a:solidFill>
                  <a:srgbClr val="FFFFFF"/>
                </a:solidFill>
                <a:latin typeface="Inter"/>
              </a:rPr>
              <a:t>Leave with a ready-to-use one-week Content Command Center.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04</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14B8A6"/>
                </a:solidFill>
                <a:latin typeface="Inter Display"/>
              </a:rPr>
              <a:t>SAFETY AND PUBLISHING TRUST</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Human approval stays in the loop</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Protect source material, claims, rights, privacy, and audience trust.</a:t>
            </a:r>
          </a:p>
        </p:txBody>
      </p:sp>
      <p:sp>
        <p:nvSpPr>
          <p:cNvPr id="9" name="TextBox 8"/>
          <p:cNvSpPr txBox="1"/>
          <p:nvPr/>
        </p:nvSpPr>
        <p:spPr>
          <a:xfrm>
            <a:off x="594360" y="2148840"/>
            <a:ext cx="5394960" cy="3337560"/>
          </a:xfrm>
          <a:prstGeom prst="rect">
            <a:avLst/>
          </a:prstGeom>
          <a:noFill/>
        </p:spPr>
        <p:txBody>
          <a:bodyPr wrap="square" lIns="27432" rIns="27432" tIns="18288" bIns="18288">
            <a:spAutoFit/>
          </a:bodyPr>
          <a:lstStyle/>
          <a:p>
            <a:pPr>
              <a:spcAft>
                <a:spcPts val="800"/>
              </a:spcAft>
              <a:defRPr sz="1600">
                <a:solidFill>
                  <a:srgbClr val="DDE9F7"/>
                </a:solidFill>
                <a:latin typeface="Inter"/>
              </a:defRPr>
            </a:pPr>
            <a:r>
              <a:t>•  Do not paste confidential customer information, private conversations, contracts, credentials, health information, financial details, or unpublished strategy into a public AI tool.</a:t>
            </a:r>
          </a:p>
          <a:p>
            <a:pPr>
              <a:spcAft>
                <a:spcPts val="800"/>
              </a:spcAft>
              <a:defRPr sz="1600">
                <a:solidFill>
                  <a:srgbClr val="DDE9F7"/>
                </a:solidFill>
                <a:latin typeface="Inter"/>
              </a:defRPr>
            </a:pPr>
            <a:r>
              <a:t>•  Use summaries, redacted examples, or approved enterprise/private systems when sensitive context is required.</a:t>
            </a:r>
          </a:p>
          <a:p>
            <a:pPr>
              <a:spcAft>
                <a:spcPts val="800"/>
              </a:spcAft>
              <a:defRPr sz="1600">
                <a:solidFill>
                  <a:srgbClr val="DDE9F7"/>
                </a:solidFill>
                <a:latin typeface="Inter"/>
              </a:defRPr>
            </a:pPr>
            <a:r>
              <a:t>•  Verify names, dates, numbers, quotations, claims, links, and source attributions before publication.</a:t>
            </a:r>
          </a:p>
          <a:p>
            <a:pPr>
              <a:spcAft>
                <a:spcPts val="800"/>
              </a:spcAft>
              <a:defRPr sz="1600">
                <a:solidFill>
                  <a:srgbClr val="DDE9F7"/>
                </a:solidFill>
                <a:latin typeface="Inter"/>
              </a:defRPr>
            </a:pPr>
            <a:r>
              <a:t>•  Keep a human approval gate for every customer-facing post, video, newsletter, or automated message.</a:t>
            </a:r>
          </a:p>
        </p:txBody>
      </p:sp>
      <p:sp>
        <p:nvSpPr>
          <p:cNvPr id="10" name="TextBox 9"/>
          <p:cNvSpPr txBox="1"/>
          <p:nvPr/>
        </p:nvSpPr>
        <p:spPr>
          <a:xfrm>
            <a:off x="6263640" y="2148840"/>
            <a:ext cx="5303520" cy="3337560"/>
          </a:xfrm>
          <a:prstGeom prst="rect">
            <a:avLst/>
          </a:prstGeom>
          <a:noFill/>
        </p:spPr>
        <p:txBody>
          <a:bodyPr wrap="square" lIns="27432" rIns="27432" tIns="18288" bIns="18288">
            <a:spAutoFit/>
          </a:bodyPr>
          <a:lstStyle/>
          <a:p>
            <a:pPr>
              <a:spcAft>
                <a:spcPts val="800"/>
              </a:spcAft>
              <a:defRPr sz="1600">
                <a:solidFill>
                  <a:srgbClr val="DDE9F7"/>
                </a:solidFill>
                <a:latin typeface="Inter"/>
              </a:defRPr>
            </a:pPr>
            <a:r>
              <a:t>•  Do not imitate another creator's distinctive voice or reproduce protected content without permission.</a:t>
            </a:r>
          </a:p>
          <a:p>
            <a:pPr>
              <a:spcAft>
                <a:spcPts val="800"/>
              </a:spcAft>
              <a:defRPr sz="1600">
                <a:solidFill>
                  <a:srgbClr val="DDE9F7"/>
                </a:solidFill>
                <a:latin typeface="Inter"/>
              </a:defRPr>
            </a:pPr>
            <a:r>
              <a:t>•  Use only photographs, music, screenshots, testimonials, and brand assets you have the right to publish.</a:t>
            </a:r>
          </a:p>
          <a:p>
            <a:pPr>
              <a:spcAft>
                <a:spcPts val="800"/>
              </a:spcAft>
              <a:defRPr sz="1600">
                <a:solidFill>
                  <a:srgbClr val="DDE9F7"/>
                </a:solidFill>
                <a:latin typeface="Inter"/>
              </a:defRPr>
            </a:pPr>
            <a:r>
              <a:t>•  Avoid presenting generated examples, composite stories, or hypothetical results as real customer evidence.</a:t>
            </a:r>
          </a:p>
          <a:p>
            <a:pPr>
              <a:spcAft>
                <a:spcPts val="800"/>
              </a:spcAft>
              <a:defRPr sz="1600">
                <a:solidFill>
                  <a:srgbClr val="DDE9F7"/>
                </a:solidFill>
                <a:latin typeface="Inter"/>
              </a:defRPr>
            </a:pPr>
            <a:r>
              <a:t>•  Make captions, transcripts, readable contrast, descriptive links, and alt text part of the publishing workflow.</a:t>
            </a:r>
          </a:p>
        </p:txBody>
      </p:sp>
      <p:sp>
        <p:nvSpPr>
          <p:cNvPr id="11" name="Rounded Rectangle 10"/>
          <p:cNvSpPr/>
          <p:nvPr/>
        </p:nvSpPr>
        <p:spPr>
          <a:xfrm>
            <a:off x="1097280" y="5715000"/>
            <a:ext cx="9966960" cy="50292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5815584"/>
            <a:ext cx="9555480" cy="256032"/>
          </a:xfrm>
          <a:prstGeom prst="rect">
            <a:avLst/>
          </a:prstGeom>
          <a:noFill/>
        </p:spPr>
        <p:txBody>
          <a:bodyPr wrap="square" lIns="36576" rIns="36576" tIns="36576" bIns="36576" anchor="t">
            <a:normAutofit/>
          </a:bodyPr>
          <a:lstStyle/>
          <a:p>
            <a:pPr algn="ctr"/>
            <a:r>
              <a:rPr sz="1300" b="1" i="0">
                <a:solidFill>
                  <a:srgbClr val="FFFFFF"/>
                </a:solidFill>
                <a:latin typeface="Inter"/>
              </a:rPr>
              <a:t>Publish only when the source, rights, reviewer, approver, and response path are clear.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05</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3B82F6"/>
                </a:solidFill>
                <a:latin typeface="Inter Display"/>
              </a:rPr>
              <a:t>FACILITATION FLOW</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Build as you learn</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Each module advances one approved anchor idea.</a:t>
            </a:r>
          </a:p>
        </p:txBody>
      </p:sp>
      <p:sp>
        <p:nvSpPr>
          <p:cNvPr id="9" name="Rounded Rectangle 8"/>
          <p:cNvSpPr/>
          <p:nvPr/>
        </p:nvSpPr>
        <p:spPr>
          <a:xfrm>
            <a:off x="594360" y="2331720"/>
            <a:ext cx="1828800" cy="205740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560320"/>
            <a:ext cx="685800" cy="685800"/>
          </a:xfrm>
          <a:prstGeom prst="rect">
            <a:avLst/>
          </a:prstGeom>
          <a:noFill/>
        </p:spPr>
        <p:txBody>
          <a:bodyPr wrap="square" lIns="36576" rIns="36576" tIns="36576" bIns="36576" anchor="ctr">
            <a:normAutofit/>
          </a:bodyPr>
          <a:lstStyle/>
          <a:p>
            <a:pPr algn="ctr"/>
            <a:r>
              <a:rPr sz="2800" b="1" i="0">
                <a:solidFill>
                  <a:srgbClr val="8B5CF6"/>
                </a:solidFill>
                <a:latin typeface="Inter Display"/>
              </a:rPr>
              <a:t>1</a:t>
            </a:r>
          </a:p>
        </p:txBody>
      </p:sp>
      <p:sp>
        <p:nvSpPr>
          <p:cNvPr id="11" name="TextBox 10"/>
          <p:cNvSpPr txBox="1"/>
          <p:nvPr/>
        </p:nvSpPr>
        <p:spPr>
          <a:xfrm>
            <a:off x="777240" y="3429000"/>
            <a:ext cx="1463040" cy="594360"/>
          </a:xfrm>
          <a:prstGeom prst="rect">
            <a:avLst/>
          </a:prstGeom>
          <a:noFill/>
        </p:spPr>
        <p:txBody>
          <a:bodyPr wrap="square" lIns="36576" rIns="36576" tIns="36576" bIns="36576" anchor="t">
            <a:normAutofit/>
          </a:bodyPr>
          <a:lstStyle/>
          <a:p>
            <a:pPr algn="ctr"/>
            <a:r>
              <a:rPr sz="1400" b="1" i="0">
                <a:solidFill>
                  <a:srgbClr val="FFFFFF"/>
                </a:solidFill>
                <a:latin typeface="Inter"/>
              </a:rPr>
              <a:t>Choose three pillars</a:t>
            </a:r>
          </a:p>
        </p:txBody>
      </p:sp>
      <p:sp>
        <p:nvSpPr>
          <p:cNvPr id="12" name="TextBox 11"/>
          <p:cNvSpPr txBox="1"/>
          <p:nvPr/>
        </p:nvSpPr>
        <p:spPr>
          <a:xfrm>
            <a:off x="2496312" y="2971800"/>
            <a:ext cx="384048" cy="365760"/>
          </a:xfrm>
          <a:prstGeom prst="rect">
            <a:avLst/>
          </a:prstGeom>
          <a:noFill/>
        </p:spPr>
        <p:txBody>
          <a:bodyPr wrap="square" lIns="36576" rIns="36576" tIns="36576" bIns="36576" anchor="t">
            <a:spAutoFit/>
          </a:bodyPr>
          <a:lstStyle/>
          <a:p>
            <a:pPr algn="ctr"/>
            <a:r>
              <a:rPr sz="2400" b="1" i="0">
                <a:solidFill>
                  <a:srgbClr val="06B6D4"/>
                </a:solidFill>
                <a:latin typeface="Inter Display"/>
              </a:rPr>
              <a:t>→</a:t>
            </a:r>
          </a:p>
        </p:txBody>
      </p:sp>
      <p:sp>
        <p:nvSpPr>
          <p:cNvPr id="13" name="Rounded Rectangle 12"/>
          <p:cNvSpPr/>
          <p:nvPr/>
        </p:nvSpPr>
        <p:spPr>
          <a:xfrm>
            <a:off x="2880360" y="2331720"/>
            <a:ext cx="1828800" cy="205740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7288" y="2560320"/>
            <a:ext cx="685800" cy="685800"/>
          </a:xfrm>
          <a:prstGeom prst="rect">
            <a:avLst/>
          </a:prstGeom>
          <a:noFill/>
        </p:spPr>
        <p:txBody>
          <a:bodyPr wrap="square" lIns="36576" rIns="36576" tIns="36576" bIns="36576" anchor="ctr">
            <a:normAutofit/>
          </a:bodyPr>
          <a:lstStyle/>
          <a:p>
            <a:pPr algn="ctr"/>
            <a:r>
              <a:rPr sz="2800" b="1" i="0">
                <a:solidFill>
                  <a:srgbClr val="3B82F6"/>
                </a:solidFill>
                <a:latin typeface="Inter Display"/>
              </a:rPr>
              <a:t>2</a:t>
            </a:r>
          </a:p>
        </p:txBody>
      </p:sp>
      <p:sp>
        <p:nvSpPr>
          <p:cNvPr id="15" name="TextBox 14"/>
          <p:cNvSpPr txBox="1"/>
          <p:nvPr/>
        </p:nvSpPr>
        <p:spPr>
          <a:xfrm>
            <a:off x="3063240" y="3429000"/>
            <a:ext cx="1463040" cy="594360"/>
          </a:xfrm>
          <a:prstGeom prst="rect">
            <a:avLst/>
          </a:prstGeom>
          <a:noFill/>
        </p:spPr>
        <p:txBody>
          <a:bodyPr wrap="square" lIns="36576" rIns="36576" tIns="36576" bIns="36576" anchor="t">
            <a:normAutofit/>
          </a:bodyPr>
          <a:lstStyle/>
          <a:p>
            <a:pPr algn="ctr"/>
            <a:r>
              <a:rPr sz="1400" b="1" i="0">
                <a:solidFill>
                  <a:srgbClr val="FFFFFF"/>
                </a:solidFill>
                <a:latin typeface="Inter"/>
              </a:rPr>
              <a:t>Build a weekly rhythm</a:t>
            </a:r>
          </a:p>
        </p:txBody>
      </p:sp>
      <p:sp>
        <p:nvSpPr>
          <p:cNvPr id="16" name="TextBox 15"/>
          <p:cNvSpPr txBox="1"/>
          <p:nvPr/>
        </p:nvSpPr>
        <p:spPr>
          <a:xfrm>
            <a:off x="4782312" y="2971800"/>
            <a:ext cx="384048" cy="365760"/>
          </a:xfrm>
          <a:prstGeom prst="rect">
            <a:avLst/>
          </a:prstGeom>
          <a:noFill/>
        </p:spPr>
        <p:txBody>
          <a:bodyPr wrap="square" lIns="36576" rIns="36576" tIns="36576" bIns="36576" anchor="t">
            <a:spAutoFit/>
          </a:bodyPr>
          <a:lstStyle/>
          <a:p>
            <a:pPr algn="ctr"/>
            <a:r>
              <a:rPr sz="2400" b="1" i="0">
                <a:solidFill>
                  <a:srgbClr val="06B6D4"/>
                </a:solidFill>
                <a:latin typeface="Inter Display"/>
              </a:rPr>
              <a:t>→</a:t>
            </a:r>
          </a:p>
        </p:txBody>
      </p:sp>
      <p:sp>
        <p:nvSpPr>
          <p:cNvPr id="17" name="Rounded Rectangle 16"/>
          <p:cNvSpPr/>
          <p:nvPr/>
        </p:nvSpPr>
        <p:spPr>
          <a:xfrm>
            <a:off x="5166360" y="2331720"/>
            <a:ext cx="1828800" cy="205740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33288" y="2560320"/>
            <a:ext cx="685800" cy="685800"/>
          </a:xfrm>
          <a:prstGeom prst="rect">
            <a:avLst/>
          </a:prstGeom>
          <a:noFill/>
        </p:spPr>
        <p:txBody>
          <a:bodyPr wrap="square" lIns="36576" rIns="36576" tIns="36576" bIns="36576" anchor="ctr">
            <a:normAutofit/>
          </a:bodyPr>
          <a:lstStyle/>
          <a:p>
            <a:pPr algn="ctr"/>
            <a:r>
              <a:rPr sz="2800" b="1" i="0">
                <a:solidFill>
                  <a:srgbClr val="06B6D4"/>
                </a:solidFill>
                <a:latin typeface="Inter Display"/>
              </a:rPr>
              <a:t>3</a:t>
            </a:r>
          </a:p>
        </p:txBody>
      </p:sp>
      <p:sp>
        <p:nvSpPr>
          <p:cNvPr id="19" name="TextBox 18"/>
          <p:cNvSpPr txBox="1"/>
          <p:nvPr/>
        </p:nvSpPr>
        <p:spPr>
          <a:xfrm>
            <a:off x="5349240" y="3429000"/>
            <a:ext cx="1463040" cy="594360"/>
          </a:xfrm>
          <a:prstGeom prst="rect">
            <a:avLst/>
          </a:prstGeom>
          <a:noFill/>
        </p:spPr>
        <p:txBody>
          <a:bodyPr wrap="square" lIns="36576" rIns="36576" tIns="36576" bIns="36576" anchor="t">
            <a:normAutofit/>
          </a:bodyPr>
          <a:lstStyle/>
          <a:p>
            <a:pPr algn="ctr"/>
            <a:r>
              <a:rPr sz="1400" b="1" i="0">
                <a:solidFill>
                  <a:srgbClr val="FFFFFF"/>
                </a:solidFill>
                <a:latin typeface="Inter"/>
              </a:rPr>
              <a:t>Draft from source and voice</a:t>
            </a:r>
          </a:p>
        </p:txBody>
      </p:sp>
      <p:sp>
        <p:nvSpPr>
          <p:cNvPr id="20" name="TextBox 19"/>
          <p:cNvSpPr txBox="1"/>
          <p:nvPr/>
        </p:nvSpPr>
        <p:spPr>
          <a:xfrm>
            <a:off x="7068312" y="2971800"/>
            <a:ext cx="384048" cy="365760"/>
          </a:xfrm>
          <a:prstGeom prst="rect">
            <a:avLst/>
          </a:prstGeom>
          <a:noFill/>
        </p:spPr>
        <p:txBody>
          <a:bodyPr wrap="square" lIns="36576" rIns="36576" tIns="36576" bIns="36576" anchor="t">
            <a:spAutoFit/>
          </a:bodyPr>
          <a:lstStyle/>
          <a:p>
            <a:pPr algn="ctr"/>
            <a:r>
              <a:rPr sz="2400" b="1" i="0">
                <a:solidFill>
                  <a:srgbClr val="06B6D4"/>
                </a:solidFill>
                <a:latin typeface="Inter Display"/>
              </a:rPr>
              <a:t>→</a:t>
            </a:r>
          </a:p>
        </p:txBody>
      </p:sp>
      <p:sp>
        <p:nvSpPr>
          <p:cNvPr id="21" name="Rounded Rectangle 20"/>
          <p:cNvSpPr/>
          <p:nvPr/>
        </p:nvSpPr>
        <p:spPr>
          <a:xfrm>
            <a:off x="7452360" y="2331720"/>
            <a:ext cx="1828800" cy="20574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9288" y="2560320"/>
            <a:ext cx="685800" cy="685800"/>
          </a:xfrm>
          <a:prstGeom prst="rect">
            <a:avLst/>
          </a:prstGeom>
          <a:noFill/>
        </p:spPr>
        <p:txBody>
          <a:bodyPr wrap="square" lIns="36576" rIns="36576" tIns="36576" bIns="36576" anchor="ctr">
            <a:normAutofit/>
          </a:bodyPr>
          <a:lstStyle/>
          <a:p>
            <a:pPr algn="ctr"/>
            <a:r>
              <a:rPr sz="2800" b="1" i="0">
                <a:solidFill>
                  <a:srgbClr val="14B8A6"/>
                </a:solidFill>
                <a:latin typeface="Inter Display"/>
              </a:rPr>
              <a:t>4</a:t>
            </a:r>
          </a:p>
        </p:txBody>
      </p:sp>
      <p:sp>
        <p:nvSpPr>
          <p:cNvPr id="23" name="TextBox 22"/>
          <p:cNvSpPr txBox="1"/>
          <p:nvPr/>
        </p:nvSpPr>
        <p:spPr>
          <a:xfrm>
            <a:off x="7635240" y="3429000"/>
            <a:ext cx="1463040" cy="594360"/>
          </a:xfrm>
          <a:prstGeom prst="rect">
            <a:avLst/>
          </a:prstGeom>
          <a:noFill/>
        </p:spPr>
        <p:txBody>
          <a:bodyPr wrap="square" lIns="36576" rIns="36576" tIns="36576" bIns="36576" anchor="t">
            <a:normAutofit/>
          </a:bodyPr>
          <a:lstStyle/>
          <a:p>
            <a:pPr algn="ctr"/>
            <a:r>
              <a:rPr sz="1400" b="1" i="0">
                <a:solidFill>
                  <a:srgbClr val="FFFFFF"/>
                </a:solidFill>
                <a:latin typeface="Inter"/>
              </a:rPr>
              <a:t>Review and approve</a:t>
            </a:r>
          </a:p>
        </p:txBody>
      </p:sp>
      <p:sp>
        <p:nvSpPr>
          <p:cNvPr id="24" name="TextBox 23"/>
          <p:cNvSpPr txBox="1"/>
          <p:nvPr/>
        </p:nvSpPr>
        <p:spPr>
          <a:xfrm>
            <a:off x="9354312" y="2971800"/>
            <a:ext cx="384048" cy="365760"/>
          </a:xfrm>
          <a:prstGeom prst="rect">
            <a:avLst/>
          </a:prstGeom>
          <a:noFill/>
        </p:spPr>
        <p:txBody>
          <a:bodyPr wrap="square" lIns="36576" rIns="36576" tIns="36576" bIns="36576" anchor="t">
            <a:spAutoFit/>
          </a:bodyPr>
          <a:lstStyle/>
          <a:p>
            <a:pPr algn="ctr"/>
            <a:r>
              <a:rPr sz="2400" b="1" i="0">
                <a:solidFill>
                  <a:srgbClr val="06B6D4"/>
                </a:solidFill>
                <a:latin typeface="Inter Display"/>
              </a:rPr>
              <a:t>→</a:t>
            </a:r>
          </a:p>
        </p:txBody>
      </p:sp>
      <p:sp>
        <p:nvSpPr>
          <p:cNvPr id="25" name="Rounded Rectangle 24"/>
          <p:cNvSpPr/>
          <p:nvPr/>
        </p:nvSpPr>
        <p:spPr>
          <a:xfrm>
            <a:off x="9738360" y="2331720"/>
            <a:ext cx="1828800" cy="205740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05288" y="2560320"/>
            <a:ext cx="685800" cy="685800"/>
          </a:xfrm>
          <a:prstGeom prst="rect">
            <a:avLst/>
          </a:prstGeom>
          <a:noFill/>
        </p:spPr>
        <p:txBody>
          <a:bodyPr wrap="square" lIns="36576" rIns="36576" tIns="36576" bIns="36576" anchor="ctr">
            <a:normAutofit/>
          </a:bodyPr>
          <a:lstStyle/>
          <a:p>
            <a:pPr algn="ctr"/>
            <a:r>
              <a:rPr sz="2800" b="1" i="0">
                <a:solidFill>
                  <a:srgbClr val="22C55E"/>
                </a:solidFill>
                <a:latin typeface="Inter Display"/>
              </a:rPr>
              <a:t>5</a:t>
            </a:r>
          </a:p>
        </p:txBody>
      </p:sp>
      <p:sp>
        <p:nvSpPr>
          <p:cNvPr id="27" name="TextBox 26"/>
          <p:cNvSpPr txBox="1"/>
          <p:nvPr/>
        </p:nvSpPr>
        <p:spPr>
          <a:xfrm>
            <a:off x="9921240" y="3429000"/>
            <a:ext cx="1463040" cy="594360"/>
          </a:xfrm>
          <a:prstGeom prst="rect">
            <a:avLst/>
          </a:prstGeom>
          <a:noFill/>
        </p:spPr>
        <p:txBody>
          <a:bodyPr wrap="square" lIns="36576" rIns="36576" tIns="36576" bIns="36576" anchor="t">
            <a:normAutofit/>
          </a:bodyPr>
          <a:lstStyle/>
          <a:p>
            <a:pPr algn="ctr"/>
            <a:r>
              <a:rPr sz="1400" b="1" i="0">
                <a:solidFill>
                  <a:srgbClr val="FFFFFF"/>
                </a:solidFill>
                <a:latin typeface="Inter"/>
              </a:rPr>
              <a:t>Translate to video and email</a:t>
            </a:r>
          </a:p>
        </p:txBody>
      </p:sp>
      <p:sp>
        <p:nvSpPr>
          <p:cNvPr id="28" name="Rounded Rectangle 27"/>
          <p:cNvSpPr/>
          <p:nvPr/>
        </p:nvSpPr>
        <p:spPr>
          <a:xfrm>
            <a:off x="1280160" y="4956048"/>
            <a:ext cx="9601200" cy="82296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08760" y="5120640"/>
            <a:ext cx="1645920" cy="228600"/>
          </a:xfrm>
          <a:prstGeom prst="rect">
            <a:avLst/>
          </a:prstGeom>
          <a:noFill/>
        </p:spPr>
        <p:txBody>
          <a:bodyPr wrap="square" lIns="36576" rIns="36576" tIns="36576" bIns="36576" anchor="t">
            <a:spAutoFit/>
          </a:bodyPr>
          <a:lstStyle/>
          <a:p>
            <a:pPr algn="l"/>
            <a:r>
              <a:rPr sz="900" b="1" i="0">
                <a:solidFill>
                  <a:srgbClr val="8B5CF6"/>
                </a:solidFill>
                <a:latin typeface="Inter Display"/>
              </a:rPr>
              <a:t>FACILITATOR MOVE</a:t>
            </a:r>
          </a:p>
        </p:txBody>
      </p:sp>
      <p:sp>
        <p:nvSpPr>
          <p:cNvPr id="30" name="TextBox 29"/>
          <p:cNvSpPr txBox="1"/>
          <p:nvPr/>
        </p:nvSpPr>
        <p:spPr>
          <a:xfrm>
            <a:off x="2926080" y="5047488"/>
            <a:ext cx="7543800" cy="384048"/>
          </a:xfrm>
          <a:prstGeom prst="rect">
            <a:avLst/>
          </a:prstGeom>
          <a:noFill/>
        </p:spPr>
        <p:txBody>
          <a:bodyPr wrap="square" lIns="36576" rIns="36576" tIns="36576" bIns="36576" anchor="t">
            <a:normAutofit/>
          </a:bodyPr>
          <a:lstStyle/>
          <a:p>
            <a:pPr algn="l"/>
            <a:r>
              <a:rPr sz="1400" b="1" i="0">
                <a:solidFill>
                  <a:srgbClr val="FFFFFF"/>
                </a:solidFill>
                <a:latin typeface="Inter"/>
              </a:rPr>
              <a:t>Keep the learner working on one real audience, one source-backed idea, and one current week.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01</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06</a:t>
            </a:r>
          </a:p>
        </p:txBody>
      </p:sp>
      <p:sp>
        <p:nvSpPr>
          <p:cNvPr id="5" name="Rectangle 4"/>
          <p:cNvSpPr/>
          <p:nvPr/>
        </p:nvSpPr>
        <p:spPr>
          <a:xfrm>
            <a:off x="0" y="0"/>
            <a:ext cx="6080760" cy="6858000"/>
          </a:xfrm>
          <a:prstGeom prst="rect">
            <a:avLst/>
          </a:prstGeom>
          <a:solidFill>
            <a:srgbClr val="06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234440"/>
            <a:ext cx="5394960" cy="342900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2_diagram_pillar_fit_map.png"/>
          <p:cNvPicPr>
            <a:picLocks noChangeAspect="1"/>
          </p:cNvPicPr>
          <p:nvPr/>
        </p:nvPicPr>
        <p:blipFill>
          <a:blip r:embed="rId2"/>
          <a:stretch>
            <a:fillRect/>
          </a:stretch>
        </p:blipFill>
        <p:spPr>
          <a:xfrm>
            <a:off x="6428232" y="1498473"/>
            <a:ext cx="5157216" cy="2900934"/>
          </a:xfrm>
          <a:prstGeom prst="rect">
            <a:avLst/>
          </a:prstGeom>
        </p:spPr>
      </p:pic>
      <p:sp>
        <p:nvSpPr>
          <p:cNvPr id="8" name="Rounded Rectangle 7"/>
          <p:cNvSpPr/>
          <p:nvPr/>
        </p:nvSpPr>
        <p:spPr>
          <a:xfrm>
            <a:off x="502920" y="594360"/>
            <a:ext cx="658368" cy="65836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94360"/>
            <a:ext cx="658368" cy="658368"/>
          </a:xfrm>
          <a:prstGeom prst="rect">
            <a:avLst/>
          </a:prstGeom>
          <a:noFill/>
        </p:spPr>
        <p:txBody>
          <a:bodyPr wrap="square" lIns="36576" rIns="36576" tIns="36576" bIns="36576" anchor="ctr">
            <a:normAutofit/>
          </a:bodyPr>
          <a:lstStyle/>
          <a:p>
            <a:pPr algn="ctr"/>
            <a:r>
              <a:rPr sz="2200" b="1" i="0">
                <a:solidFill>
                  <a:srgbClr val="FFFFFF"/>
                </a:solidFill>
                <a:latin typeface="Inter Display"/>
              </a:rPr>
              <a:t>01</a:t>
            </a:r>
          </a:p>
        </p:txBody>
      </p:sp>
      <p:sp>
        <p:nvSpPr>
          <p:cNvPr id="10" name="TextBox 9"/>
          <p:cNvSpPr txBox="1"/>
          <p:nvPr/>
        </p:nvSpPr>
        <p:spPr>
          <a:xfrm>
            <a:off x="1353312" y="658368"/>
            <a:ext cx="1828800" cy="228600"/>
          </a:xfrm>
          <a:prstGeom prst="rect">
            <a:avLst/>
          </a:prstGeom>
          <a:noFill/>
        </p:spPr>
        <p:txBody>
          <a:bodyPr wrap="square" lIns="36576" rIns="36576" tIns="36576" bIns="36576" anchor="t">
            <a:spAutoFit/>
          </a:bodyPr>
          <a:lstStyle/>
          <a:p>
            <a:pPr algn="l"/>
            <a:r>
              <a:rPr sz="1000" b="1" i="0">
                <a:solidFill>
                  <a:srgbClr val="8B5CF6"/>
                </a:solidFill>
                <a:latin typeface="Inter Display"/>
              </a:rPr>
              <a:t>MODULE</a:t>
            </a:r>
          </a:p>
        </p:txBody>
      </p:sp>
      <p:sp>
        <p:nvSpPr>
          <p:cNvPr id="11" name="TextBox 10"/>
          <p:cNvSpPr txBox="1"/>
          <p:nvPr/>
        </p:nvSpPr>
        <p:spPr>
          <a:xfrm>
            <a:off x="548640" y="1417320"/>
            <a:ext cx="5669280" cy="1371600"/>
          </a:xfrm>
          <a:prstGeom prst="rect">
            <a:avLst/>
          </a:prstGeom>
          <a:noFill/>
        </p:spPr>
        <p:txBody>
          <a:bodyPr wrap="square" lIns="36576" rIns="36576" tIns="36576" bIns="36576" anchor="t">
            <a:normAutofit/>
          </a:bodyPr>
          <a:lstStyle/>
          <a:p>
            <a:pPr algn="l"/>
            <a:r>
              <a:rPr sz="3200" b="1" i="0">
                <a:solidFill>
                  <a:srgbClr val="FFFFFF"/>
                </a:solidFill>
                <a:latin typeface="Inter Display"/>
              </a:rPr>
              <a:t>DEFINE YOUR CONTENT PILLARS</a:t>
            </a:r>
          </a:p>
        </p:txBody>
      </p:sp>
      <p:sp>
        <p:nvSpPr>
          <p:cNvPr id="12" name="TextBox 11"/>
          <p:cNvSpPr txBox="1"/>
          <p:nvPr/>
        </p:nvSpPr>
        <p:spPr>
          <a:xfrm>
            <a:off x="594360" y="3063240"/>
            <a:ext cx="5257800" cy="1005840"/>
          </a:xfrm>
          <a:prstGeom prst="rect">
            <a:avLst/>
          </a:prstGeom>
          <a:noFill/>
        </p:spPr>
        <p:txBody>
          <a:bodyPr wrap="square" lIns="36576" rIns="36576" tIns="36576" bIns="36576" anchor="t">
            <a:normAutofit/>
          </a:bodyPr>
          <a:lstStyle/>
          <a:p>
            <a:pPr algn="l"/>
            <a:r>
              <a:rPr sz="1700" b="0" i="0">
                <a:solidFill>
                  <a:srgbClr val="DDE9F7"/>
                </a:solidFill>
                <a:latin typeface="Inter"/>
              </a:rPr>
              <a:t>A three-pillar strategy with clear purpose, boundaries, proof sources, and at least fifteen usable ideas.</a:t>
            </a:r>
          </a:p>
        </p:txBody>
      </p:sp>
      <p:sp>
        <p:nvSpPr>
          <p:cNvPr id="13" name="Rounded Rectangle 12"/>
          <p:cNvSpPr/>
          <p:nvPr/>
        </p:nvSpPr>
        <p:spPr>
          <a:xfrm>
            <a:off x="594360" y="4754880"/>
            <a:ext cx="5029200" cy="105156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56048"/>
            <a:ext cx="1828800" cy="228600"/>
          </a:xfrm>
          <a:prstGeom prst="rect">
            <a:avLst/>
          </a:prstGeom>
          <a:noFill/>
        </p:spPr>
        <p:txBody>
          <a:bodyPr wrap="square" lIns="36576" rIns="36576" tIns="36576" bIns="36576" anchor="t">
            <a:spAutoFit/>
          </a:bodyPr>
          <a:lstStyle/>
          <a:p>
            <a:pPr algn="l"/>
            <a:r>
              <a:rPr sz="900" b="1" i="0">
                <a:solidFill>
                  <a:srgbClr val="8B5CF6"/>
                </a:solidFill>
                <a:latin typeface="Inter Display"/>
              </a:rPr>
              <a:t>FACILITATOR FOCUS</a:t>
            </a:r>
          </a:p>
        </p:txBody>
      </p:sp>
      <p:sp>
        <p:nvSpPr>
          <p:cNvPr id="15" name="TextBox 14"/>
          <p:cNvSpPr txBox="1"/>
          <p:nvPr/>
        </p:nvSpPr>
        <p:spPr>
          <a:xfrm>
            <a:off x="822960" y="5257800"/>
            <a:ext cx="4480560" cy="384048"/>
          </a:xfrm>
          <a:prstGeom prst="rect">
            <a:avLst/>
          </a:prstGeom>
          <a:noFill/>
        </p:spPr>
        <p:txBody>
          <a:bodyPr wrap="square" lIns="36576" rIns="36576" tIns="36576" bIns="36576" anchor="t">
            <a:normAutofit/>
          </a:bodyPr>
          <a:lstStyle/>
          <a:p>
            <a:pPr algn="l"/>
            <a:r>
              <a:rPr sz="1300" b="1" i="0">
                <a:solidFill>
                  <a:srgbClr val="FFFFFF"/>
                </a:solidFill>
                <a:latin typeface="Inter"/>
              </a:rPr>
              <a:t>Choose durable conversations and source-backed ideas.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01</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07</a:t>
            </a:r>
          </a:p>
        </p:txBody>
      </p:sp>
      <p:pic>
        <p:nvPicPr>
          <p:cNvPr id="5" name="Picture 4" descr="02_lesson_01_choose_three_conversations.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08</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8B5CF6"/>
                </a:solidFill>
                <a:latin typeface="Inter Display"/>
              </a:rPr>
              <a:t>LESSON 1</a:t>
            </a:r>
          </a:p>
        </p:txBody>
      </p:sp>
      <p:sp>
        <p:nvSpPr>
          <p:cNvPr id="7" name="Rounded Rectangle 6"/>
          <p:cNvSpPr/>
          <p:nvPr/>
        </p:nvSpPr>
        <p:spPr>
          <a:xfrm>
            <a:off x="457200" y="804672"/>
            <a:ext cx="502920" cy="5029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01</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Pillar, topic, format, or campaign?</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Choose a durable conversation, not a temporary container.</a:t>
            </a:r>
          </a:p>
        </p:txBody>
      </p:sp>
      <p:sp>
        <p:nvSpPr>
          <p:cNvPr id="11" name="Rounded Rectangle 10"/>
          <p:cNvSpPr/>
          <p:nvPr/>
        </p:nvSpPr>
        <p:spPr>
          <a:xfrm>
            <a:off x="640080" y="2240280"/>
            <a:ext cx="5166360" cy="118872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404872"/>
            <a:ext cx="475488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CONTENT PILLAR</a:t>
            </a:r>
          </a:p>
        </p:txBody>
      </p:sp>
      <p:sp>
        <p:nvSpPr>
          <p:cNvPr id="13" name="TextBox 12"/>
          <p:cNvSpPr txBox="1"/>
          <p:nvPr/>
        </p:nvSpPr>
        <p:spPr>
          <a:xfrm>
            <a:off x="868680" y="2916936"/>
            <a:ext cx="4709160" cy="365760"/>
          </a:xfrm>
          <a:prstGeom prst="rect">
            <a:avLst/>
          </a:prstGeom>
          <a:noFill/>
        </p:spPr>
        <p:txBody>
          <a:bodyPr wrap="square" lIns="36576" rIns="36576" tIns="36576" bIns="36576" anchor="t">
            <a:normAutofit/>
          </a:bodyPr>
          <a:lstStyle/>
          <a:p>
            <a:pPr algn="l"/>
            <a:r>
              <a:rPr sz="1130" b="0" i="0">
                <a:solidFill>
                  <a:srgbClr val="DDE9F7"/>
                </a:solidFill>
                <a:latin typeface="Inter"/>
              </a:rPr>
              <a:t>A recurring conversation your audience needs and your business can credibly lead.</a:t>
            </a:r>
          </a:p>
        </p:txBody>
      </p:sp>
      <p:sp>
        <p:nvSpPr>
          <p:cNvPr id="14" name="Rounded Rectangle 13"/>
          <p:cNvSpPr/>
          <p:nvPr/>
        </p:nvSpPr>
        <p:spPr>
          <a:xfrm>
            <a:off x="6263640" y="2240280"/>
            <a:ext cx="5166360" cy="118872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404872"/>
            <a:ext cx="475488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TOPIC</a:t>
            </a:r>
          </a:p>
        </p:txBody>
      </p:sp>
      <p:sp>
        <p:nvSpPr>
          <p:cNvPr id="16" name="TextBox 15"/>
          <p:cNvSpPr txBox="1"/>
          <p:nvPr/>
        </p:nvSpPr>
        <p:spPr>
          <a:xfrm>
            <a:off x="6492240" y="2916936"/>
            <a:ext cx="4709160" cy="365760"/>
          </a:xfrm>
          <a:prstGeom prst="rect">
            <a:avLst/>
          </a:prstGeom>
          <a:noFill/>
        </p:spPr>
        <p:txBody>
          <a:bodyPr wrap="square" lIns="36576" rIns="36576" tIns="36576" bIns="36576" anchor="t">
            <a:normAutofit/>
          </a:bodyPr>
          <a:lstStyle/>
          <a:p>
            <a:pPr algn="l"/>
            <a:r>
              <a:rPr sz="1130" b="0" i="0">
                <a:solidFill>
                  <a:srgbClr val="DDE9F7"/>
                </a:solidFill>
                <a:latin typeface="Inter"/>
              </a:rPr>
              <a:t>One specific subject inside a pillar.</a:t>
            </a:r>
          </a:p>
        </p:txBody>
      </p:sp>
      <p:sp>
        <p:nvSpPr>
          <p:cNvPr id="17" name="Rounded Rectangle 16"/>
          <p:cNvSpPr/>
          <p:nvPr/>
        </p:nvSpPr>
        <p:spPr>
          <a:xfrm>
            <a:off x="640080" y="3657600"/>
            <a:ext cx="5166360" cy="11887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822191"/>
            <a:ext cx="475488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FORMAT</a:t>
            </a:r>
          </a:p>
        </p:txBody>
      </p:sp>
      <p:sp>
        <p:nvSpPr>
          <p:cNvPr id="19" name="TextBox 18"/>
          <p:cNvSpPr txBox="1"/>
          <p:nvPr/>
        </p:nvSpPr>
        <p:spPr>
          <a:xfrm>
            <a:off x="868680" y="4334256"/>
            <a:ext cx="4709160" cy="365760"/>
          </a:xfrm>
          <a:prstGeom prst="rect">
            <a:avLst/>
          </a:prstGeom>
          <a:noFill/>
        </p:spPr>
        <p:txBody>
          <a:bodyPr wrap="square" lIns="36576" rIns="36576" tIns="36576" bIns="36576" anchor="t">
            <a:normAutofit/>
          </a:bodyPr>
          <a:lstStyle/>
          <a:p>
            <a:pPr algn="l"/>
            <a:r>
              <a:rPr sz="1130" b="0" i="0">
                <a:solidFill>
                  <a:srgbClr val="DDE9F7"/>
                </a:solidFill>
                <a:latin typeface="Inter"/>
              </a:rPr>
              <a:t>The delivery container: post, video, email, podcast, workshop.</a:t>
            </a:r>
          </a:p>
        </p:txBody>
      </p:sp>
      <p:sp>
        <p:nvSpPr>
          <p:cNvPr id="20" name="Rounded Rectangle 19"/>
          <p:cNvSpPr/>
          <p:nvPr/>
        </p:nvSpPr>
        <p:spPr>
          <a:xfrm>
            <a:off x="6263640" y="3657600"/>
            <a:ext cx="5166360" cy="118872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822191"/>
            <a:ext cx="475488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CAMPAIGN</a:t>
            </a:r>
          </a:p>
        </p:txBody>
      </p:sp>
      <p:sp>
        <p:nvSpPr>
          <p:cNvPr id="22" name="TextBox 21"/>
          <p:cNvSpPr txBox="1"/>
          <p:nvPr/>
        </p:nvSpPr>
        <p:spPr>
          <a:xfrm>
            <a:off x="6492240" y="4334256"/>
            <a:ext cx="4709160" cy="365760"/>
          </a:xfrm>
          <a:prstGeom prst="rect">
            <a:avLst/>
          </a:prstGeom>
          <a:noFill/>
        </p:spPr>
        <p:txBody>
          <a:bodyPr wrap="square" lIns="36576" rIns="36576" tIns="36576" bIns="36576" anchor="t">
            <a:normAutofit/>
          </a:bodyPr>
          <a:lstStyle/>
          <a:p>
            <a:pPr algn="l"/>
            <a:r>
              <a:rPr sz="1130" b="0" i="0">
                <a:solidFill>
                  <a:srgbClr val="DDE9F7"/>
                </a:solidFill>
                <a:latin typeface="Inter"/>
              </a:rPr>
              <a:t>A time-bound push with a start, goal, and end.</a:t>
            </a:r>
          </a:p>
        </p:txBody>
      </p:sp>
      <p:sp>
        <p:nvSpPr>
          <p:cNvPr id="23" name="Rounded Rectangle 22"/>
          <p:cNvSpPr/>
          <p:nvPr/>
        </p:nvSpPr>
        <p:spPr>
          <a:xfrm>
            <a:off x="1051560" y="5349240"/>
            <a:ext cx="10058400" cy="50292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5468112"/>
            <a:ext cx="9509760" cy="256032"/>
          </a:xfrm>
          <a:prstGeom prst="rect">
            <a:avLst/>
          </a:prstGeom>
          <a:noFill/>
        </p:spPr>
        <p:txBody>
          <a:bodyPr wrap="square" lIns="36576" rIns="36576" tIns="36576" bIns="36576" anchor="t">
            <a:normAutofit/>
          </a:bodyPr>
          <a:lstStyle/>
          <a:p>
            <a:pPr algn="ctr"/>
            <a:r>
              <a:rPr sz="1400" b="1" i="0">
                <a:solidFill>
                  <a:srgbClr val="FFFFFF"/>
                </a:solidFill>
                <a:latin typeface="Inter"/>
              </a:rPr>
              <a:t>Test every pillar for audience pull + credible depth + business bridge.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09</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8B5CF6"/>
                </a:solidFill>
                <a:latin typeface="Inter Display"/>
              </a:rPr>
              <a:t>HANDS-ON 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Complete the LANA Pillar Fit Map</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Select three conversations and define what each includes and excludes.</a:t>
            </a:r>
          </a:p>
        </p:txBody>
      </p:sp>
      <p:pic>
        <p:nvPicPr>
          <p:cNvPr id="9" name="Picture 8" descr="12_diagram_pillar_fit_map.png"/>
          <p:cNvPicPr>
            <a:picLocks noChangeAspect="1"/>
          </p:cNvPicPr>
          <p:nvPr/>
        </p:nvPicPr>
        <p:blipFill>
          <a:blip r:embed="rId3"/>
          <a:srcRect l="9" r="9"/>
          <a:stretch>
            <a:fillRect/>
          </a:stretch>
        </p:blipFill>
        <p:spPr>
          <a:xfrm>
            <a:off x="5989320" y="1993392"/>
            <a:ext cx="5623560" cy="3163824"/>
          </a:xfrm>
          <a:prstGeom prst="rect">
            <a:avLst/>
          </a:prstGeom>
        </p:spPr>
      </p:pic>
      <p:sp>
        <p:nvSpPr>
          <p:cNvPr id="10" name="TextBox 9"/>
          <p:cNvSpPr txBox="1"/>
          <p:nvPr/>
        </p:nvSpPr>
        <p:spPr>
          <a:xfrm>
            <a:off x="640080" y="2011680"/>
            <a:ext cx="5029200" cy="3246120"/>
          </a:xfrm>
          <a:prstGeom prst="rect">
            <a:avLst/>
          </a:prstGeom>
          <a:noFill/>
        </p:spPr>
        <p:txBody>
          <a:bodyPr wrap="square" lIns="18288" rIns="18288">
            <a:spAutoFit/>
          </a:bodyPr>
          <a:lstStyle/>
          <a:p>
            <a:pPr>
              <a:spcAft>
                <a:spcPts val="500"/>
              </a:spcAft>
              <a:defRPr sz="1600">
                <a:solidFill>
                  <a:srgbClr val="DDE9F7"/>
                </a:solidFill>
                <a:latin typeface="Inter"/>
              </a:defRPr>
            </a:pPr>
            <a:r>
              <a:t>1.  Write the audience you want to help and the result they are trying to achieve.</a:t>
            </a:r>
          </a:p>
          <a:p>
            <a:pPr>
              <a:spcAft>
                <a:spcPts val="500"/>
              </a:spcAft>
              <a:defRPr sz="1600">
                <a:solidFill>
                  <a:srgbClr val="DDE9F7"/>
                </a:solidFill>
                <a:latin typeface="Inter"/>
              </a:defRPr>
            </a:pPr>
            <a:r>
              <a:t>2.  List ten recurring questions, frustrations, decisions, or misconceptions you hear from that audience.</a:t>
            </a:r>
          </a:p>
          <a:p>
            <a:pPr>
              <a:spcAft>
                <a:spcPts val="500"/>
              </a:spcAft>
              <a:defRPr sz="1600">
                <a:solidFill>
                  <a:srgbClr val="DDE9F7"/>
                </a:solidFill>
                <a:latin typeface="Inter"/>
              </a:defRPr>
            </a:pPr>
            <a:r>
              <a:t>3.  Group the items into three meaningful conversations rather than formats or platforms.</a:t>
            </a:r>
          </a:p>
          <a:p>
            <a:pPr>
              <a:spcAft>
                <a:spcPts val="500"/>
              </a:spcAft>
              <a:defRPr sz="1600">
                <a:solidFill>
                  <a:srgbClr val="DDE9F7"/>
                </a:solidFill>
                <a:latin typeface="Inter"/>
              </a:defRPr>
            </a:pPr>
            <a:r>
              <a:t>4.  Score each conversation for audience pull, credible depth, and business bridge on a 1-5 scale.</a:t>
            </a:r>
          </a:p>
          <a:p>
            <a:pPr>
              <a:spcAft>
                <a:spcPts val="500"/>
              </a:spcAft>
              <a:defRPr sz="1600">
                <a:solidFill>
                  <a:srgbClr val="DDE9F7"/>
                </a:solidFill>
                <a:latin typeface="Inter"/>
              </a:defRPr>
            </a:pPr>
            <a:r>
              <a:t>5.  Name the three strongest pillars and write one sentence describing what each includes and excludes.</a:t>
            </a:r>
          </a:p>
        </p:txBody>
      </p:sp>
      <p:sp>
        <p:nvSpPr>
          <p:cNvPr id="11" name="Rounded Rectangle 10"/>
          <p:cNvSpPr/>
          <p:nvPr/>
        </p:nvSpPr>
        <p:spPr>
          <a:xfrm>
            <a:off x="5989320" y="5321808"/>
            <a:ext cx="5623560" cy="658368"/>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6208" y="5477256"/>
            <a:ext cx="1234440" cy="182880"/>
          </a:xfrm>
          <a:prstGeom prst="rect">
            <a:avLst/>
          </a:prstGeom>
          <a:noFill/>
        </p:spPr>
        <p:txBody>
          <a:bodyPr wrap="square" lIns="36576" rIns="36576" tIns="36576" bIns="36576" anchor="t">
            <a:spAutoFit/>
          </a:bodyPr>
          <a:lstStyle/>
          <a:p>
            <a:pPr algn="l"/>
            <a:r>
              <a:rPr sz="850" b="1" i="0">
                <a:solidFill>
                  <a:srgbClr val="8B5CF6"/>
                </a:solidFill>
                <a:latin typeface="Inter Display"/>
              </a:rPr>
              <a:t>DELIVERABLE</a:t>
            </a:r>
          </a:p>
        </p:txBody>
      </p:sp>
      <p:sp>
        <p:nvSpPr>
          <p:cNvPr id="13" name="TextBox 12"/>
          <p:cNvSpPr txBox="1"/>
          <p:nvPr/>
        </p:nvSpPr>
        <p:spPr>
          <a:xfrm>
            <a:off x="7315200" y="5394960"/>
            <a:ext cx="4023360" cy="384048"/>
          </a:xfrm>
          <a:prstGeom prst="rect">
            <a:avLst/>
          </a:prstGeom>
          <a:noFill/>
        </p:spPr>
        <p:txBody>
          <a:bodyPr wrap="square" lIns="36576" rIns="36576" tIns="36576" bIns="36576" anchor="t">
            <a:normAutofit/>
          </a:bodyPr>
          <a:lstStyle/>
          <a:p>
            <a:pPr algn="l"/>
            <a:r>
              <a:rPr sz="1080" b="1" i="0">
                <a:solidFill>
                  <a:srgbClr val="FFFFFF"/>
                </a:solidFill>
                <a:latin typeface="Inter"/>
              </a:rPr>
              <a:t>A three-pillar Content Strategy Card with purpose, audience need, business bridge, proof sources, and boundaries for each pillar.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01</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10</a:t>
            </a:r>
          </a:p>
        </p:txBody>
      </p:sp>
      <p:pic>
        <p:nvPicPr>
          <p:cNvPr id="5" name="Picture 4" descr="03_lesson_02_evidence_rich_idea_bank.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11</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8B5CF6"/>
                </a:solidFill>
                <a:latin typeface="Inter Display"/>
              </a:rPr>
              <a:t>LESSON 2</a:t>
            </a:r>
          </a:p>
        </p:txBody>
      </p:sp>
      <p:sp>
        <p:nvSpPr>
          <p:cNvPr id="7" name="Rounded Rectangle 6"/>
          <p:cNvSpPr/>
          <p:nvPr/>
        </p:nvSpPr>
        <p:spPr>
          <a:xfrm>
            <a:off x="457200" y="804672"/>
            <a:ext cx="502920" cy="50292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02</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Build a 3 × 5 evidence-rich idea bank</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Every idea keeps its source, reader shift, and publication status.</a:t>
            </a:r>
          </a:p>
        </p:txBody>
      </p:sp>
      <p:sp>
        <p:nvSpPr>
          <p:cNvPr id="11" name="Rounded Rectangle 10"/>
          <p:cNvSpPr/>
          <p:nvPr/>
        </p:nvSpPr>
        <p:spPr>
          <a:xfrm>
            <a:off x="594360" y="2148840"/>
            <a:ext cx="1874519" cy="109728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23160"/>
            <a:ext cx="1600200" cy="320040"/>
          </a:xfrm>
          <a:prstGeom prst="rect">
            <a:avLst/>
          </a:prstGeom>
          <a:noFill/>
        </p:spPr>
        <p:txBody>
          <a:bodyPr wrap="square" lIns="36576" rIns="36576" tIns="36576" bIns="36576" anchor="t">
            <a:normAutofit/>
          </a:bodyPr>
          <a:lstStyle/>
          <a:p>
            <a:pPr algn="ctr"/>
            <a:r>
              <a:rPr sz="1600" b="1" i="0">
                <a:solidFill>
                  <a:srgbClr val="FFFFFF"/>
                </a:solidFill>
                <a:latin typeface="Inter Display"/>
              </a:rPr>
              <a:t>Question</a:t>
            </a:r>
          </a:p>
        </p:txBody>
      </p:sp>
      <p:sp>
        <p:nvSpPr>
          <p:cNvPr id="13" name="Rounded Rectangle 12"/>
          <p:cNvSpPr/>
          <p:nvPr/>
        </p:nvSpPr>
        <p:spPr>
          <a:xfrm>
            <a:off x="2880360" y="2148840"/>
            <a:ext cx="1874519" cy="109728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17520" y="2423160"/>
            <a:ext cx="1600200" cy="320040"/>
          </a:xfrm>
          <a:prstGeom prst="rect">
            <a:avLst/>
          </a:prstGeom>
          <a:noFill/>
        </p:spPr>
        <p:txBody>
          <a:bodyPr wrap="square" lIns="36576" rIns="36576" tIns="36576" bIns="36576" anchor="t">
            <a:normAutofit/>
          </a:bodyPr>
          <a:lstStyle/>
          <a:p>
            <a:pPr algn="ctr"/>
            <a:r>
              <a:rPr sz="1600" b="1" i="0">
                <a:solidFill>
                  <a:srgbClr val="FFFFFF"/>
                </a:solidFill>
                <a:latin typeface="Inter Display"/>
              </a:rPr>
              <a:t>Friction</a:t>
            </a:r>
          </a:p>
        </p:txBody>
      </p:sp>
      <p:sp>
        <p:nvSpPr>
          <p:cNvPr id="15" name="Rounded Rectangle 14"/>
          <p:cNvSpPr/>
          <p:nvPr/>
        </p:nvSpPr>
        <p:spPr>
          <a:xfrm>
            <a:off x="5166360" y="2148840"/>
            <a:ext cx="1874519" cy="109728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2423160"/>
            <a:ext cx="1600200" cy="320040"/>
          </a:xfrm>
          <a:prstGeom prst="rect">
            <a:avLst/>
          </a:prstGeom>
          <a:noFill/>
        </p:spPr>
        <p:txBody>
          <a:bodyPr wrap="square" lIns="36576" rIns="36576" tIns="36576" bIns="36576" anchor="t">
            <a:normAutofit/>
          </a:bodyPr>
          <a:lstStyle/>
          <a:p>
            <a:pPr algn="ctr"/>
            <a:r>
              <a:rPr sz="1600" b="1" i="0">
                <a:solidFill>
                  <a:srgbClr val="FFFFFF"/>
                </a:solidFill>
                <a:latin typeface="Inter Display"/>
              </a:rPr>
              <a:t>Framework</a:t>
            </a:r>
          </a:p>
        </p:txBody>
      </p:sp>
      <p:sp>
        <p:nvSpPr>
          <p:cNvPr id="17" name="Rounded Rectangle 16"/>
          <p:cNvSpPr/>
          <p:nvPr/>
        </p:nvSpPr>
        <p:spPr>
          <a:xfrm>
            <a:off x="7452360" y="2148840"/>
            <a:ext cx="1874519" cy="109728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0" y="2423160"/>
            <a:ext cx="1600200" cy="320040"/>
          </a:xfrm>
          <a:prstGeom prst="rect">
            <a:avLst/>
          </a:prstGeom>
          <a:noFill/>
        </p:spPr>
        <p:txBody>
          <a:bodyPr wrap="square" lIns="36576" rIns="36576" tIns="36576" bIns="36576" anchor="t">
            <a:normAutofit/>
          </a:bodyPr>
          <a:lstStyle/>
          <a:p>
            <a:pPr algn="ctr"/>
            <a:r>
              <a:rPr sz="1600" b="1" i="0">
                <a:solidFill>
                  <a:srgbClr val="FFFFFF"/>
                </a:solidFill>
                <a:latin typeface="Inter Display"/>
              </a:rPr>
              <a:t>Proof</a:t>
            </a:r>
          </a:p>
        </p:txBody>
      </p:sp>
      <p:sp>
        <p:nvSpPr>
          <p:cNvPr id="19" name="Rounded Rectangle 18"/>
          <p:cNvSpPr/>
          <p:nvPr/>
        </p:nvSpPr>
        <p:spPr>
          <a:xfrm>
            <a:off x="9738360" y="2148840"/>
            <a:ext cx="1874519" cy="109728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2423160"/>
            <a:ext cx="1600200" cy="320040"/>
          </a:xfrm>
          <a:prstGeom prst="rect">
            <a:avLst/>
          </a:prstGeom>
          <a:noFill/>
        </p:spPr>
        <p:txBody>
          <a:bodyPr wrap="square" lIns="36576" rIns="36576" tIns="36576" bIns="36576" anchor="t">
            <a:normAutofit/>
          </a:bodyPr>
          <a:lstStyle/>
          <a:p>
            <a:pPr algn="ctr"/>
            <a:r>
              <a:rPr sz="1600" b="1" i="0">
                <a:solidFill>
                  <a:srgbClr val="FFFFFF"/>
                </a:solidFill>
                <a:latin typeface="Inter Display"/>
              </a:rPr>
              <a:t>Perspective</a:t>
            </a:r>
          </a:p>
        </p:txBody>
      </p:sp>
      <p:sp>
        <p:nvSpPr>
          <p:cNvPr id="21" name="TextBox 20"/>
          <p:cNvSpPr txBox="1"/>
          <p:nvPr/>
        </p:nvSpPr>
        <p:spPr>
          <a:xfrm>
            <a:off x="4709160" y="3474720"/>
            <a:ext cx="2743200" cy="365760"/>
          </a:xfrm>
          <a:prstGeom prst="rect">
            <a:avLst/>
          </a:prstGeom>
          <a:noFill/>
        </p:spPr>
        <p:txBody>
          <a:bodyPr wrap="square" lIns="36576" rIns="36576" tIns="36576" bIns="36576" anchor="t">
            <a:normAutofit/>
          </a:bodyPr>
          <a:lstStyle/>
          <a:p>
            <a:pPr algn="ctr"/>
            <a:r>
              <a:rPr sz="2200" b="1" i="0">
                <a:solidFill>
                  <a:srgbClr val="06B6D4"/>
                </a:solidFill>
                <a:latin typeface="Inter Display"/>
              </a:rPr>
              <a:t>× 3 PILLARS</a:t>
            </a:r>
          </a:p>
        </p:txBody>
      </p:sp>
      <p:sp>
        <p:nvSpPr>
          <p:cNvPr id="22" name="Rounded Rectangle 21"/>
          <p:cNvSpPr/>
          <p:nvPr/>
        </p:nvSpPr>
        <p:spPr>
          <a:xfrm>
            <a:off x="777240" y="4160520"/>
            <a:ext cx="2468880" cy="96012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4370832"/>
            <a:ext cx="2148840" cy="475488"/>
          </a:xfrm>
          <a:prstGeom prst="rect">
            <a:avLst/>
          </a:prstGeom>
          <a:noFill/>
        </p:spPr>
        <p:txBody>
          <a:bodyPr wrap="square" lIns="36576" rIns="36576" tIns="36576" bIns="36576" anchor="t">
            <a:normAutofit/>
          </a:bodyPr>
          <a:lstStyle/>
          <a:p>
            <a:pPr algn="ctr"/>
            <a:r>
              <a:rPr sz="1300" b="1" i="0">
                <a:solidFill>
                  <a:srgbClr val="FFFFFF"/>
                </a:solidFill>
                <a:latin typeface="Inter"/>
              </a:rPr>
              <a:t>Approved source or summary</a:t>
            </a:r>
          </a:p>
        </p:txBody>
      </p:sp>
      <p:sp>
        <p:nvSpPr>
          <p:cNvPr id="24" name="Rounded Rectangle 23"/>
          <p:cNvSpPr/>
          <p:nvPr/>
        </p:nvSpPr>
        <p:spPr>
          <a:xfrm>
            <a:off x="3566160" y="4160520"/>
            <a:ext cx="2468880" cy="9601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30752" y="4370832"/>
            <a:ext cx="2148840" cy="475488"/>
          </a:xfrm>
          <a:prstGeom prst="rect">
            <a:avLst/>
          </a:prstGeom>
          <a:noFill/>
        </p:spPr>
        <p:txBody>
          <a:bodyPr wrap="square" lIns="36576" rIns="36576" tIns="36576" bIns="36576" anchor="t">
            <a:normAutofit/>
          </a:bodyPr>
          <a:lstStyle/>
          <a:p>
            <a:pPr algn="ctr"/>
            <a:r>
              <a:rPr sz="1300" b="1" i="0">
                <a:solidFill>
                  <a:srgbClr val="FFFFFF"/>
                </a:solidFill>
                <a:latin typeface="Inter"/>
              </a:rPr>
              <a:t>Reader shift</a:t>
            </a:r>
          </a:p>
        </p:txBody>
      </p:sp>
      <p:sp>
        <p:nvSpPr>
          <p:cNvPr id="26" name="Rounded Rectangle 25"/>
          <p:cNvSpPr/>
          <p:nvPr/>
        </p:nvSpPr>
        <p:spPr>
          <a:xfrm>
            <a:off x="6355079" y="4160520"/>
            <a:ext cx="2468880" cy="96012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9671" y="4370832"/>
            <a:ext cx="2148840" cy="475488"/>
          </a:xfrm>
          <a:prstGeom prst="rect">
            <a:avLst/>
          </a:prstGeom>
          <a:noFill/>
        </p:spPr>
        <p:txBody>
          <a:bodyPr wrap="square" lIns="36576" rIns="36576" tIns="36576" bIns="36576" anchor="t">
            <a:normAutofit/>
          </a:bodyPr>
          <a:lstStyle/>
          <a:p>
            <a:pPr algn="ctr"/>
            <a:r>
              <a:rPr sz="1300" b="1" i="0">
                <a:solidFill>
                  <a:srgbClr val="FFFFFF"/>
                </a:solidFill>
                <a:latin typeface="Inter"/>
              </a:rPr>
              <a:t>Possible next action</a:t>
            </a:r>
          </a:p>
        </p:txBody>
      </p:sp>
      <p:sp>
        <p:nvSpPr>
          <p:cNvPr id="28" name="Rounded Rectangle 27"/>
          <p:cNvSpPr/>
          <p:nvPr/>
        </p:nvSpPr>
        <p:spPr>
          <a:xfrm>
            <a:off x="9143999" y="4160520"/>
            <a:ext cx="2468880" cy="96012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08591" y="4370832"/>
            <a:ext cx="2148840" cy="475488"/>
          </a:xfrm>
          <a:prstGeom prst="rect">
            <a:avLst/>
          </a:prstGeom>
          <a:noFill/>
        </p:spPr>
        <p:txBody>
          <a:bodyPr wrap="square" lIns="36576" rIns="36576" tIns="36576" bIns="36576" anchor="t">
            <a:normAutofit/>
          </a:bodyPr>
          <a:lstStyle/>
          <a:p>
            <a:pPr algn="ctr"/>
            <a:r>
              <a:rPr sz="1300" b="1" i="0">
                <a:solidFill>
                  <a:srgbClr val="FFFFFF"/>
                </a:solidFill>
                <a:latin typeface="Inter"/>
              </a:rPr>
              <a:t>Approved / verify / private</a:t>
            </a:r>
          </a:p>
        </p:txBody>
      </p:sp>
      <p:sp>
        <p:nvSpPr>
          <p:cNvPr id="30" name="Rounded Rectangle 29"/>
          <p:cNvSpPr/>
          <p:nvPr/>
        </p:nvSpPr>
        <p:spPr>
          <a:xfrm>
            <a:off x="1097280" y="5532120"/>
            <a:ext cx="9966960" cy="438912"/>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5614416"/>
            <a:ext cx="9509760" cy="256032"/>
          </a:xfrm>
          <a:prstGeom prst="rect">
            <a:avLst/>
          </a:prstGeom>
          <a:noFill/>
        </p:spPr>
        <p:txBody>
          <a:bodyPr wrap="square" lIns="36576" rIns="36576" tIns="36576" bIns="36576" anchor="t">
            <a:normAutofit/>
          </a:bodyPr>
          <a:lstStyle/>
          <a:p>
            <a:pPr algn="ctr"/>
            <a:r>
              <a:rPr sz="1300" b="1" i="0">
                <a:solidFill>
                  <a:srgbClr val="FFFFFF"/>
                </a:solidFill>
                <a:latin typeface="Inter"/>
              </a:rPr>
              <a:t>Select one source-backed anchor idea for the rest of the workshop.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02</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12</a:t>
            </a:r>
          </a:p>
        </p:txBody>
      </p:sp>
      <p:sp>
        <p:nvSpPr>
          <p:cNvPr id="5" name="Rectangle 4"/>
          <p:cNvSpPr/>
          <p:nvPr/>
        </p:nvSpPr>
        <p:spPr>
          <a:xfrm>
            <a:off x="0" y="0"/>
            <a:ext cx="6080760" cy="6858000"/>
          </a:xfrm>
          <a:prstGeom prst="rect">
            <a:avLst/>
          </a:prstGeom>
          <a:solidFill>
            <a:srgbClr val="06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234440"/>
            <a:ext cx="5394960" cy="342900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3_diagram_weekly_rhythm.png"/>
          <p:cNvPicPr>
            <a:picLocks noChangeAspect="1"/>
          </p:cNvPicPr>
          <p:nvPr/>
        </p:nvPicPr>
        <p:blipFill>
          <a:blip r:embed="rId2"/>
          <a:stretch>
            <a:fillRect/>
          </a:stretch>
        </p:blipFill>
        <p:spPr>
          <a:xfrm>
            <a:off x="6428232" y="1498473"/>
            <a:ext cx="5157216" cy="2900934"/>
          </a:xfrm>
          <a:prstGeom prst="rect">
            <a:avLst/>
          </a:prstGeom>
        </p:spPr>
      </p:pic>
      <p:sp>
        <p:nvSpPr>
          <p:cNvPr id="8" name="Rounded Rectangle 7"/>
          <p:cNvSpPr/>
          <p:nvPr/>
        </p:nvSpPr>
        <p:spPr>
          <a:xfrm>
            <a:off x="502920" y="594360"/>
            <a:ext cx="658368" cy="658368"/>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94360"/>
            <a:ext cx="658368" cy="658368"/>
          </a:xfrm>
          <a:prstGeom prst="rect">
            <a:avLst/>
          </a:prstGeom>
          <a:noFill/>
        </p:spPr>
        <p:txBody>
          <a:bodyPr wrap="square" lIns="36576" rIns="36576" tIns="36576" bIns="36576" anchor="ctr">
            <a:normAutofit/>
          </a:bodyPr>
          <a:lstStyle/>
          <a:p>
            <a:pPr algn="ctr"/>
            <a:r>
              <a:rPr sz="2200" b="1" i="0">
                <a:solidFill>
                  <a:srgbClr val="FFFFFF"/>
                </a:solidFill>
                <a:latin typeface="Inter Display"/>
              </a:rPr>
              <a:t>02</a:t>
            </a:r>
          </a:p>
        </p:txBody>
      </p:sp>
      <p:sp>
        <p:nvSpPr>
          <p:cNvPr id="10" name="TextBox 9"/>
          <p:cNvSpPr txBox="1"/>
          <p:nvPr/>
        </p:nvSpPr>
        <p:spPr>
          <a:xfrm>
            <a:off x="1353312" y="658368"/>
            <a:ext cx="1828800" cy="228600"/>
          </a:xfrm>
          <a:prstGeom prst="rect">
            <a:avLst/>
          </a:prstGeom>
          <a:noFill/>
        </p:spPr>
        <p:txBody>
          <a:bodyPr wrap="square" lIns="36576" rIns="36576" tIns="36576" bIns="36576" anchor="t">
            <a:spAutoFit/>
          </a:bodyPr>
          <a:lstStyle/>
          <a:p>
            <a:pPr algn="l"/>
            <a:r>
              <a:rPr sz="1000" b="1" i="0">
                <a:solidFill>
                  <a:srgbClr val="3B82F6"/>
                </a:solidFill>
                <a:latin typeface="Inter Display"/>
              </a:rPr>
              <a:t>MODULE</a:t>
            </a:r>
          </a:p>
        </p:txBody>
      </p:sp>
      <p:sp>
        <p:nvSpPr>
          <p:cNvPr id="11" name="TextBox 10"/>
          <p:cNvSpPr txBox="1"/>
          <p:nvPr/>
        </p:nvSpPr>
        <p:spPr>
          <a:xfrm>
            <a:off x="548640" y="1417320"/>
            <a:ext cx="5669280" cy="1371600"/>
          </a:xfrm>
          <a:prstGeom prst="rect">
            <a:avLst/>
          </a:prstGeom>
          <a:noFill/>
        </p:spPr>
        <p:txBody>
          <a:bodyPr wrap="square" lIns="36576" rIns="36576" tIns="36576" bIns="36576" anchor="t">
            <a:normAutofit/>
          </a:bodyPr>
          <a:lstStyle/>
          <a:p>
            <a:pPr algn="l"/>
            <a:r>
              <a:rPr sz="3200" b="1" i="0">
                <a:solidFill>
                  <a:srgbClr val="FFFFFF"/>
                </a:solidFill>
                <a:latin typeface="Inter Display"/>
              </a:rPr>
              <a:t>CREATE A WEEKLY PUBLISHING RHYTHM</a:t>
            </a:r>
          </a:p>
        </p:txBody>
      </p:sp>
      <p:sp>
        <p:nvSpPr>
          <p:cNvPr id="12" name="TextBox 11"/>
          <p:cNvSpPr txBox="1"/>
          <p:nvPr/>
        </p:nvSpPr>
        <p:spPr>
          <a:xfrm>
            <a:off x="594360" y="3063240"/>
            <a:ext cx="5257800" cy="1005840"/>
          </a:xfrm>
          <a:prstGeom prst="rect">
            <a:avLst/>
          </a:prstGeom>
          <a:noFill/>
        </p:spPr>
        <p:txBody>
          <a:bodyPr wrap="square" lIns="36576" rIns="36576" tIns="36576" bIns="36576" anchor="t">
            <a:normAutofit/>
          </a:bodyPr>
          <a:lstStyle/>
          <a:p>
            <a:pPr algn="l"/>
            <a:r>
              <a:rPr sz="1700" b="0" i="0">
                <a:solidFill>
                  <a:srgbClr val="DDE9F7"/>
                </a:solidFill>
                <a:latin typeface="Inter"/>
              </a:rPr>
              <a:t>A realistic weekly rhythm and one-source production flow with owners, statuses, and deadlines.</a:t>
            </a:r>
          </a:p>
        </p:txBody>
      </p:sp>
      <p:sp>
        <p:nvSpPr>
          <p:cNvPr id="13" name="Rounded Rectangle 12"/>
          <p:cNvSpPr/>
          <p:nvPr/>
        </p:nvSpPr>
        <p:spPr>
          <a:xfrm>
            <a:off x="594360" y="4754880"/>
            <a:ext cx="5029200" cy="105156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56048"/>
            <a:ext cx="1828800" cy="228600"/>
          </a:xfrm>
          <a:prstGeom prst="rect">
            <a:avLst/>
          </a:prstGeom>
          <a:noFill/>
        </p:spPr>
        <p:txBody>
          <a:bodyPr wrap="square" lIns="36576" rIns="36576" tIns="36576" bIns="36576" anchor="t">
            <a:spAutoFit/>
          </a:bodyPr>
          <a:lstStyle/>
          <a:p>
            <a:pPr algn="l"/>
            <a:r>
              <a:rPr sz="900" b="1" i="0">
                <a:solidFill>
                  <a:srgbClr val="3B82F6"/>
                </a:solidFill>
                <a:latin typeface="Inter Display"/>
              </a:rPr>
              <a:t>FACILITATOR FOCUS</a:t>
            </a:r>
          </a:p>
        </p:txBody>
      </p:sp>
      <p:sp>
        <p:nvSpPr>
          <p:cNvPr id="15" name="TextBox 14"/>
          <p:cNvSpPr txBox="1"/>
          <p:nvPr/>
        </p:nvSpPr>
        <p:spPr>
          <a:xfrm>
            <a:off x="822960" y="5257800"/>
            <a:ext cx="4480560" cy="384048"/>
          </a:xfrm>
          <a:prstGeom prst="rect">
            <a:avLst/>
          </a:prstGeom>
          <a:noFill/>
        </p:spPr>
        <p:txBody>
          <a:bodyPr wrap="square" lIns="36576" rIns="36576" tIns="36576" bIns="36576" anchor="t">
            <a:normAutofit/>
          </a:bodyPr>
          <a:lstStyle/>
          <a:p>
            <a:pPr algn="l"/>
            <a:r>
              <a:rPr sz="1300" b="1" i="0">
                <a:solidFill>
                  <a:srgbClr val="FFFFFF"/>
                </a:solidFill>
                <a:latin typeface="Inter"/>
              </a:rPr>
              <a:t>Make publishing capacity, roles, and next actions visible.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02</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13</a:t>
            </a:r>
          </a:p>
        </p:txBody>
      </p:sp>
      <p:pic>
        <p:nvPicPr>
          <p:cNvPr id="5" name="Picture 4" descr="04_lesson_03_every_day_has_a_job.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14</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3B82F6"/>
                </a:solidFill>
                <a:latin typeface="Inter Display"/>
              </a:rPr>
              <a:t>LESSON 3</a:t>
            </a:r>
          </a:p>
        </p:txBody>
      </p:sp>
      <p:sp>
        <p:nvSpPr>
          <p:cNvPr id="7" name="Rounded Rectangle 6"/>
          <p:cNvSpPr/>
          <p:nvPr/>
        </p:nvSpPr>
        <p:spPr>
          <a:xfrm>
            <a:off x="457200" y="804672"/>
            <a:ext cx="502920" cy="5029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03</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Give every touchpoint a job</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Balance value, proof, conversation, invitation, and depth.</a:t>
            </a:r>
          </a:p>
        </p:txBody>
      </p:sp>
      <p:sp>
        <p:nvSpPr>
          <p:cNvPr id="11" name="Rounded Rectangle 10"/>
          <p:cNvSpPr/>
          <p:nvPr/>
        </p:nvSpPr>
        <p:spPr>
          <a:xfrm>
            <a:off x="502920" y="2286000"/>
            <a:ext cx="2011680" cy="210312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5800" y="2468880"/>
            <a:ext cx="475488" cy="475488"/>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6888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01</a:t>
            </a:r>
          </a:p>
        </p:txBody>
      </p:sp>
      <p:sp>
        <p:nvSpPr>
          <p:cNvPr id="14" name="TextBox 13"/>
          <p:cNvSpPr txBox="1"/>
          <p:nvPr/>
        </p:nvSpPr>
        <p:spPr>
          <a:xfrm>
            <a:off x="1298448" y="2450592"/>
            <a:ext cx="103327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TEACH</a:t>
            </a:r>
          </a:p>
        </p:txBody>
      </p:sp>
      <p:sp>
        <p:nvSpPr>
          <p:cNvPr id="15" name="TextBox 14"/>
          <p:cNvSpPr txBox="1"/>
          <p:nvPr/>
        </p:nvSpPr>
        <p:spPr>
          <a:xfrm>
            <a:off x="731520" y="2962656"/>
            <a:ext cx="1554480" cy="1280160"/>
          </a:xfrm>
          <a:prstGeom prst="rect">
            <a:avLst/>
          </a:prstGeom>
          <a:noFill/>
        </p:spPr>
        <p:txBody>
          <a:bodyPr wrap="square" lIns="36576" rIns="36576" tIns="36576" bIns="36576" anchor="t">
            <a:normAutofit/>
          </a:bodyPr>
          <a:lstStyle/>
          <a:p>
            <a:pPr algn="l"/>
            <a:r>
              <a:rPr sz="1130" b="0" i="0">
                <a:solidFill>
                  <a:srgbClr val="DDE9F7"/>
                </a:solidFill>
                <a:latin typeface="Inter"/>
              </a:rPr>
              <a:t>Explain a useful idea or method.</a:t>
            </a:r>
          </a:p>
        </p:txBody>
      </p:sp>
      <p:sp>
        <p:nvSpPr>
          <p:cNvPr id="16" name="Rounded Rectangle 15"/>
          <p:cNvSpPr/>
          <p:nvPr/>
        </p:nvSpPr>
        <p:spPr>
          <a:xfrm>
            <a:off x="2843784" y="2286000"/>
            <a:ext cx="2011680" cy="210312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026664" y="2468880"/>
            <a:ext cx="475488" cy="475488"/>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26664" y="246888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02</a:t>
            </a:r>
          </a:p>
        </p:txBody>
      </p:sp>
      <p:sp>
        <p:nvSpPr>
          <p:cNvPr id="19" name="TextBox 18"/>
          <p:cNvSpPr txBox="1"/>
          <p:nvPr/>
        </p:nvSpPr>
        <p:spPr>
          <a:xfrm>
            <a:off x="3639312" y="2450592"/>
            <a:ext cx="103327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PROVE</a:t>
            </a:r>
          </a:p>
        </p:txBody>
      </p:sp>
      <p:sp>
        <p:nvSpPr>
          <p:cNvPr id="20" name="TextBox 19"/>
          <p:cNvSpPr txBox="1"/>
          <p:nvPr/>
        </p:nvSpPr>
        <p:spPr>
          <a:xfrm>
            <a:off x="3072384" y="2962656"/>
            <a:ext cx="1554480" cy="1280160"/>
          </a:xfrm>
          <a:prstGeom prst="rect">
            <a:avLst/>
          </a:prstGeom>
          <a:noFill/>
        </p:spPr>
        <p:txBody>
          <a:bodyPr wrap="square" lIns="36576" rIns="36576" tIns="36576" bIns="36576" anchor="t">
            <a:normAutofit/>
          </a:bodyPr>
          <a:lstStyle/>
          <a:p>
            <a:pPr algn="l"/>
            <a:r>
              <a:rPr sz="1130" b="0" i="0">
                <a:solidFill>
                  <a:srgbClr val="DDE9F7"/>
                </a:solidFill>
                <a:latin typeface="Inter"/>
              </a:rPr>
              <a:t>Show evidence, a case, or a real example.</a:t>
            </a:r>
          </a:p>
        </p:txBody>
      </p:sp>
      <p:sp>
        <p:nvSpPr>
          <p:cNvPr id="21" name="Rounded Rectangle 20"/>
          <p:cNvSpPr/>
          <p:nvPr/>
        </p:nvSpPr>
        <p:spPr>
          <a:xfrm>
            <a:off x="5184648" y="2286000"/>
            <a:ext cx="2011680" cy="21031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367528" y="2468880"/>
            <a:ext cx="475488" cy="47548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67528" y="246888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03</a:t>
            </a:r>
          </a:p>
        </p:txBody>
      </p:sp>
      <p:sp>
        <p:nvSpPr>
          <p:cNvPr id="24" name="TextBox 23"/>
          <p:cNvSpPr txBox="1"/>
          <p:nvPr/>
        </p:nvSpPr>
        <p:spPr>
          <a:xfrm>
            <a:off x="5980176" y="2450592"/>
            <a:ext cx="103327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CONVERSE</a:t>
            </a:r>
          </a:p>
        </p:txBody>
      </p:sp>
      <p:sp>
        <p:nvSpPr>
          <p:cNvPr id="25" name="TextBox 24"/>
          <p:cNvSpPr txBox="1"/>
          <p:nvPr/>
        </p:nvSpPr>
        <p:spPr>
          <a:xfrm>
            <a:off x="5413248" y="2962656"/>
            <a:ext cx="1554480" cy="1280160"/>
          </a:xfrm>
          <a:prstGeom prst="rect">
            <a:avLst/>
          </a:prstGeom>
          <a:noFill/>
        </p:spPr>
        <p:txBody>
          <a:bodyPr wrap="square" lIns="36576" rIns="36576" tIns="36576" bIns="36576" anchor="t">
            <a:normAutofit/>
          </a:bodyPr>
          <a:lstStyle/>
          <a:p>
            <a:pPr algn="l"/>
            <a:r>
              <a:rPr sz="1130" b="0" i="0">
                <a:solidFill>
                  <a:srgbClr val="DDE9F7"/>
                </a:solidFill>
                <a:latin typeface="Inter"/>
              </a:rPr>
              <a:t>Invite response and learn from the audience.</a:t>
            </a:r>
          </a:p>
        </p:txBody>
      </p:sp>
      <p:sp>
        <p:nvSpPr>
          <p:cNvPr id="26" name="Rounded Rectangle 25"/>
          <p:cNvSpPr/>
          <p:nvPr/>
        </p:nvSpPr>
        <p:spPr>
          <a:xfrm>
            <a:off x="7525512" y="2286000"/>
            <a:ext cx="2011680" cy="210312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708392" y="2468880"/>
            <a:ext cx="475488"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08392" y="246888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04</a:t>
            </a:r>
          </a:p>
        </p:txBody>
      </p:sp>
      <p:sp>
        <p:nvSpPr>
          <p:cNvPr id="29" name="TextBox 28"/>
          <p:cNvSpPr txBox="1"/>
          <p:nvPr/>
        </p:nvSpPr>
        <p:spPr>
          <a:xfrm>
            <a:off x="8321040" y="2450592"/>
            <a:ext cx="103327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INVITE</a:t>
            </a:r>
          </a:p>
        </p:txBody>
      </p:sp>
      <p:sp>
        <p:nvSpPr>
          <p:cNvPr id="30" name="TextBox 29"/>
          <p:cNvSpPr txBox="1"/>
          <p:nvPr/>
        </p:nvSpPr>
        <p:spPr>
          <a:xfrm>
            <a:off x="7754112" y="2962656"/>
            <a:ext cx="1554480" cy="1280160"/>
          </a:xfrm>
          <a:prstGeom prst="rect">
            <a:avLst/>
          </a:prstGeom>
          <a:noFill/>
        </p:spPr>
        <p:txBody>
          <a:bodyPr wrap="square" lIns="36576" rIns="36576" tIns="36576" bIns="36576" anchor="t">
            <a:normAutofit/>
          </a:bodyPr>
          <a:lstStyle/>
          <a:p>
            <a:pPr algn="l"/>
            <a:r>
              <a:rPr sz="1130" b="0" i="0">
                <a:solidFill>
                  <a:srgbClr val="DDE9F7"/>
                </a:solidFill>
                <a:latin typeface="Inter"/>
              </a:rPr>
              <a:t>Offer a relevant next step.</a:t>
            </a:r>
          </a:p>
        </p:txBody>
      </p:sp>
      <p:sp>
        <p:nvSpPr>
          <p:cNvPr id="31" name="Rounded Rectangle 30"/>
          <p:cNvSpPr/>
          <p:nvPr/>
        </p:nvSpPr>
        <p:spPr>
          <a:xfrm>
            <a:off x="9866376" y="2286000"/>
            <a:ext cx="2011680" cy="210312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49256" y="2468880"/>
            <a:ext cx="475488" cy="475488"/>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49256" y="2468880"/>
            <a:ext cx="475488" cy="475488"/>
          </a:xfrm>
          <a:prstGeom prst="rect">
            <a:avLst/>
          </a:prstGeom>
          <a:noFill/>
        </p:spPr>
        <p:txBody>
          <a:bodyPr wrap="square" lIns="36576" rIns="36576" tIns="36576" bIns="36576" anchor="ctr">
            <a:normAutofit/>
          </a:bodyPr>
          <a:lstStyle/>
          <a:p>
            <a:pPr algn="ctr"/>
            <a:r>
              <a:rPr sz="1500" b="1" i="0">
                <a:solidFill>
                  <a:srgbClr val="FFFFFF"/>
                </a:solidFill>
                <a:latin typeface="Inter Display"/>
              </a:rPr>
              <a:t>05</a:t>
            </a:r>
          </a:p>
        </p:txBody>
      </p:sp>
      <p:sp>
        <p:nvSpPr>
          <p:cNvPr id="34" name="TextBox 33"/>
          <p:cNvSpPr txBox="1"/>
          <p:nvPr/>
        </p:nvSpPr>
        <p:spPr>
          <a:xfrm>
            <a:off x="10661904" y="2450592"/>
            <a:ext cx="1033272"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DEEPEN</a:t>
            </a:r>
          </a:p>
        </p:txBody>
      </p:sp>
      <p:sp>
        <p:nvSpPr>
          <p:cNvPr id="35" name="TextBox 34"/>
          <p:cNvSpPr txBox="1"/>
          <p:nvPr/>
        </p:nvSpPr>
        <p:spPr>
          <a:xfrm>
            <a:off x="10094976" y="2962656"/>
            <a:ext cx="1554480" cy="1280160"/>
          </a:xfrm>
          <a:prstGeom prst="rect">
            <a:avLst/>
          </a:prstGeom>
          <a:noFill/>
        </p:spPr>
        <p:txBody>
          <a:bodyPr wrap="square" lIns="36576" rIns="36576" tIns="36576" bIns="36576" anchor="t">
            <a:normAutofit/>
          </a:bodyPr>
          <a:lstStyle/>
          <a:p>
            <a:pPr algn="l"/>
            <a:r>
              <a:rPr sz="1130" b="0" i="0">
                <a:solidFill>
                  <a:srgbClr val="DDE9F7"/>
                </a:solidFill>
                <a:latin typeface="Inter"/>
              </a:rPr>
              <a:t>Add context through email, video, or a longer format.</a:t>
            </a:r>
          </a:p>
        </p:txBody>
      </p:sp>
      <p:sp>
        <p:nvSpPr>
          <p:cNvPr id="36" name="Rounded Rectangle 35"/>
          <p:cNvSpPr/>
          <p:nvPr/>
        </p:nvSpPr>
        <p:spPr>
          <a:xfrm>
            <a:off x="1051560" y="4937760"/>
            <a:ext cx="10104120" cy="77724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8448" y="5138928"/>
            <a:ext cx="1828800" cy="182880"/>
          </a:xfrm>
          <a:prstGeom prst="rect">
            <a:avLst/>
          </a:prstGeom>
          <a:noFill/>
        </p:spPr>
        <p:txBody>
          <a:bodyPr wrap="square" lIns="36576" rIns="36576" tIns="36576" bIns="36576" anchor="t">
            <a:spAutoFit/>
          </a:bodyPr>
          <a:lstStyle/>
          <a:p>
            <a:pPr algn="l"/>
            <a:r>
              <a:rPr sz="900" b="1" i="0">
                <a:solidFill>
                  <a:srgbClr val="3B82F6"/>
                </a:solidFill>
                <a:latin typeface="Inter Display"/>
              </a:rPr>
              <a:t>MINIMUM VIABLE WEEK</a:t>
            </a:r>
          </a:p>
        </p:txBody>
      </p:sp>
      <p:sp>
        <p:nvSpPr>
          <p:cNvPr id="38" name="TextBox 37"/>
          <p:cNvSpPr txBox="1"/>
          <p:nvPr/>
        </p:nvSpPr>
        <p:spPr>
          <a:xfrm>
            <a:off x="2971800" y="5065776"/>
            <a:ext cx="7680960" cy="347472"/>
          </a:xfrm>
          <a:prstGeom prst="rect">
            <a:avLst/>
          </a:prstGeom>
          <a:noFill/>
        </p:spPr>
        <p:txBody>
          <a:bodyPr wrap="square" lIns="36576" rIns="36576" tIns="36576" bIns="36576" anchor="t">
            <a:normAutofit/>
          </a:bodyPr>
          <a:lstStyle/>
          <a:p>
            <a:pPr algn="l"/>
            <a:r>
              <a:rPr sz="1400" b="1" i="0">
                <a:solidFill>
                  <a:srgbClr val="FFFFFF"/>
                </a:solidFill>
                <a:latin typeface="Inter"/>
              </a:rPr>
              <a:t>Define what stays live when workload, approvals, or capacity tighten.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15</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3B82F6"/>
                </a:solidFill>
                <a:latin typeface="Inter Display"/>
              </a:rPr>
              <a:t>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Map the weekly publishing rhythm</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Work backward from publish date to draft, review, and approval.</a:t>
            </a:r>
          </a:p>
        </p:txBody>
      </p:sp>
      <p:pic>
        <p:nvPicPr>
          <p:cNvPr id="9" name="Picture 8" descr="13_diagram_weekly_rhythm.png"/>
          <p:cNvPicPr>
            <a:picLocks noChangeAspect="1"/>
          </p:cNvPicPr>
          <p:nvPr/>
        </p:nvPicPr>
        <p:blipFill>
          <a:blip r:embed="rId3"/>
          <a:srcRect t="16" b="16"/>
          <a:stretch>
            <a:fillRect/>
          </a:stretch>
        </p:blipFill>
        <p:spPr>
          <a:xfrm>
            <a:off x="594360" y="2057400"/>
            <a:ext cx="6309360" cy="3547872"/>
          </a:xfrm>
          <a:prstGeom prst="rect">
            <a:avLst/>
          </a:prstGeom>
        </p:spPr>
      </p:pic>
      <p:sp>
        <p:nvSpPr>
          <p:cNvPr id="10" name="TextBox 9"/>
          <p:cNvSpPr txBox="1"/>
          <p:nvPr/>
        </p:nvSpPr>
        <p:spPr>
          <a:xfrm>
            <a:off x="7178040" y="2121408"/>
            <a:ext cx="4389120" cy="2971800"/>
          </a:xfrm>
          <a:prstGeom prst="rect">
            <a:avLst/>
          </a:prstGeom>
          <a:noFill/>
        </p:spPr>
        <p:txBody>
          <a:bodyPr wrap="square" lIns="27432" rIns="27432" tIns="18288" bIns="18288">
            <a:spAutoFit/>
          </a:bodyPr>
          <a:lstStyle/>
          <a:p>
            <a:pPr>
              <a:spcAft>
                <a:spcPts val="900"/>
              </a:spcAft>
              <a:defRPr sz="1520">
                <a:solidFill>
                  <a:srgbClr val="DDE9F7"/>
                </a:solidFill>
                <a:latin typeface="Inter"/>
              </a:defRPr>
            </a:pPr>
            <a:r>
              <a:t>•  Choose a realistic three-, four-, or five-touch week.</a:t>
            </a:r>
          </a:p>
          <a:p>
            <a:pPr>
              <a:spcAft>
                <a:spcPts val="900"/>
              </a:spcAft>
              <a:defRPr sz="1520">
                <a:solidFill>
                  <a:srgbClr val="DDE9F7"/>
                </a:solidFill>
                <a:latin typeface="Inter"/>
              </a:defRPr>
            </a:pPr>
            <a:r>
              <a:t>•  Name the pillar and strategic job for each touchpoint.</a:t>
            </a:r>
          </a:p>
          <a:p>
            <a:pPr>
              <a:spcAft>
                <a:spcPts val="900"/>
              </a:spcAft>
              <a:defRPr sz="1520">
                <a:solidFill>
                  <a:srgbClr val="DDE9F7"/>
                </a:solidFill>
                <a:latin typeface="Inter"/>
              </a:defRPr>
            </a:pPr>
            <a:r>
              <a:t>•  Assign owner, reviewer, approval due date, and publish date.</a:t>
            </a:r>
          </a:p>
          <a:p>
            <a:pPr>
              <a:spcAft>
                <a:spcPts val="900"/>
              </a:spcAft>
              <a:defRPr sz="1520">
                <a:solidFill>
                  <a:srgbClr val="DDE9F7"/>
                </a:solidFill>
                <a:latin typeface="Inter"/>
              </a:defRPr>
            </a:pPr>
            <a:r>
              <a:t>•  Leave a buffer for revision or delayed approval.</a:t>
            </a:r>
          </a:p>
        </p:txBody>
      </p:sp>
      <p:sp>
        <p:nvSpPr>
          <p:cNvPr id="11" name="Rounded Rectangle 10"/>
          <p:cNvSpPr/>
          <p:nvPr/>
        </p:nvSpPr>
        <p:spPr>
          <a:xfrm>
            <a:off x="7178040" y="5321808"/>
            <a:ext cx="4389120" cy="530352"/>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5440680"/>
            <a:ext cx="4023360" cy="228600"/>
          </a:xfrm>
          <a:prstGeom prst="rect">
            <a:avLst/>
          </a:prstGeom>
          <a:noFill/>
        </p:spPr>
        <p:txBody>
          <a:bodyPr wrap="square" lIns="36576" rIns="36576" tIns="36576" bIns="36576" anchor="t">
            <a:normAutofit/>
          </a:bodyPr>
          <a:lstStyle/>
          <a:p>
            <a:pPr algn="ctr"/>
            <a:r>
              <a:rPr sz="1120" b="1" i="0">
                <a:solidFill>
                  <a:srgbClr val="FFFFFF"/>
                </a:solidFill>
                <a:latin typeface="Inter"/>
              </a:rPr>
              <a:t>DELIVERABLE: weekly rhythm + minimum viable week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02</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16</a:t>
            </a:r>
          </a:p>
        </p:txBody>
      </p:sp>
      <p:pic>
        <p:nvPicPr>
          <p:cNvPr id="5" name="Picture 4" descr="05_lesson_04_one_source_production_flow.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17</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3B82F6"/>
                </a:solidFill>
                <a:latin typeface="Inter Display"/>
              </a:rPr>
              <a:t>LESSON 4</a:t>
            </a:r>
          </a:p>
        </p:txBody>
      </p:sp>
      <p:sp>
        <p:nvSpPr>
          <p:cNvPr id="7" name="Rounded Rectangle 6"/>
          <p:cNvSpPr/>
          <p:nvPr/>
        </p:nvSpPr>
        <p:spPr>
          <a:xfrm>
            <a:off x="457200" y="804672"/>
            <a:ext cx="502920" cy="5029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04</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Build the one-source production flow</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A board should show where the asset is, who owns it, and what happens next.</a:t>
            </a:r>
          </a:p>
        </p:txBody>
      </p:sp>
      <p:sp>
        <p:nvSpPr>
          <p:cNvPr id="11" name="Rounded Rectangle 10"/>
          <p:cNvSpPr/>
          <p:nvPr/>
        </p:nvSpPr>
        <p:spPr>
          <a:xfrm>
            <a:off x="594360" y="2148840"/>
            <a:ext cx="2468880" cy="96012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39572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Captured</a:t>
            </a:r>
          </a:p>
        </p:txBody>
      </p:sp>
      <p:sp>
        <p:nvSpPr>
          <p:cNvPr id="13" name="TextBox 12"/>
          <p:cNvSpPr txBox="1"/>
          <p:nvPr/>
        </p:nvSpPr>
        <p:spPr>
          <a:xfrm>
            <a:off x="3081528" y="2468880"/>
            <a:ext cx="301752" cy="274320"/>
          </a:xfrm>
          <a:prstGeom prst="rect">
            <a:avLst/>
          </a:prstGeom>
          <a:noFill/>
        </p:spPr>
        <p:txBody>
          <a:bodyPr wrap="square" lIns="36576" rIns="36576" tIns="36576" bIns="36576" anchor="t">
            <a:spAutoFit/>
          </a:bodyPr>
          <a:lstStyle/>
          <a:p>
            <a:pPr algn="ctr"/>
            <a:r>
              <a:rPr sz="2000" b="1" i="0">
                <a:solidFill>
                  <a:srgbClr val="A9B7CC"/>
                </a:solidFill>
                <a:latin typeface="Inter Display"/>
              </a:rPr>
              <a:t>→</a:t>
            </a:r>
          </a:p>
        </p:txBody>
      </p:sp>
      <p:sp>
        <p:nvSpPr>
          <p:cNvPr id="14" name="Rounded Rectangle 13"/>
          <p:cNvSpPr/>
          <p:nvPr/>
        </p:nvSpPr>
        <p:spPr>
          <a:xfrm>
            <a:off x="3383279" y="2148840"/>
            <a:ext cx="2468880" cy="96012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39" y="239572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Drafting</a:t>
            </a:r>
          </a:p>
        </p:txBody>
      </p:sp>
      <p:sp>
        <p:nvSpPr>
          <p:cNvPr id="16" name="TextBox 15"/>
          <p:cNvSpPr txBox="1"/>
          <p:nvPr/>
        </p:nvSpPr>
        <p:spPr>
          <a:xfrm>
            <a:off x="5870448" y="2468880"/>
            <a:ext cx="301752" cy="274320"/>
          </a:xfrm>
          <a:prstGeom prst="rect">
            <a:avLst/>
          </a:prstGeom>
          <a:noFill/>
        </p:spPr>
        <p:txBody>
          <a:bodyPr wrap="square" lIns="36576" rIns="36576" tIns="36576" bIns="36576" anchor="t">
            <a:spAutoFit/>
          </a:bodyPr>
          <a:lstStyle/>
          <a:p>
            <a:pPr algn="ctr"/>
            <a:r>
              <a:rPr sz="2000" b="1" i="0">
                <a:solidFill>
                  <a:srgbClr val="A9B7CC"/>
                </a:solidFill>
                <a:latin typeface="Inter Display"/>
              </a:rPr>
              <a:t>→</a:t>
            </a:r>
          </a:p>
        </p:txBody>
      </p:sp>
      <p:sp>
        <p:nvSpPr>
          <p:cNvPr id="17" name="Rounded Rectangle 16"/>
          <p:cNvSpPr/>
          <p:nvPr/>
        </p:nvSpPr>
        <p:spPr>
          <a:xfrm>
            <a:off x="6172200" y="2148840"/>
            <a:ext cx="2468880" cy="96012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39572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Review</a:t>
            </a:r>
          </a:p>
        </p:txBody>
      </p:sp>
      <p:sp>
        <p:nvSpPr>
          <p:cNvPr id="19" name="TextBox 18"/>
          <p:cNvSpPr txBox="1"/>
          <p:nvPr/>
        </p:nvSpPr>
        <p:spPr>
          <a:xfrm>
            <a:off x="8659368" y="2468880"/>
            <a:ext cx="301752" cy="274320"/>
          </a:xfrm>
          <a:prstGeom prst="rect">
            <a:avLst/>
          </a:prstGeom>
          <a:noFill/>
        </p:spPr>
        <p:txBody>
          <a:bodyPr wrap="square" lIns="36576" rIns="36576" tIns="36576" bIns="36576" anchor="t">
            <a:spAutoFit/>
          </a:bodyPr>
          <a:lstStyle/>
          <a:p>
            <a:pPr algn="ctr"/>
            <a:r>
              <a:rPr sz="2000" b="1" i="0">
                <a:solidFill>
                  <a:srgbClr val="A9B7CC"/>
                </a:solidFill>
                <a:latin typeface="Inter Display"/>
              </a:rPr>
              <a:t>→</a:t>
            </a:r>
          </a:p>
        </p:txBody>
      </p:sp>
      <p:sp>
        <p:nvSpPr>
          <p:cNvPr id="20" name="Rounded Rectangle 19"/>
          <p:cNvSpPr/>
          <p:nvPr/>
        </p:nvSpPr>
        <p:spPr>
          <a:xfrm>
            <a:off x="8961119" y="2148840"/>
            <a:ext cx="2468880" cy="96012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39572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Approved</a:t>
            </a:r>
          </a:p>
        </p:txBody>
      </p:sp>
      <p:sp>
        <p:nvSpPr>
          <p:cNvPr id="22" name="Rounded Rectangle 21"/>
          <p:cNvSpPr/>
          <p:nvPr/>
        </p:nvSpPr>
        <p:spPr>
          <a:xfrm>
            <a:off x="594360" y="3566160"/>
            <a:ext cx="2468880" cy="9601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81304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Scheduled</a:t>
            </a:r>
          </a:p>
        </p:txBody>
      </p:sp>
      <p:sp>
        <p:nvSpPr>
          <p:cNvPr id="24" name="TextBox 23"/>
          <p:cNvSpPr txBox="1"/>
          <p:nvPr/>
        </p:nvSpPr>
        <p:spPr>
          <a:xfrm>
            <a:off x="3081528" y="3886200"/>
            <a:ext cx="301752" cy="274320"/>
          </a:xfrm>
          <a:prstGeom prst="rect">
            <a:avLst/>
          </a:prstGeom>
          <a:noFill/>
        </p:spPr>
        <p:txBody>
          <a:bodyPr wrap="square" lIns="36576" rIns="36576" tIns="36576" bIns="36576" anchor="t">
            <a:spAutoFit/>
          </a:bodyPr>
          <a:lstStyle/>
          <a:p>
            <a:pPr algn="ctr"/>
            <a:r>
              <a:rPr sz="2000" b="1" i="0">
                <a:solidFill>
                  <a:srgbClr val="A9B7CC"/>
                </a:solidFill>
                <a:latin typeface="Inter Display"/>
              </a:rPr>
              <a:t>→</a:t>
            </a:r>
          </a:p>
        </p:txBody>
      </p:sp>
      <p:sp>
        <p:nvSpPr>
          <p:cNvPr id="25" name="Rounded Rectangle 24"/>
          <p:cNvSpPr/>
          <p:nvPr/>
        </p:nvSpPr>
        <p:spPr>
          <a:xfrm>
            <a:off x="3383279" y="3566160"/>
            <a:ext cx="2468880" cy="9601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0439" y="381304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Published</a:t>
            </a:r>
          </a:p>
        </p:txBody>
      </p:sp>
      <p:sp>
        <p:nvSpPr>
          <p:cNvPr id="27" name="TextBox 26"/>
          <p:cNvSpPr txBox="1"/>
          <p:nvPr/>
        </p:nvSpPr>
        <p:spPr>
          <a:xfrm>
            <a:off x="5870448" y="3886200"/>
            <a:ext cx="301752" cy="274320"/>
          </a:xfrm>
          <a:prstGeom prst="rect">
            <a:avLst/>
          </a:prstGeom>
          <a:noFill/>
        </p:spPr>
        <p:txBody>
          <a:bodyPr wrap="square" lIns="36576" rIns="36576" tIns="36576" bIns="36576" anchor="t">
            <a:spAutoFit/>
          </a:bodyPr>
          <a:lstStyle/>
          <a:p>
            <a:pPr algn="ctr"/>
            <a:r>
              <a:rPr sz="2000" b="1" i="0">
                <a:solidFill>
                  <a:srgbClr val="A9B7CC"/>
                </a:solidFill>
                <a:latin typeface="Inter Display"/>
              </a:rPr>
              <a:t>→</a:t>
            </a:r>
          </a:p>
        </p:txBody>
      </p:sp>
      <p:sp>
        <p:nvSpPr>
          <p:cNvPr id="28" name="Rounded Rectangle 27"/>
          <p:cNvSpPr/>
          <p:nvPr/>
        </p:nvSpPr>
        <p:spPr>
          <a:xfrm>
            <a:off x="6172200" y="3566160"/>
            <a:ext cx="2468880" cy="9601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381304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Repurpose</a:t>
            </a:r>
          </a:p>
        </p:txBody>
      </p:sp>
      <p:sp>
        <p:nvSpPr>
          <p:cNvPr id="30" name="TextBox 29"/>
          <p:cNvSpPr txBox="1"/>
          <p:nvPr/>
        </p:nvSpPr>
        <p:spPr>
          <a:xfrm>
            <a:off x="8659368" y="3886200"/>
            <a:ext cx="301752" cy="274320"/>
          </a:xfrm>
          <a:prstGeom prst="rect">
            <a:avLst/>
          </a:prstGeom>
          <a:noFill/>
        </p:spPr>
        <p:txBody>
          <a:bodyPr wrap="square" lIns="36576" rIns="36576" tIns="36576" bIns="36576" anchor="t">
            <a:spAutoFit/>
          </a:bodyPr>
          <a:lstStyle/>
          <a:p>
            <a:pPr algn="ctr"/>
            <a:r>
              <a:rPr sz="2000" b="1" i="0">
                <a:solidFill>
                  <a:srgbClr val="A9B7CC"/>
                </a:solidFill>
                <a:latin typeface="Inter Display"/>
              </a:rPr>
              <a:t>→</a:t>
            </a:r>
          </a:p>
        </p:txBody>
      </p:sp>
      <p:sp>
        <p:nvSpPr>
          <p:cNvPr id="31" name="Rounded Rectangle 30"/>
          <p:cNvSpPr/>
          <p:nvPr/>
        </p:nvSpPr>
        <p:spPr>
          <a:xfrm>
            <a:off x="8961119" y="3566160"/>
            <a:ext cx="2468880" cy="9601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98280" y="3813048"/>
            <a:ext cx="2194560" cy="384048"/>
          </a:xfrm>
          <a:prstGeom prst="rect">
            <a:avLst/>
          </a:prstGeom>
          <a:noFill/>
        </p:spPr>
        <p:txBody>
          <a:bodyPr wrap="square" lIns="36576" rIns="36576" tIns="36576" bIns="36576" anchor="t">
            <a:normAutofit/>
          </a:bodyPr>
          <a:lstStyle/>
          <a:p>
            <a:pPr algn="ctr"/>
            <a:r>
              <a:rPr sz="1600" b="1" i="0">
                <a:solidFill>
                  <a:srgbClr val="FFFFFF"/>
                </a:solidFill>
                <a:latin typeface="Inter Display"/>
              </a:rPr>
              <a:t>Archived</a:t>
            </a:r>
          </a:p>
        </p:txBody>
      </p:sp>
      <p:sp>
        <p:nvSpPr>
          <p:cNvPr id="33" name="Rounded Rectangle 32"/>
          <p:cNvSpPr/>
          <p:nvPr/>
        </p:nvSpPr>
        <p:spPr>
          <a:xfrm>
            <a:off x="1097280" y="5212080"/>
            <a:ext cx="9966960" cy="621792"/>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25880" y="5376672"/>
            <a:ext cx="9509760" cy="274320"/>
          </a:xfrm>
          <a:prstGeom prst="rect">
            <a:avLst/>
          </a:prstGeom>
          <a:noFill/>
        </p:spPr>
        <p:txBody>
          <a:bodyPr wrap="square" lIns="36576" rIns="36576" tIns="36576" bIns="36576" anchor="t">
            <a:normAutofit/>
          </a:bodyPr>
          <a:lstStyle/>
          <a:p>
            <a:pPr algn="ctr"/>
            <a:r>
              <a:rPr sz="1350" b="1" i="0">
                <a:solidFill>
                  <a:srgbClr val="FFFFFF"/>
                </a:solidFill>
                <a:latin typeface="Inter"/>
              </a:rPr>
              <a:t>Required fields: source • owner • reviewer • deadline • current file • next action • learning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18</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3B82F6"/>
                </a:solidFill>
                <a:latin typeface="Inter Display"/>
              </a:rPr>
              <a:t>HANDS-ON 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Create the weekly command board</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Move the anchor through the first three statuses and assign the next action.</a:t>
            </a:r>
          </a:p>
        </p:txBody>
      </p:sp>
      <p:sp>
        <p:nvSpPr>
          <p:cNvPr id="9" name="TextBox 8"/>
          <p:cNvSpPr txBox="1"/>
          <p:nvPr/>
        </p:nvSpPr>
        <p:spPr>
          <a:xfrm>
            <a:off x="640080" y="2084831"/>
            <a:ext cx="5029200" cy="3337560"/>
          </a:xfrm>
          <a:prstGeom prst="rect">
            <a:avLst/>
          </a:prstGeom>
          <a:noFill/>
        </p:spPr>
        <p:txBody>
          <a:bodyPr wrap="square" lIns="18288" rIns="18288">
            <a:spAutoFit/>
          </a:bodyPr>
          <a:lstStyle/>
          <a:p>
            <a:pPr>
              <a:spcAft>
                <a:spcPts val="500"/>
              </a:spcAft>
              <a:defRPr sz="1550">
                <a:solidFill>
                  <a:srgbClr val="DDE9F7"/>
                </a:solidFill>
                <a:latin typeface="Inter"/>
              </a:defRPr>
            </a:pPr>
            <a:r>
              <a:t>1.  Draw the stages an asset follows from captured source to published archive.</a:t>
            </a:r>
          </a:p>
          <a:p>
            <a:pPr>
              <a:spcAft>
                <a:spcPts val="500"/>
              </a:spcAft>
              <a:defRPr sz="1550">
                <a:solidFill>
                  <a:srgbClr val="DDE9F7"/>
                </a:solidFill>
                <a:latin typeface="Inter"/>
              </a:defRPr>
            </a:pPr>
            <a:r>
              <a:t>2.  Choose a short set of unambiguous status labels.</a:t>
            </a:r>
          </a:p>
          <a:p>
            <a:pPr>
              <a:spcAft>
                <a:spcPts val="500"/>
              </a:spcAft>
              <a:defRPr sz="1550">
                <a:solidFill>
                  <a:srgbClr val="DDE9F7"/>
                </a:solidFill>
                <a:latin typeface="Inter"/>
              </a:defRPr>
            </a:pPr>
            <a:r>
              <a:t>3.  Define the required fields for every content record.</a:t>
            </a:r>
          </a:p>
          <a:p>
            <a:pPr>
              <a:spcAft>
                <a:spcPts val="500"/>
              </a:spcAft>
              <a:defRPr sz="1550">
                <a:solidFill>
                  <a:srgbClr val="DDE9F7"/>
                </a:solidFill>
                <a:latin typeface="Inter"/>
              </a:defRPr>
            </a:pPr>
            <a:r>
              <a:t>4.  Assign an owner, reviewer, approval deadline, and next action to the selected anchor idea.</a:t>
            </a:r>
          </a:p>
          <a:p>
            <a:pPr>
              <a:spcAft>
                <a:spcPts val="500"/>
              </a:spcAft>
              <a:defRPr sz="1550">
                <a:solidFill>
                  <a:srgbClr val="DDE9F7"/>
                </a:solidFill>
                <a:latin typeface="Inter"/>
              </a:defRPr>
            </a:pPr>
            <a:r>
              <a:t>5.  Add a post-publication learning field that feeds the idea bank.</a:t>
            </a:r>
          </a:p>
        </p:txBody>
      </p:sp>
      <p:sp>
        <p:nvSpPr>
          <p:cNvPr id="10" name="Rounded Rectangle 9"/>
          <p:cNvSpPr/>
          <p:nvPr/>
        </p:nvSpPr>
        <p:spPr>
          <a:xfrm>
            <a:off x="5897880" y="2011680"/>
            <a:ext cx="5715000" cy="356616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2221992"/>
            <a:ext cx="1280160" cy="274320"/>
          </a:xfrm>
          <a:prstGeom prst="rect">
            <a:avLst/>
          </a:prstGeom>
          <a:noFill/>
        </p:spPr>
        <p:txBody>
          <a:bodyPr wrap="square" lIns="36576" rIns="36576" tIns="36576" bIns="36576" anchor="t">
            <a:normAutofit/>
          </a:bodyPr>
          <a:lstStyle/>
          <a:p>
            <a:pPr algn="ctr"/>
            <a:r>
              <a:rPr sz="800" b="1" i="0">
                <a:solidFill>
                  <a:srgbClr val="3B82F6"/>
                </a:solidFill>
                <a:latin typeface="Inter Display"/>
              </a:rPr>
              <a:t>ASSET</a:t>
            </a:r>
          </a:p>
        </p:txBody>
      </p:sp>
      <p:sp>
        <p:nvSpPr>
          <p:cNvPr id="12" name="TextBox 11"/>
          <p:cNvSpPr txBox="1"/>
          <p:nvPr/>
        </p:nvSpPr>
        <p:spPr>
          <a:xfrm>
            <a:off x="7498079" y="2221992"/>
            <a:ext cx="960120" cy="274320"/>
          </a:xfrm>
          <a:prstGeom prst="rect">
            <a:avLst/>
          </a:prstGeom>
          <a:noFill/>
        </p:spPr>
        <p:txBody>
          <a:bodyPr wrap="square" lIns="36576" rIns="36576" tIns="36576" bIns="36576" anchor="t">
            <a:normAutofit/>
          </a:bodyPr>
          <a:lstStyle/>
          <a:p>
            <a:pPr algn="ctr"/>
            <a:r>
              <a:rPr sz="800" b="1" i="0">
                <a:solidFill>
                  <a:srgbClr val="3B82F6"/>
                </a:solidFill>
                <a:latin typeface="Inter Display"/>
              </a:rPr>
              <a:t>STATUS</a:t>
            </a:r>
          </a:p>
        </p:txBody>
      </p:sp>
      <p:sp>
        <p:nvSpPr>
          <p:cNvPr id="13" name="TextBox 12"/>
          <p:cNvSpPr txBox="1"/>
          <p:nvPr/>
        </p:nvSpPr>
        <p:spPr>
          <a:xfrm>
            <a:off x="8549640" y="2221992"/>
            <a:ext cx="960120" cy="274320"/>
          </a:xfrm>
          <a:prstGeom prst="rect">
            <a:avLst/>
          </a:prstGeom>
          <a:noFill/>
        </p:spPr>
        <p:txBody>
          <a:bodyPr wrap="square" lIns="36576" rIns="36576" tIns="36576" bIns="36576" anchor="t">
            <a:normAutofit/>
          </a:bodyPr>
          <a:lstStyle/>
          <a:p>
            <a:pPr algn="ctr"/>
            <a:r>
              <a:rPr sz="800" b="1" i="0">
                <a:solidFill>
                  <a:srgbClr val="3B82F6"/>
                </a:solidFill>
                <a:latin typeface="Inter Display"/>
              </a:rPr>
              <a:t>OWNER</a:t>
            </a:r>
          </a:p>
        </p:txBody>
      </p:sp>
      <p:sp>
        <p:nvSpPr>
          <p:cNvPr id="14" name="TextBox 13"/>
          <p:cNvSpPr txBox="1"/>
          <p:nvPr/>
        </p:nvSpPr>
        <p:spPr>
          <a:xfrm>
            <a:off x="9555480" y="2221992"/>
            <a:ext cx="960120" cy="274320"/>
          </a:xfrm>
          <a:prstGeom prst="rect">
            <a:avLst/>
          </a:prstGeom>
          <a:noFill/>
        </p:spPr>
        <p:txBody>
          <a:bodyPr wrap="square" lIns="36576" rIns="36576" tIns="36576" bIns="36576" anchor="t">
            <a:normAutofit/>
          </a:bodyPr>
          <a:lstStyle/>
          <a:p>
            <a:pPr algn="ctr"/>
            <a:r>
              <a:rPr sz="800" b="1" i="0">
                <a:solidFill>
                  <a:srgbClr val="3B82F6"/>
                </a:solidFill>
                <a:latin typeface="Inter Display"/>
              </a:rPr>
              <a:t>REVIEWER</a:t>
            </a:r>
          </a:p>
        </p:txBody>
      </p:sp>
      <p:sp>
        <p:nvSpPr>
          <p:cNvPr id="15" name="TextBox 14"/>
          <p:cNvSpPr txBox="1"/>
          <p:nvPr/>
        </p:nvSpPr>
        <p:spPr>
          <a:xfrm>
            <a:off x="10607040" y="2221992"/>
            <a:ext cx="777240" cy="274320"/>
          </a:xfrm>
          <a:prstGeom prst="rect">
            <a:avLst/>
          </a:prstGeom>
          <a:noFill/>
        </p:spPr>
        <p:txBody>
          <a:bodyPr wrap="square" lIns="36576" rIns="36576" tIns="36576" bIns="36576" anchor="t">
            <a:normAutofit/>
          </a:bodyPr>
          <a:lstStyle/>
          <a:p>
            <a:pPr algn="ctr"/>
            <a:r>
              <a:rPr sz="800" b="1" i="0">
                <a:solidFill>
                  <a:srgbClr val="3B82F6"/>
                </a:solidFill>
                <a:latin typeface="Inter Display"/>
              </a:rPr>
              <a:t>NEXT ACTION</a:t>
            </a:r>
          </a:p>
        </p:txBody>
      </p:sp>
      <p:sp>
        <p:nvSpPr>
          <p:cNvPr id="16" name="Rounded Rectangle 15"/>
          <p:cNvSpPr/>
          <p:nvPr/>
        </p:nvSpPr>
        <p:spPr>
          <a:xfrm>
            <a:off x="6099048" y="2670048"/>
            <a:ext cx="5257800" cy="621792"/>
          </a:xfrm>
          <a:prstGeom prst="roundRect">
            <a:avLst/>
          </a:prstGeom>
          <a:solidFill>
            <a:srgbClr val="0E213D"/>
          </a:solidFill>
          <a:ln w="12700">
            <a:solidFill>
              <a:srgbClr val="243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2" y="2834640"/>
            <a:ext cx="1188720" cy="228600"/>
          </a:xfrm>
          <a:prstGeom prst="rect">
            <a:avLst/>
          </a:prstGeom>
          <a:noFill/>
        </p:spPr>
        <p:txBody>
          <a:bodyPr wrap="square" lIns="36576" rIns="36576" tIns="36576" bIns="36576" anchor="t">
            <a:normAutofit/>
          </a:bodyPr>
          <a:lstStyle/>
          <a:p>
            <a:pPr algn="l"/>
            <a:r>
              <a:rPr sz="1050" b="1" i="0">
                <a:solidFill>
                  <a:srgbClr val="FFFFFF"/>
                </a:solidFill>
                <a:latin typeface="Inter"/>
              </a:rPr>
              <a:t>Anchor post</a:t>
            </a:r>
          </a:p>
        </p:txBody>
      </p:sp>
      <p:sp>
        <p:nvSpPr>
          <p:cNvPr id="18" name="TextBox 17"/>
          <p:cNvSpPr txBox="1"/>
          <p:nvPr/>
        </p:nvSpPr>
        <p:spPr>
          <a:xfrm>
            <a:off x="7498079" y="2834640"/>
            <a:ext cx="914400" cy="228600"/>
          </a:xfrm>
          <a:prstGeom prst="rect">
            <a:avLst/>
          </a:prstGeom>
          <a:noFill/>
        </p:spPr>
        <p:txBody>
          <a:bodyPr wrap="square" lIns="36576" rIns="36576" tIns="36576" bIns="36576" anchor="t">
            <a:normAutofit/>
          </a:bodyPr>
          <a:lstStyle/>
          <a:p>
            <a:pPr algn="ctr"/>
            <a:r>
              <a:rPr sz="1000" b="1" i="0">
                <a:solidFill>
                  <a:srgbClr val="06B6D4"/>
                </a:solidFill>
                <a:latin typeface="Inter"/>
              </a:rPr>
              <a:t>Drafting</a:t>
            </a:r>
          </a:p>
        </p:txBody>
      </p:sp>
      <p:sp>
        <p:nvSpPr>
          <p:cNvPr id="19" name="TextBox 18"/>
          <p:cNvSpPr txBox="1"/>
          <p:nvPr/>
        </p:nvSpPr>
        <p:spPr>
          <a:xfrm>
            <a:off x="8549640" y="2834640"/>
            <a:ext cx="914400" cy="228600"/>
          </a:xfrm>
          <a:prstGeom prst="rect">
            <a:avLst/>
          </a:prstGeom>
          <a:noFill/>
        </p:spPr>
        <p:txBody>
          <a:bodyPr wrap="square" lIns="36576" rIns="36576" tIns="36576" bIns="36576" anchor="t">
            <a:normAutofit/>
          </a:bodyPr>
          <a:lstStyle/>
          <a:p>
            <a:pPr algn="ctr"/>
            <a:r>
              <a:rPr sz="1000" b="0" i="0">
                <a:solidFill>
                  <a:srgbClr val="FFFFFF"/>
                </a:solidFill>
                <a:latin typeface="Inter"/>
              </a:rPr>
              <a:t>Founder</a:t>
            </a:r>
          </a:p>
        </p:txBody>
      </p:sp>
      <p:sp>
        <p:nvSpPr>
          <p:cNvPr id="20" name="TextBox 19"/>
          <p:cNvSpPr txBox="1"/>
          <p:nvPr/>
        </p:nvSpPr>
        <p:spPr>
          <a:xfrm>
            <a:off x="9555480" y="2834640"/>
            <a:ext cx="914400" cy="228600"/>
          </a:xfrm>
          <a:prstGeom prst="rect">
            <a:avLst/>
          </a:prstGeom>
          <a:noFill/>
        </p:spPr>
        <p:txBody>
          <a:bodyPr wrap="square" lIns="36576" rIns="36576" tIns="36576" bIns="36576" anchor="t">
            <a:normAutofit/>
          </a:bodyPr>
          <a:lstStyle/>
          <a:p>
            <a:pPr algn="ctr"/>
            <a:r>
              <a:rPr sz="1000" b="0" i="0">
                <a:solidFill>
                  <a:srgbClr val="FFFFFF"/>
                </a:solidFill>
                <a:latin typeface="Inter"/>
              </a:rPr>
              <a:t>LANA</a:t>
            </a:r>
          </a:p>
        </p:txBody>
      </p:sp>
      <p:sp>
        <p:nvSpPr>
          <p:cNvPr id="21" name="TextBox 20"/>
          <p:cNvSpPr txBox="1"/>
          <p:nvPr/>
        </p:nvSpPr>
        <p:spPr>
          <a:xfrm>
            <a:off x="10561320" y="2834640"/>
            <a:ext cx="685800" cy="228600"/>
          </a:xfrm>
          <a:prstGeom prst="rect">
            <a:avLst/>
          </a:prstGeom>
          <a:noFill/>
        </p:spPr>
        <p:txBody>
          <a:bodyPr wrap="square" lIns="36576" rIns="36576" tIns="36576" bIns="36576" anchor="t">
            <a:normAutofit/>
          </a:bodyPr>
          <a:lstStyle/>
          <a:p>
            <a:pPr algn="ctr"/>
            <a:r>
              <a:rPr sz="1000" b="1" i="0">
                <a:solidFill>
                  <a:srgbClr val="14B8A6"/>
                </a:solidFill>
                <a:latin typeface="Inter"/>
              </a:rPr>
              <a:t>Add proof</a:t>
            </a:r>
          </a:p>
        </p:txBody>
      </p:sp>
      <p:sp>
        <p:nvSpPr>
          <p:cNvPr id="22" name="Rounded Rectangle 21"/>
          <p:cNvSpPr/>
          <p:nvPr/>
        </p:nvSpPr>
        <p:spPr>
          <a:xfrm>
            <a:off x="6099048" y="3419856"/>
            <a:ext cx="5257800" cy="621792"/>
          </a:xfrm>
          <a:prstGeom prst="roundRect">
            <a:avLst/>
          </a:prstGeom>
          <a:solidFill>
            <a:srgbClr val="0E213D"/>
          </a:solidFill>
          <a:ln w="12700">
            <a:solidFill>
              <a:srgbClr val="243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99632" y="3584448"/>
            <a:ext cx="1188720" cy="228600"/>
          </a:xfrm>
          <a:prstGeom prst="rect">
            <a:avLst/>
          </a:prstGeom>
          <a:noFill/>
        </p:spPr>
        <p:txBody>
          <a:bodyPr wrap="square" lIns="36576" rIns="36576" tIns="36576" bIns="36576" anchor="t">
            <a:normAutofit/>
          </a:bodyPr>
          <a:lstStyle/>
          <a:p>
            <a:pPr algn="l"/>
            <a:r>
              <a:rPr sz="1050" b="1" i="0">
                <a:solidFill>
                  <a:srgbClr val="FFFFFF"/>
                </a:solidFill>
                <a:latin typeface="Inter"/>
              </a:rPr>
              <a:t>Short video</a:t>
            </a:r>
          </a:p>
        </p:txBody>
      </p:sp>
      <p:sp>
        <p:nvSpPr>
          <p:cNvPr id="24" name="TextBox 23"/>
          <p:cNvSpPr txBox="1"/>
          <p:nvPr/>
        </p:nvSpPr>
        <p:spPr>
          <a:xfrm>
            <a:off x="7498079" y="3584448"/>
            <a:ext cx="914400" cy="228600"/>
          </a:xfrm>
          <a:prstGeom prst="rect">
            <a:avLst/>
          </a:prstGeom>
          <a:noFill/>
        </p:spPr>
        <p:txBody>
          <a:bodyPr wrap="square" lIns="36576" rIns="36576" tIns="36576" bIns="36576" anchor="t">
            <a:normAutofit/>
          </a:bodyPr>
          <a:lstStyle/>
          <a:p>
            <a:pPr algn="ctr"/>
            <a:r>
              <a:rPr sz="1000" b="1" i="0">
                <a:solidFill>
                  <a:srgbClr val="06B6D4"/>
                </a:solidFill>
                <a:latin typeface="Inter"/>
              </a:rPr>
              <a:t>Captured</a:t>
            </a:r>
          </a:p>
        </p:txBody>
      </p:sp>
      <p:sp>
        <p:nvSpPr>
          <p:cNvPr id="25" name="TextBox 24"/>
          <p:cNvSpPr txBox="1"/>
          <p:nvPr/>
        </p:nvSpPr>
        <p:spPr>
          <a:xfrm>
            <a:off x="8549640" y="3584448"/>
            <a:ext cx="914400" cy="228600"/>
          </a:xfrm>
          <a:prstGeom prst="rect">
            <a:avLst/>
          </a:prstGeom>
          <a:noFill/>
        </p:spPr>
        <p:txBody>
          <a:bodyPr wrap="square" lIns="36576" rIns="36576" tIns="36576" bIns="36576" anchor="t">
            <a:normAutofit/>
          </a:bodyPr>
          <a:lstStyle/>
          <a:p>
            <a:pPr algn="ctr"/>
            <a:r>
              <a:rPr sz="1000" b="0" i="0">
                <a:solidFill>
                  <a:srgbClr val="FFFFFF"/>
                </a:solidFill>
                <a:latin typeface="Inter"/>
              </a:rPr>
              <a:t>Founder</a:t>
            </a:r>
          </a:p>
        </p:txBody>
      </p:sp>
      <p:sp>
        <p:nvSpPr>
          <p:cNvPr id="26" name="TextBox 25"/>
          <p:cNvSpPr txBox="1"/>
          <p:nvPr/>
        </p:nvSpPr>
        <p:spPr>
          <a:xfrm>
            <a:off x="9555480" y="3584448"/>
            <a:ext cx="914400" cy="228600"/>
          </a:xfrm>
          <a:prstGeom prst="rect">
            <a:avLst/>
          </a:prstGeom>
          <a:noFill/>
        </p:spPr>
        <p:txBody>
          <a:bodyPr wrap="square" lIns="36576" rIns="36576" tIns="36576" bIns="36576" anchor="t">
            <a:normAutofit/>
          </a:bodyPr>
          <a:lstStyle/>
          <a:p>
            <a:pPr algn="ctr"/>
            <a:r>
              <a:rPr sz="1000" b="0" i="0">
                <a:solidFill>
                  <a:srgbClr val="FFFFFF"/>
                </a:solidFill>
                <a:latin typeface="Inter"/>
              </a:rPr>
              <a:t>LANA</a:t>
            </a:r>
          </a:p>
        </p:txBody>
      </p:sp>
      <p:sp>
        <p:nvSpPr>
          <p:cNvPr id="27" name="TextBox 26"/>
          <p:cNvSpPr txBox="1"/>
          <p:nvPr/>
        </p:nvSpPr>
        <p:spPr>
          <a:xfrm>
            <a:off x="10561320" y="3584448"/>
            <a:ext cx="685800" cy="228600"/>
          </a:xfrm>
          <a:prstGeom prst="rect">
            <a:avLst/>
          </a:prstGeom>
          <a:noFill/>
        </p:spPr>
        <p:txBody>
          <a:bodyPr wrap="square" lIns="36576" rIns="36576" tIns="36576" bIns="36576" anchor="t">
            <a:normAutofit/>
          </a:bodyPr>
          <a:lstStyle/>
          <a:p>
            <a:pPr algn="ctr"/>
            <a:r>
              <a:rPr sz="1000" b="1" i="0">
                <a:solidFill>
                  <a:srgbClr val="14B8A6"/>
                </a:solidFill>
                <a:latin typeface="Inter"/>
              </a:rPr>
              <a:t>Translate</a:t>
            </a:r>
          </a:p>
        </p:txBody>
      </p:sp>
      <p:sp>
        <p:nvSpPr>
          <p:cNvPr id="28" name="Rounded Rectangle 27"/>
          <p:cNvSpPr/>
          <p:nvPr/>
        </p:nvSpPr>
        <p:spPr>
          <a:xfrm>
            <a:off x="6099048" y="4169663"/>
            <a:ext cx="5257800" cy="621792"/>
          </a:xfrm>
          <a:prstGeom prst="roundRect">
            <a:avLst/>
          </a:prstGeom>
          <a:solidFill>
            <a:srgbClr val="0E213D"/>
          </a:solidFill>
          <a:ln w="12700">
            <a:solidFill>
              <a:srgbClr val="243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9632" y="4334255"/>
            <a:ext cx="1188720" cy="228600"/>
          </a:xfrm>
          <a:prstGeom prst="rect">
            <a:avLst/>
          </a:prstGeom>
          <a:noFill/>
        </p:spPr>
        <p:txBody>
          <a:bodyPr wrap="square" lIns="36576" rIns="36576" tIns="36576" bIns="36576" anchor="t">
            <a:normAutofit/>
          </a:bodyPr>
          <a:lstStyle/>
          <a:p>
            <a:pPr algn="l"/>
            <a:r>
              <a:rPr sz="1050" b="1" i="0">
                <a:solidFill>
                  <a:srgbClr val="FFFFFF"/>
                </a:solidFill>
                <a:latin typeface="Inter"/>
              </a:rPr>
              <a:t>Email</a:t>
            </a:r>
          </a:p>
        </p:txBody>
      </p:sp>
      <p:sp>
        <p:nvSpPr>
          <p:cNvPr id="30" name="TextBox 29"/>
          <p:cNvSpPr txBox="1"/>
          <p:nvPr/>
        </p:nvSpPr>
        <p:spPr>
          <a:xfrm>
            <a:off x="7498079" y="4334255"/>
            <a:ext cx="914400" cy="228600"/>
          </a:xfrm>
          <a:prstGeom prst="rect">
            <a:avLst/>
          </a:prstGeom>
          <a:noFill/>
        </p:spPr>
        <p:txBody>
          <a:bodyPr wrap="square" lIns="36576" rIns="36576" tIns="36576" bIns="36576" anchor="t">
            <a:normAutofit/>
          </a:bodyPr>
          <a:lstStyle/>
          <a:p>
            <a:pPr algn="ctr"/>
            <a:r>
              <a:rPr sz="1000" b="1" i="0">
                <a:solidFill>
                  <a:srgbClr val="06B6D4"/>
                </a:solidFill>
                <a:latin typeface="Inter"/>
              </a:rPr>
              <a:t>Captured</a:t>
            </a:r>
          </a:p>
        </p:txBody>
      </p:sp>
      <p:sp>
        <p:nvSpPr>
          <p:cNvPr id="31" name="TextBox 30"/>
          <p:cNvSpPr txBox="1"/>
          <p:nvPr/>
        </p:nvSpPr>
        <p:spPr>
          <a:xfrm>
            <a:off x="8549640" y="4334255"/>
            <a:ext cx="914400" cy="228600"/>
          </a:xfrm>
          <a:prstGeom prst="rect">
            <a:avLst/>
          </a:prstGeom>
          <a:noFill/>
        </p:spPr>
        <p:txBody>
          <a:bodyPr wrap="square" lIns="36576" rIns="36576" tIns="36576" bIns="36576" anchor="t">
            <a:normAutofit/>
          </a:bodyPr>
          <a:lstStyle/>
          <a:p>
            <a:pPr algn="ctr"/>
            <a:r>
              <a:rPr sz="1000" b="0" i="0">
                <a:solidFill>
                  <a:srgbClr val="FFFFFF"/>
                </a:solidFill>
                <a:latin typeface="Inter"/>
              </a:rPr>
              <a:t>Founder</a:t>
            </a:r>
          </a:p>
        </p:txBody>
      </p:sp>
      <p:sp>
        <p:nvSpPr>
          <p:cNvPr id="32" name="TextBox 31"/>
          <p:cNvSpPr txBox="1"/>
          <p:nvPr/>
        </p:nvSpPr>
        <p:spPr>
          <a:xfrm>
            <a:off x="9555480" y="4334255"/>
            <a:ext cx="914400" cy="228600"/>
          </a:xfrm>
          <a:prstGeom prst="rect">
            <a:avLst/>
          </a:prstGeom>
          <a:noFill/>
        </p:spPr>
        <p:txBody>
          <a:bodyPr wrap="square" lIns="36576" rIns="36576" tIns="36576" bIns="36576" anchor="t">
            <a:normAutofit/>
          </a:bodyPr>
          <a:lstStyle/>
          <a:p>
            <a:pPr algn="ctr"/>
            <a:r>
              <a:rPr sz="1000" b="0" i="0">
                <a:solidFill>
                  <a:srgbClr val="FFFFFF"/>
                </a:solidFill>
                <a:latin typeface="Inter"/>
              </a:rPr>
              <a:t>LANA</a:t>
            </a:r>
          </a:p>
        </p:txBody>
      </p:sp>
      <p:sp>
        <p:nvSpPr>
          <p:cNvPr id="33" name="TextBox 32"/>
          <p:cNvSpPr txBox="1"/>
          <p:nvPr/>
        </p:nvSpPr>
        <p:spPr>
          <a:xfrm>
            <a:off x="10561320" y="4334255"/>
            <a:ext cx="685800" cy="228600"/>
          </a:xfrm>
          <a:prstGeom prst="rect">
            <a:avLst/>
          </a:prstGeom>
          <a:noFill/>
        </p:spPr>
        <p:txBody>
          <a:bodyPr wrap="square" lIns="36576" rIns="36576" tIns="36576" bIns="36576" anchor="t">
            <a:normAutofit/>
          </a:bodyPr>
          <a:lstStyle/>
          <a:p>
            <a:pPr algn="ctr"/>
            <a:r>
              <a:rPr sz="1000" b="1" i="0">
                <a:solidFill>
                  <a:srgbClr val="14B8A6"/>
                </a:solidFill>
                <a:latin typeface="Inter"/>
              </a:rPr>
              <a:t>Deepen</a:t>
            </a:r>
          </a:p>
        </p:txBody>
      </p:sp>
      <p:sp>
        <p:nvSpPr>
          <p:cNvPr id="34" name="Rounded Rectangle 33"/>
          <p:cNvSpPr/>
          <p:nvPr/>
        </p:nvSpPr>
        <p:spPr>
          <a:xfrm>
            <a:off x="6400800" y="5175504"/>
            <a:ext cx="4663440" cy="310896"/>
          </a:xfrm>
          <a:prstGeom prst="roundRect">
            <a:avLst/>
          </a:prstGeom>
          <a:solidFill>
            <a:srgbClr val="06101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5230368"/>
            <a:ext cx="4297680" cy="182880"/>
          </a:xfrm>
          <a:prstGeom prst="rect">
            <a:avLst/>
          </a:prstGeom>
          <a:noFill/>
        </p:spPr>
        <p:txBody>
          <a:bodyPr wrap="square" lIns="36576" rIns="36576" tIns="36576" bIns="36576" anchor="t">
            <a:normAutofit/>
          </a:bodyPr>
          <a:lstStyle/>
          <a:p>
            <a:pPr algn="ctr"/>
            <a:r>
              <a:rPr sz="1050" b="1" i="0">
                <a:solidFill>
                  <a:srgbClr val="FFFFFF"/>
                </a:solidFill>
                <a:latin typeface="Inter"/>
              </a:rPr>
              <a:t>One current file. One owner. One next 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03</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19</a:t>
            </a:r>
          </a:p>
        </p:txBody>
      </p:sp>
      <p:sp>
        <p:nvSpPr>
          <p:cNvPr id="5" name="Rectangle 4"/>
          <p:cNvSpPr/>
          <p:nvPr/>
        </p:nvSpPr>
        <p:spPr>
          <a:xfrm>
            <a:off x="0" y="0"/>
            <a:ext cx="6080760" cy="6858000"/>
          </a:xfrm>
          <a:prstGeom prst="rect">
            <a:avLst/>
          </a:prstGeom>
          <a:solidFill>
            <a:srgbClr val="06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234440"/>
            <a:ext cx="5394960" cy="342900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4_diagram_signal_brief.png"/>
          <p:cNvPicPr>
            <a:picLocks noChangeAspect="1"/>
          </p:cNvPicPr>
          <p:nvPr/>
        </p:nvPicPr>
        <p:blipFill>
          <a:blip r:embed="rId2"/>
          <a:stretch>
            <a:fillRect/>
          </a:stretch>
        </p:blipFill>
        <p:spPr>
          <a:xfrm>
            <a:off x="6428232" y="1498473"/>
            <a:ext cx="5157216" cy="2900934"/>
          </a:xfrm>
          <a:prstGeom prst="rect">
            <a:avLst/>
          </a:prstGeom>
        </p:spPr>
      </p:pic>
      <p:sp>
        <p:nvSpPr>
          <p:cNvPr id="8" name="Rounded Rectangle 7"/>
          <p:cNvSpPr/>
          <p:nvPr/>
        </p:nvSpPr>
        <p:spPr>
          <a:xfrm>
            <a:off x="502920" y="594360"/>
            <a:ext cx="658368" cy="65836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94360"/>
            <a:ext cx="658368" cy="658368"/>
          </a:xfrm>
          <a:prstGeom prst="rect">
            <a:avLst/>
          </a:prstGeom>
          <a:noFill/>
        </p:spPr>
        <p:txBody>
          <a:bodyPr wrap="square" lIns="36576" rIns="36576" tIns="36576" bIns="36576" anchor="ctr">
            <a:normAutofit/>
          </a:bodyPr>
          <a:lstStyle/>
          <a:p>
            <a:pPr algn="ctr"/>
            <a:r>
              <a:rPr sz="2200" b="1" i="0">
                <a:solidFill>
                  <a:srgbClr val="FFFFFF"/>
                </a:solidFill>
                <a:latin typeface="Inter Display"/>
              </a:rPr>
              <a:t>03</a:t>
            </a:r>
          </a:p>
        </p:txBody>
      </p:sp>
      <p:sp>
        <p:nvSpPr>
          <p:cNvPr id="10" name="TextBox 9"/>
          <p:cNvSpPr txBox="1"/>
          <p:nvPr/>
        </p:nvSpPr>
        <p:spPr>
          <a:xfrm>
            <a:off x="1353312" y="658368"/>
            <a:ext cx="1828800" cy="228600"/>
          </a:xfrm>
          <a:prstGeom prst="rect">
            <a:avLst/>
          </a:prstGeom>
          <a:noFill/>
        </p:spPr>
        <p:txBody>
          <a:bodyPr wrap="square" lIns="36576" rIns="36576" tIns="36576" bIns="36576" anchor="t">
            <a:spAutoFit/>
          </a:bodyPr>
          <a:lstStyle/>
          <a:p>
            <a:pPr algn="l"/>
            <a:r>
              <a:rPr sz="1000" b="1" i="0">
                <a:solidFill>
                  <a:srgbClr val="06B6D4"/>
                </a:solidFill>
                <a:latin typeface="Inter Display"/>
              </a:rPr>
              <a:t>MODULE</a:t>
            </a:r>
          </a:p>
        </p:txBody>
      </p:sp>
      <p:sp>
        <p:nvSpPr>
          <p:cNvPr id="11" name="TextBox 10"/>
          <p:cNvSpPr txBox="1"/>
          <p:nvPr/>
        </p:nvSpPr>
        <p:spPr>
          <a:xfrm>
            <a:off x="548640" y="1417320"/>
            <a:ext cx="5669280" cy="1371600"/>
          </a:xfrm>
          <a:prstGeom prst="rect">
            <a:avLst/>
          </a:prstGeom>
          <a:noFill/>
        </p:spPr>
        <p:txBody>
          <a:bodyPr wrap="square" lIns="36576" rIns="36576" tIns="36576" bIns="36576" anchor="t">
            <a:normAutofit/>
          </a:bodyPr>
          <a:lstStyle/>
          <a:p>
            <a:pPr algn="l"/>
            <a:r>
              <a:rPr sz="3200" b="1" i="0">
                <a:solidFill>
                  <a:srgbClr val="FFFFFF"/>
                </a:solidFill>
                <a:latin typeface="Inter Display"/>
              </a:rPr>
              <a:t>DRAFT WITHOUT SOUNDING GENERIC</a:t>
            </a:r>
          </a:p>
        </p:txBody>
      </p:sp>
      <p:sp>
        <p:nvSpPr>
          <p:cNvPr id="12" name="TextBox 11"/>
          <p:cNvSpPr txBox="1"/>
          <p:nvPr/>
        </p:nvSpPr>
        <p:spPr>
          <a:xfrm>
            <a:off x="594360" y="3063240"/>
            <a:ext cx="5257800" cy="1005840"/>
          </a:xfrm>
          <a:prstGeom prst="rect">
            <a:avLst/>
          </a:prstGeom>
          <a:noFill/>
        </p:spPr>
        <p:txBody>
          <a:bodyPr wrap="square" lIns="36576" rIns="36576" tIns="36576" bIns="36576" anchor="t">
            <a:normAutofit/>
          </a:bodyPr>
          <a:lstStyle/>
          <a:p>
            <a:pPr algn="l"/>
            <a:r>
              <a:rPr sz="1700" b="0" i="0">
                <a:solidFill>
                  <a:srgbClr val="DDE9F7"/>
                </a:solidFill>
                <a:latin typeface="Inter"/>
              </a:rPr>
              <a:t>A reusable voice card, a SIGNAL draft brief, and one specific anchor post.</a:t>
            </a:r>
          </a:p>
        </p:txBody>
      </p:sp>
      <p:sp>
        <p:nvSpPr>
          <p:cNvPr id="13" name="Rounded Rectangle 12"/>
          <p:cNvSpPr/>
          <p:nvPr/>
        </p:nvSpPr>
        <p:spPr>
          <a:xfrm>
            <a:off x="594360" y="4754880"/>
            <a:ext cx="5029200" cy="105156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56048"/>
            <a:ext cx="1828800" cy="228600"/>
          </a:xfrm>
          <a:prstGeom prst="rect">
            <a:avLst/>
          </a:prstGeom>
          <a:noFill/>
        </p:spPr>
        <p:txBody>
          <a:bodyPr wrap="square" lIns="36576" rIns="36576" tIns="36576" bIns="36576" anchor="t">
            <a:spAutoFit/>
          </a:bodyPr>
          <a:lstStyle/>
          <a:p>
            <a:pPr algn="l"/>
            <a:r>
              <a:rPr sz="900" b="1" i="0">
                <a:solidFill>
                  <a:srgbClr val="06B6D4"/>
                </a:solidFill>
                <a:latin typeface="Inter Display"/>
              </a:rPr>
              <a:t>FACILITATOR FOCUS</a:t>
            </a:r>
          </a:p>
        </p:txBody>
      </p:sp>
      <p:sp>
        <p:nvSpPr>
          <p:cNvPr id="15" name="TextBox 14"/>
          <p:cNvSpPr txBox="1"/>
          <p:nvPr/>
        </p:nvSpPr>
        <p:spPr>
          <a:xfrm>
            <a:off x="822960" y="5257800"/>
            <a:ext cx="4480560" cy="384048"/>
          </a:xfrm>
          <a:prstGeom prst="rect">
            <a:avLst/>
          </a:prstGeom>
          <a:noFill/>
        </p:spPr>
        <p:txBody>
          <a:bodyPr wrap="square" lIns="36576" rIns="36576" tIns="36576" bIns="36576" anchor="t">
            <a:normAutofit/>
          </a:bodyPr>
          <a:lstStyle/>
          <a:p>
            <a:pPr algn="l"/>
            <a:r>
              <a:rPr sz="1300" b="1" i="0">
                <a:solidFill>
                  <a:srgbClr val="FFFFFF"/>
                </a:solidFill>
                <a:latin typeface="Inter"/>
              </a:rPr>
              <a:t>Capture voice, source, reader, grounding, action, and limits.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03</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20</a:t>
            </a:r>
          </a:p>
        </p:txBody>
      </p:sp>
      <p:pic>
        <p:nvPicPr>
          <p:cNvPr id="5" name="Picture 4" descr="06_lesson_05_capture_the_voice.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21</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LESSON 5</a:t>
            </a:r>
          </a:p>
        </p:txBody>
      </p:sp>
      <p:sp>
        <p:nvSpPr>
          <p:cNvPr id="7" name="Rounded Rectangle 6"/>
          <p:cNvSpPr/>
          <p:nvPr/>
        </p:nvSpPr>
        <p:spPr>
          <a:xfrm>
            <a:off x="457200" y="804672"/>
            <a:ext cx="502920" cy="5029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05</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Capture the voice before you prompt</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Use observable writing behaviors instead of vague personality adjectives.</a:t>
            </a:r>
          </a:p>
        </p:txBody>
      </p:sp>
      <p:sp>
        <p:nvSpPr>
          <p:cNvPr id="11" name="Rounded Rectangle 10"/>
          <p:cNvSpPr/>
          <p:nvPr/>
        </p:nvSpPr>
        <p:spPr>
          <a:xfrm>
            <a:off x="640080" y="2057400"/>
            <a:ext cx="3401568" cy="123444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221992"/>
            <a:ext cx="2990088"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PERSPECTIVE</a:t>
            </a:r>
          </a:p>
        </p:txBody>
      </p:sp>
      <p:sp>
        <p:nvSpPr>
          <p:cNvPr id="13" name="TextBox 12"/>
          <p:cNvSpPr txBox="1"/>
          <p:nvPr/>
        </p:nvSpPr>
        <p:spPr>
          <a:xfrm>
            <a:off x="868680" y="2734056"/>
            <a:ext cx="2944368" cy="411480"/>
          </a:xfrm>
          <a:prstGeom prst="rect">
            <a:avLst/>
          </a:prstGeom>
          <a:noFill/>
        </p:spPr>
        <p:txBody>
          <a:bodyPr wrap="square" lIns="36576" rIns="36576" tIns="36576" bIns="36576" anchor="t">
            <a:normAutofit/>
          </a:bodyPr>
          <a:lstStyle/>
          <a:p>
            <a:pPr algn="l"/>
            <a:r>
              <a:rPr sz="1130" b="0" i="0">
                <a:solidFill>
                  <a:srgbClr val="DDE9F7"/>
                </a:solidFill>
                <a:latin typeface="Inter"/>
              </a:rPr>
              <a:t>How do you interpret the problem?</a:t>
            </a:r>
          </a:p>
        </p:txBody>
      </p:sp>
      <p:sp>
        <p:nvSpPr>
          <p:cNvPr id="14" name="Rounded Rectangle 13"/>
          <p:cNvSpPr/>
          <p:nvPr/>
        </p:nvSpPr>
        <p:spPr>
          <a:xfrm>
            <a:off x="4434840" y="2057400"/>
            <a:ext cx="3401568" cy="123444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221992"/>
            <a:ext cx="2990088"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LANGUAGE</a:t>
            </a:r>
          </a:p>
        </p:txBody>
      </p:sp>
      <p:sp>
        <p:nvSpPr>
          <p:cNvPr id="16" name="TextBox 15"/>
          <p:cNvSpPr txBox="1"/>
          <p:nvPr/>
        </p:nvSpPr>
        <p:spPr>
          <a:xfrm>
            <a:off x="4663440" y="2734056"/>
            <a:ext cx="2944368" cy="411480"/>
          </a:xfrm>
          <a:prstGeom prst="rect">
            <a:avLst/>
          </a:prstGeom>
          <a:noFill/>
        </p:spPr>
        <p:txBody>
          <a:bodyPr wrap="square" lIns="36576" rIns="36576" tIns="36576" bIns="36576" anchor="t">
            <a:normAutofit/>
          </a:bodyPr>
          <a:lstStyle/>
          <a:p>
            <a:pPr algn="l"/>
            <a:r>
              <a:rPr sz="1130" b="0" i="0">
                <a:solidFill>
                  <a:srgbClr val="DDE9F7"/>
                </a:solidFill>
                <a:latin typeface="Inter"/>
              </a:rPr>
              <a:t>What words and phrases feel natural?</a:t>
            </a:r>
          </a:p>
        </p:txBody>
      </p:sp>
      <p:sp>
        <p:nvSpPr>
          <p:cNvPr id="17" name="Rounded Rectangle 16"/>
          <p:cNvSpPr/>
          <p:nvPr/>
        </p:nvSpPr>
        <p:spPr>
          <a:xfrm>
            <a:off x="8229600" y="2057400"/>
            <a:ext cx="3401568" cy="123444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221992"/>
            <a:ext cx="2990088"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RHYTHM</a:t>
            </a:r>
          </a:p>
        </p:txBody>
      </p:sp>
      <p:sp>
        <p:nvSpPr>
          <p:cNvPr id="19" name="TextBox 18"/>
          <p:cNvSpPr txBox="1"/>
          <p:nvPr/>
        </p:nvSpPr>
        <p:spPr>
          <a:xfrm>
            <a:off x="8458200" y="2734056"/>
            <a:ext cx="2944368" cy="411480"/>
          </a:xfrm>
          <a:prstGeom prst="rect">
            <a:avLst/>
          </a:prstGeom>
          <a:noFill/>
        </p:spPr>
        <p:txBody>
          <a:bodyPr wrap="square" lIns="36576" rIns="36576" tIns="36576" bIns="36576" anchor="t">
            <a:normAutofit/>
          </a:bodyPr>
          <a:lstStyle/>
          <a:p>
            <a:pPr algn="l"/>
            <a:r>
              <a:rPr sz="1130" b="0" i="0">
                <a:solidFill>
                  <a:srgbClr val="DDE9F7"/>
                </a:solidFill>
                <a:latin typeface="Inter"/>
              </a:rPr>
              <a:t>How do sentences and explanations move?</a:t>
            </a:r>
          </a:p>
        </p:txBody>
      </p:sp>
      <p:sp>
        <p:nvSpPr>
          <p:cNvPr id="20" name="Rounded Rectangle 19"/>
          <p:cNvSpPr/>
          <p:nvPr/>
        </p:nvSpPr>
        <p:spPr>
          <a:xfrm>
            <a:off x="640080" y="3566160"/>
            <a:ext cx="3401568" cy="123444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730752"/>
            <a:ext cx="2990088"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EVIDENCE</a:t>
            </a:r>
          </a:p>
        </p:txBody>
      </p:sp>
      <p:sp>
        <p:nvSpPr>
          <p:cNvPr id="22" name="TextBox 21"/>
          <p:cNvSpPr txBox="1"/>
          <p:nvPr/>
        </p:nvSpPr>
        <p:spPr>
          <a:xfrm>
            <a:off x="868680" y="4242816"/>
            <a:ext cx="2944368" cy="411480"/>
          </a:xfrm>
          <a:prstGeom prst="rect">
            <a:avLst/>
          </a:prstGeom>
          <a:noFill/>
        </p:spPr>
        <p:txBody>
          <a:bodyPr wrap="square" lIns="36576" rIns="36576" tIns="36576" bIns="36576" anchor="t">
            <a:normAutofit/>
          </a:bodyPr>
          <a:lstStyle/>
          <a:p>
            <a:pPr algn="l"/>
            <a:r>
              <a:rPr sz="1130" b="0" i="0">
                <a:solidFill>
                  <a:srgbClr val="DDE9F7"/>
                </a:solidFill>
                <a:latin typeface="Inter"/>
              </a:rPr>
              <a:t>What examples or proof do you rely on?</a:t>
            </a:r>
          </a:p>
        </p:txBody>
      </p:sp>
      <p:sp>
        <p:nvSpPr>
          <p:cNvPr id="23" name="Rounded Rectangle 22"/>
          <p:cNvSpPr/>
          <p:nvPr/>
        </p:nvSpPr>
        <p:spPr>
          <a:xfrm>
            <a:off x="4434840" y="3566160"/>
            <a:ext cx="3401568" cy="12344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3730752"/>
            <a:ext cx="2990088"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RELATIONSHIP</a:t>
            </a:r>
          </a:p>
        </p:txBody>
      </p:sp>
      <p:sp>
        <p:nvSpPr>
          <p:cNvPr id="25" name="TextBox 24"/>
          <p:cNvSpPr txBox="1"/>
          <p:nvPr/>
        </p:nvSpPr>
        <p:spPr>
          <a:xfrm>
            <a:off x="4663440" y="4242816"/>
            <a:ext cx="2944368" cy="411480"/>
          </a:xfrm>
          <a:prstGeom prst="rect">
            <a:avLst/>
          </a:prstGeom>
          <a:noFill/>
        </p:spPr>
        <p:txBody>
          <a:bodyPr wrap="square" lIns="36576" rIns="36576" tIns="36576" bIns="36576" anchor="t">
            <a:normAutofit/>
          </a:bodyPr>
          <a:lstStyle/>
          <a:p>
            <a:pPr algn="l"/>
            <a:r>
              <a:rPr sz="1130" b="0" i="0">
                <a:solidFill>
                  <a:srgbClr val="DDE9F7"/>
                </a:solidFill>
                <a:latin typeface="Inter"/>
              </a:rPr>
              <a:t>How do you address the reader?</a:t>
            </a:r>
          </a:p>
        </p:txBody>
      </p:sp>
      <p:sp>
        <p:nvSpPr>
          <p:cNvPr id="26" name="Rounded Rectangle 25"/>
          <p:cNvSpPr/>
          <p:nvPr/>
        </p:nvSpPr>
        <p:spPr>
          <a:xfrm>
            <a:off x="8229600" y="3566160"/>
            <a:ext cx="3401568" cy="123444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3730752"/>
            <a:ext cx="2990088"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BOUNDARIES</a:t>
            </a:r>
          </a:p>
        </p:txBody>
      </p:sp>
      <p:sp>
        <p:nvSpPr>
          <p:cNvPr id="28" name="TextBox 27"/>
          <p:cNvSpPr txBox="1"/>
          <p:nvPr/>
        </p:nvSpPr>
        <p:spPr>
          <a:xfrm>
            <a:off x="8458200" y="4242816"/>
            <a:ext cx="2944368" cy="411480"/>
          </a:xfrm>
          <a:prstGeom prst="rect">
            <a:avLst/>
          </a:prstGeom>
          <a:noFill/>
        </p:spPr>
        <p:txBody>
          <a:bodyPr wrap="square" lIns="36576" rIns="36576" tIns="36576" bIns="36576" anchor="t">
            <a:normAutofit/>
          </a:bodyPr>
          <a:lstStyle/>
          <a:p>
            <a:pPr algn="l"/>
            <a:r>
              <a:rPr sz="1130" b="0" i="0">
                <a:solidFill>
                  <a:srgbClr val="DDE9F7"/>
                </a:solidFill>
                <a:latin typeface="Inter"/>
              </a:rPr>
              <a:t>What must never be invented or exposed?</a:t>
            </a:r>
          </a:p>
        </p:txBody>
      </p:sp>
      <p:sp>
        <p:nvSpPr>
          <p:cNvPr id="29" name="Rounded Rectangle 28"/>
          <p:cNvSpPr/>
          <p:nvPr/>
        </p:nvSpPr>
        <p:spPr>
          <a:xfrm>
            <a:off x="1097280" y="5349240"/>
            <a:ext cx="9966960" cy="475488"/>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25880" y="5449824"/>
            <a:ext cx="9509760" cy="246888"/>
          </a:xfrm>
          <a:prstGeom prst="rect">
            <a:avLst/>
          </a:prstGeom>
          <a:noFill/>
        </p:spPr>
        <p:txBody>
          <a:bodyPr wrap="square" lIns="36576" rIns="36576" tIns="36576" bIns="36576" anchor="t">
            <a:normAutofit/>
          </a:bodyPr>
          <a:lstStyle/>
          <a:p>
            <a:pPr algn="ctr"/>
            <a:r>
              <a:rPr sz="1350" b="1" i="0">
                <a:solidFill>
                  <a:srgbClr val="FFFFFF"/>
                </a:solidFill>
                <a:latin typeface="Inter"/>
              </a:rPr>
              <a:t>Voice rules must be specific enough that another writer can follow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22</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HANDS-ON 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Build the LANA Voice Card</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Extract patterns from two natural writing or speaking samples.</a:t>
            </a:r>
          </a:p>
        </p:txBody>
      </p:sp>
      <p:sp>
        <p:nvSpPr>
          <p:cNvPr id="9" name="TextBox 8"/>
          <p:cNvSpPr txBox="1"/>
          <p:nvPr/>
        </p:nvSpPr>
        <p:spPr>
          <a:xfrm>
            <a:off x="640080" y="1828800"/>
            <a:ext cx="5029200" cy="3520440"/>
          </a:xfrm>
          <a:prstGeom prst="rect">
            <a:avLst/>
          </a:prstGeom>
          <a:noFill/>
        </p:spPr>
        <p:txBody>
          <a:bodyPr wrap="square" lIns="18288" rIns="18288">
            <a:spAutoFit/>
          </a:bodyPr>
          <a:lstStyle/>
          <a:p>
            <a:pPr>
              <a:spcAft>
                <a:spcPts val="500"/>
              </a:spcAft>
              <a:defRPr sz="1600">
                <a:solidFill>
                  <a:srgbClr val="DDE9F7"/>
                </a:solidFill>
                <a:latin typeface="Inter"/>
              </a:defRPr>
            </a:pPr>
            <a:r>
              <a:t>1.  Collect two examples of writing or speaking that sound natural and credible.</a:t>
            </a:r>
          </a:p>
          <a:p>
            <a:pPr>
              <a:spcAft>
                <a:spcPts val="500"/>
              </a:spcAft>
              <a:defRPr sz="1600">
                <a:solidFill>
                  <a:srgbClr val="DDE9F7"/>
                </a:solidFill>
                <a:latin typeface="Inter"/>
              </a:defRPr>
            </a:pPr>
            <a:r>
              <a:t>2.  Highlight perspective, language, rhythm, evidence, relationship, and boundaries.</a:t>
            </a:r>
          </a:p>
          <a:p>
            <a:pPr>
              <a:spcAft>
                <a:spcPts val="500"/>
              </a:spcAft>
              <a:defRPr sz="1600">
                <a:solidFill>
                  <a:srgbClr val="DDE9F7"/>
                </a:solidFill>
                <a:latin typeface="Inter"/>
              </a:defRPr>
            </a:pPr>
            <a:r>
              <a:t>3.  Write five observable voice rules rather than vague adjectives.</a:t>
            </a:r>
          </a:p>
          <a:p>
            <a:pPr>
              <a:spcAft>
                <a:spcPts val="500"/>
              </a:spcAft>
              <a:defRPr sz="1600">
                <a:solidFill>
                  <a:srgbClr val="DDE9F7"/>
                </a:solidFill>
                <a:latin typeface="Inter"/>
              </a:defRPr>
            </a:pPr>
            <a:r>
              <a:t>4.  Add three signature phrases or sentence patterns and three phrases to avoid.</a:t>
            </a:r>
          </a:p>
          <a:p>
            <a:pPr>
              <a:spcAft>
                <a:spcPts val="500"/>
              </a:spcAft>
              <a:defRPr sz="1600">
                <a:solidFill>
                  <a:srgbClr val="DDE9F7"/>
                </a:solidFill>
                <a:latin typeface="Inter"/>
              </a:defRPr>
            </a:pPr>
            <a:r>
              <a:t>5.  State what the drafting tool must do when source information is missing.</a:t>
            </a:r>
          </a:p>
        </p:txBody>
      </p:sp>
      <p:sp>
        <p:nvSpPr>
          <p:cNvPr id="10" name="Rounded Rectangle 9"/>
          <p:cNvSpPr/>
          <p:nvPr/>
        </p:nvSpPr>
        <p:spPr>
          <a:xfrm>
            <a:off x="5989320" y="1600200"/>
            <a:ext cx="5623560" cy="406908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874519"/>
            <a:ext cx="1463040" cy="228600"/>
          </a:xfrm>
          <a:prstGeom prst="rect">
            <a:avLst/>
          </a:prstGeom>
          <a:noFill/>
        </p:spPr>
        <p:txBody>
          <a:bodyPr wrap="square" lIns="36576" rIns="36576" tIns="36576" bIns="36576" anchor="t">
            <a:spAutoFit/>
          </a:bodyPr>
          <a:lstStyle/>
          <a:p>
            <a:pPr algn="l"/>
            <a:r>
              <a:rPr sz="900" b="1" i="0">
                <a:solidFill>
                  <a:srgbClr val="06B6D4"/>
                </a:solidFill>
                <a:latin typeface="Inter Display"/>
              </a:rPr>
              <a:t>TEST SENTENCE</a:t>
            </a:r>
          </a:p>
        </p:txBody>
      </p:sp>
      <p:sp>
        <p:nvSpPr>
          <p:cNvPr id="12" name="TextBox 11"/>
          <p:cNvSpPr txBox="1"/>
          <p:nvPr/>
        </p:nvSpPr>
        <p:spPr>
          <a:xfrm>
            <a:off x="6263640" y="2240280"/>
            <a:ext cx="4754880" cy="502920"/>
          </a:xfrm>
          <a:prstGeom prst="rect">
            <a:avLst/>
          </a:prstGeom>
          <a:noFill/>
        </p:spPr>
        <p:txBody>
          <a:bodyPr wrap="square" lIns="36576" rIns="36576" tIns="36576" bIns="36576" anchor="ctr">
            <a:normAutofit/>
          </a:bodyPr>
          <a:lstStyle/>
          <a:p>
            <a:pPr algn="ctr"/>
            <a:r>
              <a:rPr sz="1800" b="0" i="1">
                <a:solidFill>
                  <a:srgbClr val="A9B7CC"/>
                </a:solidFill>
                <a:latin typeface="Inter"/>
              </a:rPr>
              <a:t>“AI can help businesses create better content.”</a:t>
            </a:r>
          </a:p>
        </p:txBody>
      </p:sp>
      <p:sp>
        <p:nvSpPr>
          <p:cNvPr id="13" name="TextBox 12"/>
          <p:cNvSpPr txBox="1"/>
          <p:nvPr/>
        </p:nvSpPr>
        <p:spPr>
          <a:xfrm>
            <a:off x="6309360" y="2971800"/>
            <a:ext cx="1371600" cy="274320"/>
          </a:xfrm>
          <a:prstGeom prst="rect">
            <a:avLst/>
          </a:prstGeom>
          <a:noFill/>
        </p:spPr>
        <p:txBody>
          <a:bodyPr wrap="square" lIns="36576" rIns="36576" tIns="36576" bIns="36576" anchor="t">
            <a:spAutoFit/>
          </a:bodyPr>
          <a:lstStyle/>
          <a:p>
            <a:pPr algn="l"/>
            <a:r>
              <a:rPr sz="1200" b="1" i="0">
                <a:solidFill>
                  <a:srgbClr val="FFFFFF"/>
                </a:solidFill>
                <a:latin typeface="Inter Display"/>
              </a:rPr>
              <a:t>Rewrite it with:</a:t>
            </a:r>
          </a:p>
        </p:txBody>
      </p:sp>
      <p:sp>
        <p:nvSpPr>
          <p:cNvPr id="14" name="TextBox 13"/>
          <p:cNvSpPr txBox="1"/>
          <p:nvPr/>
        </p:nvSpPr>
        <p:spPr>
          <a:xfrm>
            <a:off x="6355080" y="3310128"/>
            <a:ext cx="4480560" cy="1920240"/>
          </a:xfrm>
          <a:prstGeom prst="rect">
            <a:avLst/>
          </a:prstGeom>
          <a:noFill/>
        </p:spPr>
        <p:txBody>
          <a:bodyPr wrap="square" lIns="27432" rIns="27432" tIns="18288" bIns="18288">
            <a:spAutoFit/>
          </a:bodyPr>
          <a:lstStyle/>
          <a:p>
            <a:pPr>
              <a:spcAft>
                <a:spcPts val="500"/>
              </a:spcAft>
              <a:defRPr sz="1450">
                <a:solidFill>
                  <a:srgbClr val="DDE9F7"/>
                </a:solidFill>
                <a:latin typeface="Inter"/>
              </a:defRPr>
            </a:pPr>
            <a:r>
              <a:t>•  Your perspective</a:t>
            </a:r>
          </a:p>
          <a:p>
            <a:pPr>
              <a:spcAft>
                <a:spcPts val="500"/>
              </a:spcAft>
              <a:defRPr sz="1450">
                <a:solidFill>
                  <a:srgbClr val="DDE9F7"/>
                </a:solidFill>
                <a:latin typeface="Inter"/>
              </a:defRPr>
            </a:pPr>
            <a:r>
              <a:t>•  A concrete example</a:t>
            </a:r>
          </a:p>
          <a:p>
            <a:pPr>
              <a:spcAft>
                <a:spcPts val="500"/>
              </a:spcAft>
              <a:defRPr sz="1450">
                <a:solidFill>
                  <a:srgbClr val="DDE9F7"/>
                </a:solidFill>
                <a:latin typeface="Inter"/>
              </a:defRPr>
            </a:pPr>
            <a:r>
              <a:t>•  Natural rhythm</a:t>
            </a:r>
          </a:p>
          <a:p>
            <a:pPr>
              <a:spcAft>
                <a:spcPts val="500"/>
              </a:spcAft>
              <a:defRPr sz="1450">
                <a:solidFill>
                  <a:srgbClr val="DDE9F7"/>
                </a:solidFill>
                <a:latin typeface="Inter"/>
              </a:defRPr>
            </a:pPr>
            <a:r>
              <a:t>•  A clear boundary or caveat</a:t>
            </a:r>
          </a:p>
          <a:p>
            <a:pPr>
              <a:spcAft>
                <a:spcPts val="500"/>
              </a:spcAft>
              <a:defRPr sz="1450">
                <a:solidFill>
                  <a:srgbClr val="DDE9F7"/>
                </a:solidFill>
                <a:latin typeface="Inter"/>
              </a:defRPr>
            </a:pPr>
            <a:r>
              <a:t>•  One reader action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03</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23</a:t>
            </a:r>
          </a:p>
        </p:txBody>
      </p:sp>
      <p:pic>
        <p:nvPicPr>
          <p:cNvPr id="5" name="Picture 4" descr="07_lesson_06_signal_brief.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24</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LESSON 6</a:t>
            </a:r>
          </a:p>
        </p:txBody>
      </p:sp>
      <p:sp>
        <p:nvSpPr>
          <p:cNvPr id="7" name="Rounded Rectangle 6"/>
          <p:cNvSpPr/>
          <p:nvPr/>
        </p:nvSpPr>
        <p:spPr>
          <a:xfrm>
            <a:off x="457200" y="804672"/>
            <a:ext cx="502920" cy="50292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06</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Draft with the LANA SIGNAL Brief</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Ground every draft in source, reader, evidence, voice, action, and limits.</a:t>
            </a:r>
          </a:p>
        </p:txBody>
      </p:sp>
      <p:pic>
        <p:nvPicPr>
          <p:cNvPr id="11" name="Picture 10" descr="14_diagram_signal_brief.png"/>
          <p:cNvPicPr>
            <a:picLocks noChangeAspect="1"/>
          </p:cNvPicPr>
          <p:nvPr/>
        </p:nvPicPr>
        <p:blipFill>
          <a:blip r:embed="rId3"/>
          <a:srcRect l="23" r="23"/>
          <a:stretch>
            <a:fillRect/>
          </a:stretch>
        </p:blipFill>
        <p:spPr>
          <a:xfrm>
            <a:off x="594360" y="2029968"/>
            <a:ext cx="6629400" cy="3730752"/>
          </a:xfrm>
          <a:prstGeom prst="rect">
            <a:avLst/>
          </a:prstGeom>
        </p:spPr>
      </p:pic>
      <p:sp>
        <p:nvSpPr>
          <p:cNvPr id="12" name="TextBox 11"/>
          <p:cNvSpPr txBox="1"/>
          <p:nvPr/>
        </p:nvSpPr>
        <p:spPr>
          <a:xfrm>
            <a:off x="7543800" y="2084831"/>
            <a:ext cx="4023360" cy="3337560"/>
          </a:xfrm>
          <a:prstGeom prst="rect">
            <a:avLst/>
          </a:prstGeom>
          <a:noFill/>
        </p:spPr>
        <p:txBody>
          <a:bodyPr wrap="square" lIns="27432" rIns="27432" tIns="18288" bIns="18288">
            <a:spAutoFit/>
          </a:bodyPr>
          <a:lstStyle/>
          <a:p>
            <a:pPr>
              <a:spcAft>
                <a:spcPts val="800"/>
              </a:spcAft>
              <a:defRPr sz="1520">
                <a:solidFill>
                  <a:srgbClr val="DDE9F7"/>
                </a:solidFill>
                <a:latin typeface="Inter"/>
              </a:defRPr>
            </a:pPr>
            <a:r>
              <a:t>•  S — Approved source</a:t>
            </a:r>
          </a:p>
          <a:p>
            <a:pPr>
              <a:spcAft>
                <a:spcPts val="800"/>
              </a:spcAft>
              <a:defRPr sz="1520">
                <a:solidFill>
                  <a:srgbClr val="DDE9F7"/>
                </a:solidFill>
                <a:latin typeface="Inter"/>
              </a:defRPr>
            </a:pPr>
            <a:r>
              <a:t>•  I — Intended reader</a:t>
            </a:r>
          </a:p>
          <a:p>
            <a:pPr>
              <a:spcAft>
                <a:spcPts val="800"/>
              </a:spcAft>
              <a:defRPr sz="1520">
                <a:solidFill>
                  <a:srgbClr val="DDE9F7"/>
                </a:solidFill>
                <a:latin typeface="Inter"/>
              </a:defRPr>
            </a:pPr>
            <a:r>
              <a:t>•  G — Grounding and proof</a:t>
            </a:r>
          </a:p>
          <a:p>
            <a:pPr>
              <a:spcAft>
                <a:spcPts val="800"/>
              </a:spcAft>
              <a:defRPr sz="1520">
                <a:solidFill>
                  <a:srgbClr val="DDE9F7"/>
                </a:solidFill>
                <a:latin typeface="Inter"/>
              </a:defRPr>
            </a:pPr>
            <a:r>
              <a:t>•  N — Natural voice</a:t>
            </a:r>
          </a:p>
          <a:p>
            <a:pPr>
              <a:spcAft>
                <a:spcPts val="800"/>
              </a:spcAft>
              <a:defRPr sz="1520">
                <a:solidFill>
                  <a:srgbClr val="DDE9F7"/>
                </a:solidFill>
                <a:latin typeface="Inter"/>
              </a:defRPr>
            </a:pPr>
            <a:r>
              <a:t>•  A — Action and reader next step</a:t>
            </a:r>
          </a:p>
          <a:p>
            <a:pPr>
              <a:spcAft>
                <a:spcPts val="800"/>
              </a:spcAft>
              <a:defRPr sz="1520">
                <a:solidFill>
                  <a:srgbClr val="DDE9F7"/>
                </a:solidFill>
                <a:latin typeface="Inter"/>
              </a:defRPr>
            </a:pPr>
            <a:r>
              <a:t>•  L — Limits, claims, privacy, and format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25</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DRAFTING PROTOCOL</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Brief first. Draft second. Verify third.</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Request three openings and an outline before the full draft.</a:t>
            </a:r>
          </a:p>
        </p:txBody>
      </p:sp>
      <p:sp>
        <p:nvSpPr>
          <p:cNvPr id="9" name="Rounded Rectangle 8"/>
          <p:cNvSpPr/>
          <p:nvPr/>
        </p:nvSpPr>
        <p:spPr>
          <a:xfrm>
            <a:off x="502920" y="2148840"/>
            <a:ext cx="2011680" cy="228600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16152" y="2359152"/>
            <a:ext cx="594360" cy="594360"/>
          </a:xfrm>
          <a:prstGeom prst="rect">
            <a:avLst/>
          </a:prstGeom>
          <a:noFill/>
        </p:spPr>
        <p:txBody>
          <a:bodyPr wrap="square" lIns="36576" rIns="36576" tIns="36576" bIns="36576" anchor="ctr">
            <a:normAutofit/>
          </a:bodyPr>
          <a:lstStyle/>
          <a:p>
            <a:pPr algn="ctr"/>
            <a:r>
              <a:rPr sz="2400" b="1" i="0">
                <a:solidFill>
                  <a:srgbClr val="06B6D4"/>
                </a:solidFill>
                <a:latin typeface="Inter Display"/>
              </a:rPr>
              <a:t>1</a:t>
            </a:r>
          </a:p>
        </p:txBody>
      </p:sp>
      <p:sp>
        <p:nvSpPr>
          <p:cNvPr id="11" name="TextBox 10"/>
          <p:cNvSpPr txBox="1"/>
          <p:nvPr/>
        </p:nvSpPr>
        <p:spPr>
          <a:xfrm>
            <a:off x="685800" y="3127248"/>
            <a:ext cx="1645920" cy="411480"/>
          </a:xfrm>
          <a:prstGeom prst="rect">
            <a:avLst/>
          </a:prstGeom>
          <a:noFill/>
        </p:spPr>
        <p:txBody>
          <a:bodyPr wrap="square" lIns="36576" rIns="36576" tIns="36576" bIns="36576" anchor="t">
            <a:normAutofit/>
          </a:bodyPr>
          <a:lstStyle/>
          <a:p>
            <a:pPr algn="ctr"/>
            <a:r>
              <a:rPr sz="1350" b="1" i="0">
                <a:solidFill>
                  <a:srgbClr val="FFFFFF"/>
                </a:solidFill>
                <a:latin typeface="Inter Display"/>
              </a:rPr>
              <a:t>SOURCE SUMMARY</a:t>
            </a:r>
          </a:p>
        </p:txBody>
      </p:sp>
      <p:sp>
        <p:nvSpPr>
          <p:cNvPr id="12" name="TextBox 11"/>
          <p:cNvSpPr txBox="1"/>
          <p:nvPr/>
        </p:nvSpPr>
        <p:spPr>
          <a:xfrm>
            <a:off x="704088" y="3685032"/>
            <a:ext cx="1600200" cy="457200"/>
          </a:xfrm>
          <a:prstGeom prst="rect">
            <a:avLst/>
          </a:prstGeom>
          <a:noFill/>
        </p:spPr>
        <p:txBody>
          <a:bodyPr wrap="square" lIns="36576" rIns="36576" tIns="36576" bIns="36576" anchor="t">
            <a:normAutofit/>
          </a:bodyPr>
          <a:lstStyle/>
          <a:p>
            <a:pPr algn="ctr"/>
            <a:r>
              <a:rPr sz="1050" b="0" i="0">
                <a:solidFill>
                  <a:srgbClr val="DDE9F7"/>
                </a:solidFill>
                <a:latin typeface="Inter"/>
              </a:rPr>
              <a:t>Only approved material.</a:t>
            </a:r>
          </a:p>
        </p:txBody>
      </p:sp>
      <p:sp>
        <p:nvSpPr>
          <p:cNvPr id="13" name="TextBox 12"/>
          <p:cNvSpPr txBox="1"/>
          <p:nvPr/>
        </p:nvSpPr>
        <p:spPr>
          <a:xfrm>
            <a:off x="2496312" y="3063240"/>
            <a:ext cx="338328" cy="36576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14" name="Rounded Rectangle 13"/>
          <p:cNvSpPr/>
          <p:nvPr/>
        </p:nvSpPr>
        <p:spPr>
          <a:xfrm>
            <a:off x="2834639" y="2148840"/>
            <a:ext cx="2011680" cy="228600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359152"/>
            <a:ext cx="594360" cy="594360"/>
          </a:xfrm>
          <a:prstGeom prst="rect">
            <a:avLst/>
          </a:prstGeom>
          <a:noFill/>
        </p:spPr>
        <p:txBody>
          <a:bodyPr wrap="square" lIns="36576" rIns="36576" tIns="36576" bIns="36576" anchor="ctr">
            <a:normAutofit/>
          </a:bodyPr>
          <a:lstStyle/>
          <a:p>
            <a:pPr algn="ctr"/>
            <a:r>
              <a:rPr sz="2400" b="1" i="0">
                <a:solidFill>
                  <a:srgbClr val="06B6D4"/>
                </a:solidFill>
                <a:latin typeface="Inter Display"/>
              </a:rPr>
              <a:t>2</a:t>
            </a:r>
          </a:p>
        </p:txBody>
      </p:sp>
      <p:sp>
        <p:nvSpPr>
          <p:cNvPr id="16" name="TextBox 15"/>
          <p:cNvSpPr txBox="1"/>
          <p:nvPr/>
        </p:nvSpPr>
        <p:spPr>
          <a:xfrm>
            <a:off x="3017520" y="3127248"/>
            <a:ext cx="1645920" cy="411480"/>
          </a:xfrm>
          <a:prstGeom prst="rect">
            <a:avLst/>
          </a:prstGeom>
          <a:noFill/>
        </p:spPr>
        <p:txBody>
          <a:bodyPr wrap="square" lIns="36576" rIns="36576" tIns="36576" bIns="36576" anchor="t">
            <a:normAutofit/>
          </a:bodyPr>
          <a:lstStyle/>
          <a:p>
            <a:pPr algn="ctr"/>
            <a:r>
              <a:rPr sz="1350" b="1" i="0">
                <a:solidFill>
                  <a:srgbClr val="FFFFFF"/>
                </a:solidFill>
                <a:latin typeface="Inter Display"/>
              </a:rPr>
              <a:t>SIGNAL BRIEF</a:t>
            </a:r>
          </a:p>
        </p:txBody>
      </p:sp>
      <p:sp>
        <p:nvSpPr>
          <p:cNvPr id="17" name="TextBox 16"/>
          <p:cNvSpPr txBox="1"/>
          <p:nvPr/>
        </p:nvSpPr>
        <p:spPr>
          <a:xfrm>
            <a:off x="3035808" y="3685032"/>
            <a:ext cx="1600200" cy="457200"/>
          </a:xfrm>
          <a:prstGeom prst="rect">
            <a:avLst/>
          </a:prstGeom>
          <a:noFill/>
        </p:spPr>
        <p:txBody>
          <a:bodyPr wrap="square" lIns="36576" rIns="36576" tIns="36576" bIns="36576" anchor="t">
            <a:normAutofit/>
          </a:bodyPr>
          <a:lstStyle/>
          <a:p>
            <a:pPr algn="ctr"/>
            <a:r>
              <a:rPr sz="1050" b="0" i="0">
                <a:solidFill>
                  <a:srgbClr val="DDE9F7"/>
                </a:solidFill>
                <a:latin typeface="Inter"/>
              </a:rPr>
              <a:t>Reader, proof, voice, action, limits.</a:t>
            </a:r>
          </a:p>
        </p:txBody>
      </p:sp>
      <p:sp>
        <p:nvSpPr>
          <p:cNvPr id="18" name="TextBox 17"/>
          <p:cNvSpPr txBox="1"/>
          <p:nvPr/>
        </p:nvSpPr>
        <p:spPr>
          <a:xfrm>
            <a:off x="4828031" y="3063240"/>
            <a:ext cx="338328" cy="36576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19" name="Rounded Rectangle 18"/>
          <p:cNvSpPr/>
          <p:nvPr/>
        </p:nvSpPr>
        <p:spPr>
          <a:xfrm>
            <a:off x="5166359" y="2148840"/>
            <a:ext cx="2011680" cy="228600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79592" y="2359152"/>
            <a:ext cx="594360" cy="594360"/>
          </a:xfrm>
          <a:prstGeom prst="rect">
            <a:avLst/>
          </a:prstGeom>
          <a:noFill/>
        </p:spPr>
        <p:txBody>
          <a:bodyPr wrap="square" lIns="36576" rIns="36576" tIns="36576" bIns="36576" anchor="ctr">
            <a:normAutofit/>
          </a:bodyPr>
          <a:lstStyle/>
          <a:p>
            <a:pPr algn="ctr"/>
            <a:r>
              <a:rPr sz="2400" b="1" i="0">
                <a:solidFill>
                  <a:srgbClr val="06B6D4"/>
                </a:solidFill>
                <a:latin typeface="Inter Display"/>
              </a:rPr>
              <a:t>3</a:t>
            </a:r>
          </a:p>
        </p:txBody>
      </p:sp>
      <p:sp>
        <p:nvSpPr>
          <p:cNvPr id="21" name="TextBox 20"/>
          <p:cNvSpPr txBox="1"/>
          <p:nvPr/>
        </p:nvSpPr>
        <p:spPr>
          <a:xfrm>
            <a:off x="5349240" y="3127248"/>
            <a:ext cx="1645920" cy="411480"/>
          </a:xfrm>
          <a:prstGeom prst="rect">
            <a:avLst/>
          </a:prstGeom>
          <a:noFill/>
        </p:spPr>
        <p:txBody>
          <a:bodyPr wrap="square" lIns="36576" rIns="36576" tIns="36576" bIns="36576" anchor="t">
            <a:normAutofit/>
          </a:bodyPr>
          <a:lstStyle/>
          <a:p>
            <a:pPr algn="ctr"/>
            <a:r>
              <a:rPr sz="1350" b="1" i="0">
                <a:solidFill>
                  <a:srgbClr val="FFFFFF"/>
                </a:solidFill>
                <a:latin typeface="Inter Display"/>
              </a:rPr>
              <a:t>OPTIONS</a:t>
            </a:r>
          </a:p>
        </p:txBody>
      </p:sp>
      <p:sp>
        <p:nvSpPr>
          <p:cNvPr id="22" name="TextBox 21"/>
          <p:cNvSpPr txBox="1"/>
          <p:nvPr/>
        </p:nvSpPr>
        <p:spPr>
          <a:xfrm>
            <a:off x="5367527" y="3685032"/>
            <a:ext cx="1600200" cy="457200"/>
          </a:xfrm>
          <a:prstGeom prst="rect">
            <a:avLst/>
          </a:prstGeom>
          <a:noFill/>
        </p:spPr>
        <p:txBody>
          <a:bodyPr wrap="square" lIns="36576" rIns="36576" tIns="36576" bIns="36576" anchor="t">
            <a:normAutofit/>
          </a:bodyPr>
          <a:lstStyle/>
          <a:p>
            <a:pPr algn="ctr"/>
            <a:r>
              <a:rPr sz="1050" b="0" i="0">
                <a:solidFill>
                  <a:srgbClr val="DDE9F7"/>
                </a:solidFill>
                <a:latin typeface="Inter"/>
              </a:rPr>
              <a:t>Three openings + a short outline.</a:t>
            </a:r>
          </a:p>
        </p:txBody>
      </p:sp>
      <p:sp>
        <p:nvSpPr>
          <p:cNvPr id="23" name="TextBox 22"/>
          <p:cNvSpPr txBox="1"/>
          <p:nvPr/>
        </p:nvSpPr>
        <p:spPr>
          <a:xfrm>
            <a:off x="7159752" y="3063240"/>
            <a:ext cx="338328" cy="36576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24" name="Rounded Rectangle 23"/>
          <p:cNvSpPr/>
          <p:nvPr/>
        </p:nvSpPr>
        <p:spPr>
          <a:xfrm>
            <a:off x="7498079" y="2148840"/>
            <a:ext cx="2011680" cy="228600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1" y="2359152"/>
            <a:ext cx="594360" cy="594360"/>
          </a:xfrm>
          <a:prstGeom prst="rect">
            <a:avLst/>
          </a:prstGeom>
          <a:noFill/>
        </p:spPr>
        <p:txBody>
          <a:bodyPr wrap="square" lIns="36576" rIns="36576" tIns="36576" bIns="36576" anchor="ctr">
            <a:normAutofit/>
          </a:bodyPr>
          <a:lstStyle/>
          <a:p>
            <a:pPr algn="ctr"/>
            <a:r>
              <a:rPr sz="2400" b="1" i="0">
                <a:solidFill>
                  <a:srgbClr val="06B6D4"/>
                </a:solidFill>
                <a:latin typeface="Inter Display"/>
              </a:rPr>
              <a:t>4</a:t>
            </a:r>
          </a:p>
        </p:txBody>
      </p:sp>
      <p:sp>
        <p:nvSpPr>
          <p:cNvPr id="26" name="TextBox 25"/>
          <p:cNvSpPr txBox="1"/>
          <p:nvPr/>
        </p:nvSpPr>
        <p:spPr>
          <a:xfrm>
            <a:off x="7680959" y="3127248"/>
            <a:ext cx="1645920" cy="411480"/>
          </a:xfrm>
          <a:prstGeom prst="rect">
            <a:avLst/>
          </a:prstGeom>
          <a:noFill/>
        </p:spPr>
        <p:txBody>
          <a:bodyPr wrap="square" lIns="36576" rIns="36576" tIns="36576" bIns="36576" anchor="t">
            <a:normAutofit/>
          </a:bodyPr>
          <a:lstStyle/>
          <a:p>
            <a:pPr algn="ctr"/>
            <a:r>
              <a:rPr sz="1350" b="1" i="0">
                <a:solidFill>
                  <a:srgbClr val="FFFFFF"/>
                </a:solidFill>
                <a:latin typeface="Inter Display"/>
              </a:rPr>
              <a:t>ANCHOR DRAFT</a:t>
            </a:r>
          </a:p>
        </p:txBody>
      </p:sp>
      <p:sp>
        <p:nvSpPr>
          <p:cNvPr id="27" name="TextBox 26"/>
          <p:cNvSpPr txBox="1"/>
          <p:nvPr/>
        </p:nvSpPr>
        <p:spPr>
          <a:xfrm>
            <a:off x="7699248" y="3685032"/>
            <a:ext cx="1600200" cy="457200"/>
          </a:xfrm>
          <a:prstGeom prst="rect">
            <a:avLst/>
          </a:prstGeom>
          <a:noFill/>
        </p:spPr>
        <p:txBody>
          <a:bodyPr wrap="square" lIns="36576" rIns="36576" tIns="36576" bIns="36576" anchor="t">
            <a:normAutofit/>
          </a:bodyPr>
          <a:lstStyle/>
          <a:p>
            <a:pPr algn="ctr"/>
            <a:r>
              <a:rPr sz="1050" b="0" i="0">
                <a:solidFill>
                  <a:srgbClr val="DDE9F7"/>
                </a:solidFill>
                <a:latin typeface="Inter"/>
              </a:rPr>
              <a:t>250–450 words or equivalent.</a:t>
            </a:r>
          </a:p>
        </p:txBody>
      </p:sp>
      <p:sp>
        <p:nvSpPr>
          <p:cNvPr id="28" name="TextBox 27"/>
          <p:cNvSpPr txBox="1"/>
          <p:nvPr/>
        </p:nvSpPr>
        <p:spPr>
          <a:xfrm>
            <a:off x="9491472" y="3063240"/>
            <a:ext cx="338328" cy="36576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29" name="Rounded Rectangle 28"/>
          <p:cNvSpPr/>
          <p:nvPr/>
        </p:nvSpPr>
        <p:spPr>
          <a:xfrm>
            <a:off x="9829800" y="2148840"/>
            <a:ext cx="2011680" cy="22860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43032" y="2359152"/>
            <a:ext cx="594360" cy="594360"/>
          </a:xfrm>
          <a:prstGeom prst="rect">
            <a:avLst/>
          </a:prstGeom>
          <a:noFill/>
        </p:spPr>
        <p:txBody>
          <a:bodyPr wrap="square" lIns="36576" rIns="36576" tIns="36576" bIns="36576" anchor="ctr">
            <a:normAutofit/>
          </a:bodyPr>
          <a:lstStyle/>
          <a:p>
            <a:pPr algn="ctr"/>
            <a:r>
              <a:rPr sz="2400" b="1" i="0">
                <a:solidFill>
                  <a:srgbClr val="14B8A6"/>
                </a:solidFill>
                <a:latin typeface="Inter Display"/>
              </a:rPr>
              <a:t>5</a:t>
            </a:r>
          </a:p>
        </p:txBody>
      </p:sp>
      <p:sp>
        <p:nvSpPr>
          <p:cNvPr id="31" name="TextBox 30"/>
          <p:cNvSpPr txBox="1"/>
          <p:nvPr/>
        </p:nvSpPr>
        <p:spPr>
          <a:xfrm>
            <a:off x="10012680" y="3127248"/>
            <a:ext cx="1645920" cy="411480"/>
          </a:xfrm>
          <a:prstGeom prst="rect">
            <a:avLst/>
          </a:prstGeom>
          <a:noFill/>
        </p:spPr>
        <p:txBody>
          <a:bodyPr wrap="square" lIns="36576" rIns="36576" tIns="36576" bIns="36576" anchor="t">
            <a:normAutofit/>
          </a:bodyPr>
          <a:lstStyle/>
          <a:p>
            <a:pPr algn="ctr"/>
            <a:r>
              <a:rPr sz="1350" b="1" i="0">
                <a:solidFill>
                  <a:srgbClr val="FFFFFF"/>
                </a:solidFill>
                <a:latin typeface="Inter Display"/>
              </a:rPr>
              <a:t>VERIFY</a:t>
            </a:r>
          </a:p>
        </p:txBody>
      </p:sp>
      <p:sp>
        <p:nvSpPr>
          <p:cNvPr id="32" name="TextBox 31"/>
          <p:cNvSpPr txBox="1"/>
          <p:nvPr/>
        </p:nvSpPr>
        <p:spPr>
          <a:xfrm>
            <a:off x="10030968" y="3685032"/>
            <a:ext cx="1600200" cy="457200"/>
          </a:xfrm>
          <a:prstGeom prst="rect">
            <a:avLst/>
          </a:prstGeom>
          <a:noFill/>
        </p:spPr>
        <p:txBody>
          <a:bodyPr wrap="square" lIns="36576" rIns="36576" tIns="36576" bIns="36576" anchor="t">
            <a:normAutofit/>
          </a:bodyPr>
          <a:lstStyle/>
          <a:p>
            <a:pPr algn="ctr"/>
            <a:r>
              <a:rPr sz="1050" b="0" i="0">
                <a:solidFill>
                  <a:srgbClr val="DDE9F7"/>
                </a:solidFill>
                <a:latin typeface="Inter"/>
              </a:rPr>
              <a:t>Mark new claims and run CLEAR.</a:t>
            </a:r>
          </a:p>
        </p:txBody>
      </p:sp>
      <p:sp>
        <p:nvSpPr>
          <p:cNvPr id="33" name="Rounded Rectangle 32"/>
          <p:cNvSpPr/>
          <p:nvPr/>
        </p:nvSpPr>
        <p:spPr>
          <a:xfrm>
            <a:off x="1280160" y="5074920"/>
            <a:ext cx="9555480" cy="59436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 y="5239512"/>
            <a:ext cx="9098280" cy="274320"/>
          </a:xfrm>
          <a:prstGeom prst="rect">
            <a:avLst/>
          </a:prstGeom>
          <a:noFill/>
        </p:spPr>
        <p:txBody>
          <a:bodyPr wrap="square" lIns="36576" rIns="36576" tIns="36576" bIns="36576" anchor="t">
            <a:normAutofit/>
          </a:bodyPr>
          <a:lstStyle/>
          <a:p>
            <a:pPr algn="ctr"/>
            <a:r>
              <a:rPr sz="1300" b="1" i="0">
                <a:solidFill>
                  <a:srgbClr val="FFFFFF"/>
                </a:solidFill>
                <a:latin typeface="Inter"/>
              </a:rPr>
              <a:t>AI may help draft. The human owns the source, decision, verification, and final approval.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04</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26</a:t>
            </a:r>
          </a:p>
        </p:txBody>
      </p:sp>
      <p:sp>
        <p:nvSpPr>
          <p:cNvPr id="5" name="Rectangle 4"/>
          <p:cNvSpPr/>
          <p:nvPr/>
        </p:nvSpPr>
        <p:spPr>
          <a:xfrm>
            <a:off x="0" y="0"/>
            <a:ext cx="6080760" cy="6858000"/>
          </a:xfrm>
          <a:prstGeom prst="rect">
            <a:avLst/>
          </a:prstGeom>
          <a:solidFill>
            <a:srgbClr val="06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234440"/>
            <a:ext cx="5394960" cy="34290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5_diagram_clear_review.png"/>
          <p:cNvPicPr>
            <a:picLocks noChangeAspect="1"/>
          </p:cNvPicPr>
          <p:nvPr/>
        </p:nvPicPr>
        <p:blipFill>
          <a:blip r:embed="rId2"/>
          <a:stretch>
            <a:fillRect/>
          </a:stretch>
        </p:blipFill>
        <p:spPr>
          <a:xfrm>
            <a:off x="6428232" y="1498473"/>
            <a:ext cx="5157216" cy="2900934"/>
          </a:xfrm>
          <a:prstGeom prst="rect">
            <a:avLst/>
          </a:prstGeom>
        </p:spPr>
      </p:pic>
      <p:sp>
        <p:nvSpPr>
          <p:cNvPr id="8" name="Rounded Rectangle 7"/>
          <p:cNvSpPr/>
          <p:nvPr/>
        </p:nvSpPr>
        <p:spPr>
          <a:xfrm>
            <a:off x="502920" y="594360"/>
            <a:ext cx="658368" cy="65836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94360"/>
            <a:ext cx="658368" cy="658368"/>
          </a:xfrm>
          <a:prstGeom prst="rect">
            <a:avLst/>
          </a:prstGeom>
          <a:noFill/>
        </p:spPr>
        <p:txBody>
          <a:bodyPr wrap="square" lIns="36576" rIns="36576" tIns="36576" bIns="36576" anchor="ctr">
            <a:normAutofit/>
          </a:bodyPr>
          <a:lstStyle/>
          <a:p>
            <a:pPr algn="ctr"/>
            <a:r>
              <a:rPr sz="2200" b="1" i="0">
                <a:solidFill>
                  <a:srgbClr val="FFFFFF"/>
                </a:solidFill>
                <a:latin typeface="Inter Display"/>
              </a:rPr>
              <a:t>04</a:t>
            </a:r>
          </a:p>
        </p:txBody>
      </p:sp>
      <p:sp>
        <p:nvSpPr>
          <p:cNvPr id="10" name="TextBox 9"/>
          <p:cNvSpPr txBox="1"/>
          <p:nvPr/>
        </p:nvSpPr>
        <p:spPr>
          <a:xfrm>
            <a:off x="1353312" y="658368"/>
            <a:ext cx="1828800" cy="228600"/>
          </a:xfrm>
          <a:prstGeom prst="rect">
            <a:avLst/>
          </a:prstGeom>
          <a:noFill/>
        </p:spPr>
        <p:txBody>
          <a:bodyPr wrap="square" lIns="36576" rIns="36576" tIns="36576" bIns="36576" anchor="t">
            <a:spAutoFit/>
          </a:bodyPr>
          <a:lstStyle/>
          <a:p>
            <a:pPr algn="l"/>
            <a:r>
              <a:rPr sz="1000" b="1" i="0">
                <a:solidFill>
                  <a:srgbClr val="14B8A6"/>
                </a:solidFill>
                <a:latin typeface="Inter Display"/>
              </a:rPr>
              <a:t>MODULE</a:t>
            </a:r>
          </a:p>
        </p:txBody>
      </p:sp>
      <p:sp>
        <p:nvSpPr>
          <p:cNvPr id="11" name="TextBox 10"/>
          <p:cNvSpPr txBox="1"/>
          <p:nvPr/>
        </p:nvSpPr>
        <p:spPr>
          <a:xfrm>
            <a:off x="548640" y="1417320"/>
            <a:ext cx="5669280" cy="1371600"/>
          </a:xfrm>
          <a:prstGeom prst="rect">
            <a:avLst/>
          </a:prstGeom>
          <a:noFill/>
        </p:spPr>
        <p:txBody>
          <a:bodyPr wrap="square" lIns="36576" rIns="36576" tIns="36576" bIns="36576" anchor="t">
            <a:normAutofit/>
          </a:bodyPr>
          <a:lstStyle/>
          <a:p>
            <a:pPr algn="l"/>
            <a:r>
              <a:rPr sz="3200" b="1" i="0">
                <a:solidFill>
                  <a:srgbClr val="FFFFFF"/>
                </a:solidFill>
                <a:latin typeface="Inter Display"/>
              </a:rPr>
              <a:t>REVIEW AND APPROVE</a:t>
            </a:r>
          </a:p>
        </p:txBody>
      </p:sp>
      <p:sp>
        <p:nvSpPr>
          <p:cNvPr id="12" name="TextBox 11"/>
          <p:cNvSpPr txBox="1"/>
          <p:nvPr/>
        </p:nvSpPr>
        <p:spPr>
          <a:xfrm>
            <a:off x="594360" y="3063240"/>
            <a:ext cx="5257800" cy="1005840"/>
          </a:xfrm>
          <a:prstGeom prst="rect">
            <a:avLst/>
          </a:prstGeom>
          <a:noFill/>
        </p:spPr>
        <p:txBody>
          <a:bodyPr wrap="square" lIns="36576" rIns="36576" tIns="36576" bIns="36576" anchor="t">
            <a:normAutofit/>
          </a:bodyPr>
          <a:lstStyle/>
          <a:p>
            <a:pPr algn="l"/>
            <a:r>
              <a:rPr sz="1700" b="0" i="0">
                <a:solidFill>
                  <a:srgbClr val="DDE9F7"/>
                </a:solidFill>
                <a:latin typeface="Inter"/>
              </a:rPr>
              <a:t>An approved anchor post and a documented review-and-approval operating procedure.</a:t>
            </a:r>
          </a:p>
        </p:txBody>
      </p:sp>
      <p:sp>
        <p:nvSpPr>
          <p:cNvPr id="13" name="Rounded Rectangle 12"/>
          <p:cNvSpPr/>
          <p:nvPr/>
        </p:nvSpPr>
        <p:spPr>
          <a:xfrm>
            <a:off x="594360" y="4754880"/>
            <a:ext cx="5029200" cy="105156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56048"/>
            <a:ext cx="1828800" cy="228600"/>
          </a:xfrm>
          <a:prstGeom prst="rect">
            <a:avLst/>
          </a:prstGeom>
          <a:noFill/>
        </p:spPr>
        <p:txBody>
          <a:bodyPr wrap="square" lIns="36576" rIns="36576" tIns="36576" bIns="36576" anchor="t">
            <a:spAutoFit/>
          </a:bodyPr>
          <a:lstStyle/>
          <a:p>
            <a:pPr algn="l"/>
            <a:r>
              <a:rPr sz="900" b="1" i="0">
                <a:solidFill>
                  <a:srgbClr val="14B8A6"/>
                </a:solidFill>
                <a:latin typeface="Inter Display"/>
              </a:rPr>
              <a:t>FACILITATOR FOCUS</a:t>
            </a:r>
          </a:p>
        </p:txBody>
      </p:sp>
      <p:sp>
        <p:nvSpPr>
          <p:cNvPr id="15" name="TextBox 14"/>
          <p:cNvSpPr txBox="1"/>
          <p:nvPr/>
        </p:nvSpPr>
        <p:spPr>
          <a:xfrm>
            <a:off x="822960" y="5257800"/>
            <a:ext cx="4480560" cy="384048"/>
          </a:xfrm>
          <a:prstGeom prst="rect">
            <a:avLst/>
          </a:prstGeom>
          <a:noFill/>
        </p:spPr>
        <p:txBody>
          <a:bodyPr wrap="square" lIns="36576" rIns="36576" tIns="36576" bIns="36576" anchor="t">
            <a:normAutofit/>
          </a:bodyPr>
          <a:lstStyle/>
          <a:p>
            <a:pPr algn="l"/>
            <a:r>
              <a:rPr sz="1300" b="1" i="0">
                <a:solidFill>
                  <a:srgbClr val="FFFFFF"/>
                </a:solidFill>
                <a:latin typeface="Inter"/>
              </a:rPr>
              <a:t>Separate editorial review from approval and risk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04</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27</a:t>
            </a:r>
          </a:p>
        </p:txBody>
      </p:sp>
      <p:pic>
        <p:nvPicPr>
          <p:cNvPr id="5" name="Picture 4" descr="08_lesson_07_clear_review.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28</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14B8A6"/>
                </a:solidFill>
                <a:latin typeface="Inter Display"/>
              </a:rPr>
              <a:t>LESSON 7</a:t>
            </a:r>
          </a:p>
        </p:txBody>
      </p:sp>
      <p:sp>
        <p:nvSpPr>
          <p:cNvPr id="7" name="Rounded Rectangle 6"/>
          <p:cNvSpPr/>
          <p:nvPr/>
        </p:nvSpPr>
        <p:spPr>
          <a:xfrm>
            <a:off x="457200" y="804672"/>
            <a:ext cx="50292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07</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Run the LANA CLEAR editorial review</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Five separate passes prevent vague, taste-based editing.</a:t>
            </a:r>
          </a:p>
        </p:txBody>
      </p:sp>
      <p:pic>
        <p:nvPicPr>
          <p:cNvPr id="11" name="Picture 10" descr="15_diagram_clear_review.png"/>
          <p:cNvPicPr>
            <a:picLocks noChangeAspect="1"/>
          </p:cNvPicPr>
          <p:nvPr/>
        </p:nvPicPr>
        <p:blipFill>
          <a:blip r:embed="rId3"/>
          <a:srcRect l="55" r="55"/>
          <a:stretch>
            <a:fillRect/>
          </a:stretch>
        </p:blipFill>
        <p:spPr>
          <a:xfrm>
            <a:off x="640080" y="2029968"/>
            <a:ext cx="6446520" cy="3630168"/>
          </a:xfrm>
          <a:prstGeom prst="rect">
            <a:avLst/>
          </a:prstGeom>
        </p:spPr>
      </p:pic>
      <p:sp>
        <p:nvSpPr>
          <p:cNvPr id="12" name="Rounded Rectangle 11"/>
          <p:cNvSpPr/>
          <p:nvPr/>
        </p:nvSpPr>
        <p:spPr>
          <a:xfrm>
            <a:off x="7360920" y="2057400"/>
            <a:ext cx="4160520" cy="621792"/>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167128"/>
            <a:ext cx="411480" cy="365760"/>
          </a:xfrm>
          <a:prstGeom prst="rect">
            <a:avLst/>
          </a:prstGeom>
          <a:noFill/>
        </p:spPr>
        <p:txBody>
          <a:bodyPr wrap="square" lIns="36576" rIns="36576" tIns="36576" bIns="36576" anchor="t">
            <a:spAutoFit/>
          </a:bodyPr>
          <a:lstStyle/>
          <a:p>
            <a:pPr algn="ctr"/>
            <a:r>
              <a:rPr sz="1600" b="1" i="0">
                <a:solidFill>
                  <a:srgbClr val="14B8A6"/>
                </a:solidFill>
                <a:latin typeface="Inter Display"/>
              </a:rPr>
              <a:t>C</a:t>
            </a:r>
          </a:p>
        </p:txBody>
      </p:sp>
      <p:sp>
        <p:nvSpPr>
          <p:cNvPr id="14" name="TextBox 13"/>
          <p:cNvSpPr txBox="1"/>
          <p:nvPr/>
        </p:nvSpPr>
        <p:spPr>
          <a:xfrm>
            <a:off x="7955279" y="2148840"/>
            <a:ext cx="1234440" cy="228600"/>
          </a:xfrm>
          <a:prstGeom prst="rect">
            <a:avLst/>
          </a:prstGeom>
          <a:noFill/>
        </p:spPr>
        <p:txBody>
          <a:bodyPr wrap="square" lIns="36576" rIns="36576" tIns="36576" bIns="36576" anchor="t">
            <a:normAutofit/>
          </a:bodyPr>
          <a:lstStyle/>
          <a:p>
            <a:pPr algn="l"/>
            <a:r>
              <a:rPr sz="1220" b="1" i="0">
                <a:solidFill>
                  <a:srgbClr val="FFFFFF"/>
                </a:solidFill>
                <a:latin typeface="Inter Display"/>
              </a:rPr>
              <a:t>Correct</a:t>
            </a:r>
          </a:p>
        </p:txBody>
      </p:sp>
      <p:sp>
        <p:nvSpPr>
          <p:cNvPr id="15" name="TextBox 14"/>
          <p:cNvSpPr txBox="1"/>
          <p:nvPr/>
        </p:nvSpPr>
        <p:spPr>
          <a:xfrm>
            <a:off x="9144000" y="2157984"/>
            <a:ext cx="2148840" cy="310896"/>
          </a:xfrm>
          <a:prstGeom prst="rect">
            <a:avLst/>
          </a:prstGeom>
          <a:noFill/>
        </p:spPr>
        <p:txBody>
          <a:bodyPr wrap="square" lIns="36576" rIns="36576" tIns="36576" bIns="36576" anchor="t">
            <a:normAutofit/>
          </a:bodyPr>
          <a:lstStyle/>
          <a:p>
            <a:pPr algn="l"/>
            <a:r>
              <a:rPr sz="1019" b="0" i="0">
                <a:solidFill>
                  <a:srgbClr val="DDE9F7"/>
                </a:solidFill>
                <a:latin typeface="Inter"/>
              </a:rPr>
              <a:t>Names, numbers, dates, links, source match.</a:t>
            </a:r>
          </a:p>
        </p:txBody>
      </p:sp>
      <p:sp>
        <p:nvSpPr>
          <p:cNvPr id="16" name="Rounded Rectangle 15"/>
          <p:cNvSpPr/>
          <p:nvPr/>
        </p:nvSpPr>
        <p:spPr>
          <a:xfrm>
            <a:off x="7360920" y="2770632"/>
            <a:ext cx="4160520" cy="621792"/>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2880360"/>
            <a:ext cx="411480" cy="365760"/>
          </a:xfrm>
          <a:prstGeom prst="rect">
            <a:avLst/>
          </a:prstGeom>
          <a:noFill/>
        </p:spPr>
        <p:txBody>
          <a:bodyPr wrap="square" lIns="36576" rIns="36576" tIns="36576" bIns="36576" anchor="t">
            <a:spAutoFit/>
          </a:bodyPr>
          <a:lstStyle/>
          <a:p>
            <a:pPr algn="ctr"/>
            <a:r>
              <a:rPr sz="1600" b="1" i="0">
                <a:solidFill>
                  <a:srgbClr val="14B8A6"/>
                </a:solidFill>
                <a:latin typeface="Inter Display"/>
              </a:rPr>
              <a:t>L</a:t>
            </a:r>
          </a:p>
        </p:txBody>
      </p:sp>
      <p:sp>
        <p:nvSpPr>
          <p:cNvPr id="18" name="TextBox 17"/>
          <p:cNvSpPr txBox="1"/>
          <p:nvPr/>
        </p:nvSpPr>
        <p:spPr>
          <a:xfrm>
            <a:off x="7955279" y="2862072"/>
            <a:ext cx="1234440" cy="228600"/>
          </a:xfrm>
          <a:prstGeom prst="rect">
            <a:avLst/>
          </a:prstGeom>
          <a:noFill/>
        </p:spPr>
        <p:txBody>
          <a:bodyPr wrap="square" lIns="36576" rIns="36576" tIns="36576" bIns="36576" anchor="t">
            <a:normAutofit/>
          </a:bodyPr>
          <a:lstStyle/>
          <a:p>
            <a:pPr algn="l"/>
            <a:r>
              <a:rPr sz="1220" b="1" i="0">
                <a:solidFill>
                  <a:srgbClr val="FFFFFF"/>
                </a:solidFill>
                <a:latin typeface="Inter Display"/>
              </a:rPr>
              <a:t>Legible</a:t>
            </a:r>
          </a:p>
        </p:txBody>
      </p:sp>
      <p:sp>
        <p:nvSpPr>
          <p:cNvPr id="19" name="TextBox 18"/>
          <p:cNvSpPr txBox="1"/>
          <p:nvPr/>
        </p:nvSpPr>
        <p:spPr>
          <a:xfrm>
            <a:off x="9144000" y="2871216"/>
            <a:ext cx="2148840" cy="310896"/>
          </a:xfrm>
          <a:prstGeom prst="rect">
            <a:avLst/>
          </a:prstGeom>
          <a:noFill/>
        </p:spPr>
        <p:txBody>
          <a:bodyPr wrap="square" lIns="36576" rIns="36576" tIns="36576" bIns="36576" anchor="t">
            <a:normAutofit/>
          </a:bodyPr>
          <a:lstStyle/>
          <a:p>
            <a:pPr algn="l"/>
            <a:r>
              <a:rPr sz="1019" b="0" i="0">
                <a:solidFill>
                  <a:srgbClr val="DDE9F7"/>
                </a:solidFill>
                <a:latin typeface="Inter"/>
              </a:rPr>
              <a:t>Opening, flow, structure, format, next step.</a:t>
            </a:r>
          </a:p>
        </p:txBody>
      </p:sp>
      <p:sp>
        <p:nvSpPr>
          <p:cNvPr id="20" name="Rounded Rectangle 19"/>
          <p:cNvSpPr/>
          <p:nvPr/>
        </p:nvSpPr>
        <p:spPr>
          <a:xfrm>
            <a:off x="7360920" y="3483864"/>
            <a:ext cx="4160520" cy="621792"/>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79" y="3593592"/>
            <a:ext cx="411480" cy="365760"/>
          </a:xfrm>
          <a:prstGeom prst="rect">
            <a:avLst/>
          </a:prstGeom>
          <a:noFill/>
        </p:spPr>
        <p:txBody>
          <a:bodyPr wrap="square" lIns="36576" rIns="36576" tIns="36576" bIns="36576" anchor="t">
            <a:spAutoFit/>
          </a:bodyPr>
          <a:lstStyle/>
          <a:p>
            <a:pPr algn="ctr"/>
            <a:r>
              <a:rPr sz="1600" b="1" i="0">
                <a:solidFill>
                  <a:srgbClr val="14B8A6"/>
                </a:solidFill>
                <a:latin typeface="Inter Display"/>
              </a:rPr>
              <a:t>E</a:t>
            </a:r>
          </a:p>
        </p:txBody>
      </p:sp>
      <p:sp>
        <p:nvSpPr>
          <p:cNvPr id="22" name="TextBox 21"/>
          <p:cNvSpPr txBox="1"/>
          <p:nvPr/>
        </p:nvSpPr>
        <p:spPr>
          <a:xfrm>
            <a:off x="7955279" y="3575304"/>
            <a:ext cx="1234440" cy="228600"/>
          </a:xfrm>
          <a:prstGeom prst="rect">
            <a:avLst/>
          </a:prstGeom>
          <a:noFill/>
        </p:spPr>
        <p:txBody>
          <a:bodyPr wrap="square" lIns="36576" rIns="36576" tIns="36576" bIns="36576" anchor="t">
            <a:normAutofit/>
          </a:bodyPr>
          <a:lstStyle/>
          <a:p>
            <a:pPr algn="l"/>
            <a:r>
              <a:rPr sz="1220" b="1" i="0">
                <a:solidFill>
                  <a:srgbClr val="FFFFFF"/>
                </a:solidFill>
                <a:latin typeface="Inter Display"/>
              </a:rPr>
              <a:t>Evidence-backed</a:t>
            </a:r>
          </a:p>
        </p:txBody>
      </p:sp>
      <p:sp>
        <p:nvSpPr>
          <p:cNvPr id="23" name="TextBox 22"/>
          <p:cNvSpPr txBox="1"/>
          <p:nvPr/>
        </p:nvSpPr>
        <p:spPr>
          <a:xfrm>
            <a:off x="9144000" y="3584448"/>
            <a:ext cx="2148840" cy="310896"/>
          </a:xfrm>
          <a:prstGeom prst="rect">
            <a:avLst/>
          </a:prstGeom>
          <a:noFill/>
        </p:spPr>
        <p:txBody>
          <a:bodyPr wrap="square" lIns="36576" rIns="36576" tIns="36576" bIns="36576" anchor="t">
            <a:normAutofit/>
          </a:bodyPr>
          <a:lstStyle/>
          <a:p>
            <a:pPr algn="l"/>
            <a:r>
              <a:rPr sz="1019" b="0" i="0">
                <a:solidFill>
                  <a:srgbClr val="DDE9F7"/>
                </a:solidFill>
                <a:latin typeface="Inter"/>
              </a:rPr>
              <a:t>Claims supported; examples labeled.</a:t>
            </a:r>
          </a:p>
        </p:txBody>
      </p:sp>
      <p:sp>
        <p:nvSpPr>
          <p:cNvPr id="24" name="Rounded Rectangle 23"/>
          <p:cNvSpPr/>
          <p:nvPr/>
        </p:nvSpPr>
        <p:spPr>
          <a:xfrm>
            <a:off x="7360920" y="4197096"/>
            <a:ext cx="4160520" cy="621792"/>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79" y="4306824"/>
            <a:ext cx="411480" cy="365760"/>
          </a:xfrm>
          <a:prstGeom prst="rect">
            <a:avLst/>
          </a:prstGeom>
          <a:noFill/>
        </p:spPr>
        <p:txBody>
          <a:bodyPr wrap="square" lIns="36576" rIns="36576" tIns="36576" bIns="36576" anchor="t">
            <a:spAutoFit/>
          </a:bodyPr>
          <a:lstStyle/>
          <a:p>
            <a:pPr algn="ctr"/>
            <a:r>
              <a:rPr sz="1600" b="1" i="0">
                <a:solidFill>
                  <a:srgbClr val="14B8A6"/>
                </a:solidFill>
                <a:latin typeface="Inter Display"/>
              </a:rPr>
              <a:t>A</a:t>
            </a:r>
          </a:p>
        </p:txBody>
      </p:sp>
      <p:sp>
        <p:nvSpPr>
          <p:cNvPr id="26" name="TextBox 25"/>
          <p:cNvSpPr txBox="1"/>
          <p:nvPr/>
        </p:nvSpPr>
        <p:spPr>
          <a:xfrm>
            <a:off x="7955279" y="4288536"/>
            <a:ext cx="1234440" cy="228600"/>
          </a:xfrm>
          <a:prstGeom prst="rect">
            <a:avLst/>
          </a:prstGeom>
          <a:noFill/>
        </p:spPr>
        <p:txBody>
          <a:bodyPr wrap="square" lIns="36576" rIns="36576" tIns="36576" bIns="36576" anchor="t">
            <a:normAutofit/>
          </a:bodyPr>
          <a:lstStyle/>
          <a:p>
            <a:pPr algn="l"/>
            <a:r>
              <a:rPr sz="1220" b="1" i="0">
                <a:solidFill>
                  <a:srgbClr val="FFFFFF"/>
                </a:solidFill>
                <a:latin typeface="Inter Display"/>
              </a:rPr>
              <a:t>Aligned</a:t>
            </a:r>
          </a:p>
        </p:txBody>
      </p:sp>
      <p:sp>
        <p:nvSpPr>
          <p:cNvPr id="27" name="TextBox 26"/>
          <p:cNvSpPr txBox="1"/>
          <p:nvPr/>
        </p:nvSpPr>
        <p:spPr>
          <a:xfrm>
            <a:off x="9144000" y="4297680"/>
            <a:ext cx="2148840" cy="310896"/>
          </a:xfrm>
          <a:prstGeom prst="rect">
            <a:avLst/>
          </a:prstGeom>
          <a:noFill/>
        </p:spPr>
        <p:txBody>
          <a:bodyPr wrap="square" lIns="36576" rIns="36576" tIns="36576" bIns="36576" anchor="t">
            <a:normAutofit/>
          </a:bodyPr>
          <a:lstStyle/>
          <a:p>
            <a:pPr algn="l"/>
            <a:r>
              <a:rPr sz="1019" b="0" i="0">
                <a:solidFill>
                  <a:srgbClr val="DDE9F7"/>
                </a:solidFill>
                <a:latin typeface="Inter"/>
              </a:rPr>
              <a:t>Pillar, audience, content job, voice, offer.</a:t>
            </a:r>
          </a:p>
        </p:txBody>
      </p:sp>
      <p:sp>
        <p:nvSpPr>
          <p:cNvPr id="28" name="Rounded Rectangle 27"/>
          <p:cNvSpPr/>
          <p:nvPr/>
        </p:nvSpPr>
        <p:spPr>
          <a:xfrm>
            <a:off x="7360920" y="4910328"/>
            <a:ext cx="4160520" cy="621792"/>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79" y="5020056"/>
            <a:ext cx="411480" cy="365760"/>
          </a:xfrm>
          <a:prstGeom prst="rect">
            <a:avLst/>
          </a:prstGeom>
          <a:noFill/>
        </p:spPr>
        <p:txBody>
          <a:bodyPr wrap="square" lIns="36576" rIns="36576" tIns="36576" bIns="36576" anchor="t">
            <a:spAutoFit/>
          </a:bodyPr>
          <a:lstStyle/>
          <a:p>
            <a:pPr algn="ctr"/>
            <a:r>
              <a:rPr sz="1600" b="1" i="0">
                <a:solidFill>
                  <a:srgbClr val="14B8A6"/>
                </a:solidFill>
                <a:latin typeface="Inter Display"/>
              </a:rPr>
              <a:t>R</a:t>
            </a:r>
          </a:p>
        </p:txBody>
      </p:sp>
      <p:sp>
        <p:nvSpPr>
          <p:cNvPr id="30" name="TextBox 29"/>
          <p:cNvSpPr txBox="1"/>
          <p:nvPr/>
        </p:nvSpPr>
        <p:spPr>
          <a:xfrm>
            <a:off x="7955279" y="5001768"/>
            <a:ext cx="1234440" cy="228600"/>
          </a:xfrm>
          <a:prstGeom prst="rect">
            <a:avLst/>
          </a:prstGeom>
          <a:noFill/>
        </p:spPr>
        <p:txBody>
          <a:bodyPr wrap="square" lIns="36576" rIns="36576" tIns="36576" bIns="36576" anchor="t">
            <a:normAutofit/>
          </a:bodyPr>
          <a:lstStyle/>
          <a:p>
            <a:pPr algn="l"/>
            <a:r>
              <a:rPr sz="1220" b="1" i="0">
                <a:solidFill>
                  <a:srgbClr val="FFFFFF"/>
                </a:solidFill>
                <a:latin typeface="Inter Display"/>
              </a:rPr>
              <a:t>Responsible</a:t>
            </a:r>
          </a:p>
        </p:txBody>
      </p:sp>
      <p:sp>
        <p:nvSpPr>
          <p:cNvPr id="31" name="TextBox 30"/>
          <p:cNvSpPr txBox="1"/>
          <p:nvPr/>
        </p:nvSpPr>
        <p:spPr>
          <a:xfrm>
            <a:off x="9144000" y="5010912"/>
            <a:ext cx="2148840" cy="310896"/>
          </a:xfrm>
          <a:prstGeom prst="rect">
            <a:avLst/>
          </a:prstGeom>
          <a:noFill/>
        </p:spPr>
        <p:txBody>
          <a:bodyPr wrap="square" lIns="36576" rIns="36576" tIns="36576" bIns="36576" anchor="t">
            <a:normAutofit/>
          </a:bodyPr>
          <a:lstStyle/>
          <a:p>
            <a:pPr algn="l"/>
            <a:r>
              <a:rPr sz="1019" b="0" i="0">
                <a:solidFill>
                  <a:srgbClr val="DDE9F7"/>
                </a:solidFill>
                <a:latin typeface="Inter"/>
              </a:rPr>
              <a:t>Privacy, rights, access, claims, approval.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29</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14B8A6"/>
                </a:solidFill>
                <a:latin typeface="Inter Display"/>
              </a:rPr>
              <a:t>HANDS-ON 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Review the anchor in five passes</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Document required changes separately from optional preferences.</a:t>
            </a:r>
          </a:p>
        </p:txBody>
      </p:sp>
      <p:sp>
        <p:nvSpPr>
          <p:cNvPr id="9" name="TextBox 8"/>
          <p:cNvSpPr txBox="1"/>
          <p:nvPr/>
        </p:nvSpPr>
        <p:spPr>
          <a:xfrm>
            <a:off x="640080" y="1783080"/>
            <a:ext cx="5074920" cy="3474720"/>
          </a:xfrm>
          <a:prstGeom prst="rect">
            <a:avLst/>
          </a:prstGeom>
          <a:noFill/>
        </p:spPr>
        <p:txBody>
          <a:bodyPr wrap="square" lIns="18288" rIns="18288">
            <a:spAutoFit/>
          </a:bodyPr>
          <a:lstStyle/>
          <a:p>
            <a:pPr>
              <a:spcAft>
                <a:spcPts val="500"/>
              </a:spcAft>
              <a:defRPr sz="1600">
                <a:solidFill>
                  <a:srgbClr val="DDE9F7"/>
                </a:solidFill>
                <a:latin typeface="Inter"/>
              </a:defRPr>
            </a:pPr>
            <a:r>
              <a:t>1.  Read the draft once without editing to identify its main idea and job.</a:t>
            </a:r>
          </a:p>
          <a:p>
            <a:pPr>
              <a:spcAft>
                <a:spcPts val="500"/>
              </a:spcAft>
              <a:defRPr sz="1600">
                <a:solidFill>
                  <a:srgbClr val="DDE9F7"/>
                </a:solidFill>
                <a:latin typeface="Inter"/>
              </a:defRPr>
            </a:pPr>
            <a:r>
              <a:t>2.  Run the Correct, Legible, Evidence-backed, Aligned, and Responsible passes separately.</a:t>
            </a:r>
          </a:p>
          <a:p>
            <a:pPr>
              <a:spcAft>
                <a:spcPts val="500"/>
              </a:spcAft>
              <a:defRPr sz="1600">
                <a:solidFill>
                  <a:srgbClr val="DDE9F7"/>
                </a:solidFill>
                <a:latin typeface="Inter"/>
              </a:defRPr>
            </a:pPr>
            <a:r>
              <a:t>3.  Mark each comment as required or optional.</a:t>
            </a:r>
          </a:p>
          <a:p>
            <a:pPr>
              <a:spcAft>
                <a:spcPts val="500"/>
              </a:spcAft>
              <a:defRPr sz="1600">
                <a:solidFill>
                  <a:srgbClr val="DDE9F7"/>
                </a:solidFill>
                <a:latin typeface="Inter"/>
              </a:defRPr>
            </a:pPr>
            <a:r>
              <a:t>4.  Resolve required changes and recheck the source and Voice Card.</a:t>
            </a:r>
          </a:p>
          <a:p>
            <a:pPr>
              <a:spcAft>
                <a:spcPts val="500"/>
              </a:spcAft>
              <a:defRPr sz="1600">
                <a:solidFill>
                  <a:srgbClr val="DDE9F7"/>
                </a:solidFill>
                <a:latin typeface="Inter"/>
              </a:defRPr>
            </a:pPr>
            <a:r>
              <a:t>5.  Record the reviewer, approval status, and date.</a:t>
            </a:r>
          </a:p>
        </p:txBody>
      </p:sp>
      <p:sp>
        <p:nvSpPr>
          <p:cNvPr id="10" name="Rounded Rectangle 9"/>
          <p:cNvSpPr/>
          <p:nvPr/>
        </p:nvSpPr>
        <p:spPr>
          <a:xfrm>
            <a:off x="5989320" y="1691640"/>
            <a:ext cx="5577840" cy="38862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011680"/>
            <a:ext cx="365760" cy="320040"/>
          </a:xfrm>
          <a:prstGeom prst="rect">
            <a:avLst/>
          </a:prstGeom>
          <a:noFill/>
        </p:spPr>
        <p:txBody>
          <a:bodyPr wrap="square" lIns="36576" rIns="36576" tIns="36576" bIns="36576" anchor="t">
            <a:spAutoFit/>
          </a:bodyPr>
          <a:lstStyle/>
          <a:p>
            <a:pPr algn="ctr"/>
            <a:r>
              <a:rPr sz="1600" b="1" i="0">
                <a:solidFill>
                  <a:srgbClr val="14B8A6"/>
                </a:solidFill>
                <a:latin typeface="Inter Display"/>
              </a:rPr>
              <a:t>✓</a:t>
            </a:r>
          </a:p>
        </p:txBody>
      </p:sp>
      <p:sp>
        <p:nvSpPr>
          <p:cNvPr id="12" name="TextBox 11"/>
          <p:cNvSpPr txBox="1"/>
          <p:nvPr/>
        </p:nvSpPr>
        <p:spPr>
          <a:xfrm>
            <a:off x="6720840" y="2011680"/>
            <a:ext cx="1645920" cy="256032"/>
          </a:xfrm>
          <a:prstGeom prst="rect">
            <a:avLst/>
          </a:prstGeom>
          <a:noFill/>
        </p:spPr>
        <p:txBody>
          <a:bodyPr wrap="square" lIns="36576" rIns="36576" tIns="36576" bIns="36576" anchor="t">
            <a:normAutofit/>
          </a:bodyPr>
          <a:lstStyle/>
          <a:p>
            <a:pPr algn="l"/>
            <a:r>
              <a:rPr sz="1150" b="1" i="0">
                <a:solidFill>
                  <a:srgbClr val="FFFFFF"/>
                </a:solidFill>
                <a:latin typeface="Inter Display"/>
              </a:rPr>
              <a:t>Evidence improvement</a:t>
            </a:r>
          </a:p>
        </p:txBody>
      </p:sp>
      <p:sp>
        <p:nvSpPr>
          <p:cNvPr id="13" name="TextBox 12"/>
          <p:cNvSpPr txBox="1"/>
          <p:nvPr/>
        </p:nvSpPr>
        <p:spPr>
          <a:xfrm>
            <a:off x="8366760" y="2011680"/>
            <a:ext cx="2834640" cy="320040"/>
          </a:xfrm>
          <a:prstGeom prst="rect">
            <a:avLst/>
          </a:prstGeom>
          <a:noFill/>
        </p:spPr>
        <p:txBody>
          <a:bodyPr wrap="square" lIns="36576" rIns="36576" tIns="36576" bIns="36576" anchor="t">
            <a:normAutofit/>
          </a:bodyPr>
          <a:lstStyle/>
          <a:p>
            <a:pPr algn="l"/>
            <a:r>
              <a:rPr sz="1050" b="0" i="0">
                <a:solidFill>
                  <a:srgbClr val="DDE9F7"/>
                </a:solidFill>
                <a:latin typeface="Inter"/>
              </a:rPr>
              <a:t>Add a specific source, example, or label.</a:t>
            </a:r>
          </a:p>
        </p:txBody>
      </p:sp>
      <p:sp>
        <p:nvSpPr>
          <p:cNvPr id="14" name="TextBox 13"/>
          <p:cNvSpPr txBox="1"/>
          <p:nvPr/>
        </p:nvSpPr>
        <p:spPr>
          <a:xfrm>
            <a:off x="6263640" y="2770632"/>
            <a:ext cx="365760" cy="320040"/>
          </a:xfrm>
          <a:prstGeom prst="rect">
            <a:avLst/>
          </a:prstGeom>
          <a:noFill/>
        </p:spPr>
        <p:txBody>
          <a:bodyPr wrap="square" lIns="36576" rIns="36576" tIns="36576" bIns="36576" anchor="t">
            <a:spAutoFit/>
          </a:bodyPr>
          <a:lstStyle/>
          <a:p>
            <a:pPr algn="ctr"/>
            <a:r>
              <a:rPr sz="1600" b="1" i="0">
                <a:solidFill>
                  <a:srgbClr val="14B8A6"/>
                </a:solidFill>
                <a:latin typeface="Inter Display"/>
              </a:rPr>
              <a:t>✓</a:t>
            </a:r>
          </a:p>
        </p:txBody>
      </p:sp>
      <p:sp>
        <p:nvSpPr>
          <p:cNvPr id="15" name="TextBox 14"/>
          <p:cNvSpPr txBox="1"/>
          <p:nvPr/>
        </p:nvSpPr>
        <p:spPr>
          <a:xfrm>
            <a:off x="6720840" y="2770632"/>
            <a:ext cx="1645920" cy="256032"/>
          </a:xfrm>
          <a:prstGeom prst="rect">
            <a:avLst/>
          </a:prstGeom>
          <a:noFill/>
        </p:spPr>
        <p:txBody>
          <a:bodyPr wrap="square" lIns="36576" rIns="36576" tIns="36576" bIns="36576" anchor="t">
            <a:normAutofit/>
          </a:bodyPr>
          <a:lstStyle/>
          <a:p>
            <a:pPr algn="l"/>
            <a:r>
              <a:rPr sz="1150" b="1" i="0">
                <a:solidFill>
                  <a:srgbClr val="FFFFFF"/>
                </a:solidFill>
                <a:latin typeface="Inter Display"/>
              </a:rPr>
              <a:t>Voice improvement</a:t>
            </a:r>
          </a:p>
        </p:txBody>
      </p:sp>
      <p:sp>
        <p:nvSpPr>
          <p:cNvPr id="16" name="TextBox 15"/>
          <p:cNvSpPr txBox="1"/>
          <p:nvPr/>
        </p:nvSpPr>
        <p:spPr>
          <a:xfrm>
            <a:off x="8366760" y="2770632"/>
            <a:ext cx="2834640" cy="320040"/>
          </a:xfrm>
          <a:prstGeom prst="rect">
            <a:avLst/>
          </a:prstGeom>
          <a:noFill/>
        </p:spPr>
        <p:txBody>
          <a:bodyPr wrap="square" lIns="36576" rIns="36576" tIns="36576" bIns="36576" anchor="t">
            <a:normAutofit/>
          </a:bodyPr>
          <a:lstStyle/>
          <a:p>
            <a:pPr algn="l"/>
            <a:r>
              <a:rPr sz="1050" b="0" i="0">
                <a:solidFill>
                  <a:srgbClr val="DDE9F7"/>
                </a:solidFill>
                <a:latin typeface="Inter"/>
              </a:rPr>
              <a:t>Replace generic wording with a Voice Card pattern.</a:t>
            </a:r>
          </a:p>
        </p:txBody>
      </p:sp>
      <p:sp>
        <p:nvSpPr>
          <p:cNvPr id="17" name="TextBox 16"/>
          <p:cNvSpPr txBox="1"/>
          <p:nvPr/>
        </p:nvSpPr>
        <p:spPr>
          <a:xfrm>
            <a:off x="6263640" y="3529584"/>
            <a:ext cx="365760" cy="320040"/>
          </a:xfrm>
          <a:prstGeom prst="rect">
            <a:avLst/>
          </a:prstGeom>
          <a:noFill/>
        </p:spPr>
        <p:txBody>
          <a:bodyPr wrap="square" lIns="36576" rIns="36576" tIns="36576" bIns="36576" anchor="t">
            <a:spAutoFit/>
          </a:bodyPr>
          <a:lstStyle/>
          <a:p>
            <a:pPr algn="ctr"/>
            <a:r>
              <a:rPr sz="1600" b="1" i="0">
                <a:solidFill>
                  <a:srgbClr val="14B8A6"/>
                </a:solidFill>
                <a:latin typeface="Inter Display"/>
              </a:rPr>
              <a:t>✓</a:t>
            </a:r>
          </a:p>
        </p:txBody>
      </p:sp>
      <p:sp>
        <p:nvSpPr>
          <p:cNvPr id="18" name="TextBox 17"/>
          <p:cNvSpPr txBox="1"/>
          <p:nvPr/>
        </p:nvSpPr>
        <p:spPr>
          <a:xfrm>
            <a:off x="6720840" y="3529584"/>
            <a:ext cx="1645920" cy="256032"/>
          </a:xfrm>
          <a:prstGeom prst="rect">
            <a:avLst/>
          </a:prstGeom>
          <a:noFill/>
        </p:spPr>
        <p:txBody>
          <a:bodyPr wrap="square" lIns="36576" rIns="36576" tIns="36576" bIns="36576" anchor="t">
            <a:normAutofit/>
          </a:bodyPr>
          <a:lstStyle/>
          <a:p>
            <a:pPr algn="l"/>
            <a:r>
              <a:rPr sz="1150" b="1" i="0">
                <a:solidFill>
                  <a:srgbClr val="FFFFFF"/>
                </a:solidFill>
                <a:latin typeface="Inter Display"/>
              </a:rPr>
              <a:t>Reader usefulness</a:t>
            </a:r>
          </a:p>
        </p:txBody>
      </p:sp>
      <p:sp>
        <p:nvSpPr>
          <p:cNvPr id="19" name="TextBox 18"/>
          <p:cNvSpPr txBox="1"/>
          <p:nvPr/>
        </p:nvSpPr>
        <p:spPr>
          <a:xfrm>
            <a:off x="8366760" y="3529584"/>
            <a:ext cx="2834640" cy="320040"/>
          </a:xfrm>
          <a:prstGeom prst="rect">
            <a:avLst/>
          </a:prstGeom>
          <a:noFill/>
        </p:spPr>
        <p:txBody>
          <a:bodyPr wrap="square" lIns="36576" rIns="36576" tIns="36576" bIns="36576" anchor="t">
            <a:normAutofit/>
          </a:bodyPr>
          <a:lstStyle/>
          <a:p>
            <a:pPr algn="l"/>
            <a:r>
              <a:rPr sz="1050" b="0" i="0">
                <a:solidFill>
                  <a:srgbClr val="DDE9F7"/>
                </a:solidFill>
                <a:latin typeface="Inter"/>
              </a:rPr>
              <a:t>Make the practical move or next step clearer.</a:t>
            </a:r>
          </a:p>
        </p:txBody>
      </p:sp>
      <p:sp>
        <p:nvSpPr>
          <p:cNvPr id="20" name="TextBox 19"/>
          <p:cNvSpPr txBox="1"/>
          <p:nvPr/>
        </p:nvSpPr>
        <p:spPr>
          <a:xfrm>
            <a:off x="6263640" y="4288536"/>
            <a:ext cx="365760" cy="320040"/>
          </a:xfrm>
          <a:prstGeom prst="rect">
            <a:avLst/>
          </a:prstGeom>
          <a:noFill/>
        </p:spPr>
        <p:txBody>
          <a:bodyPr wrap="square" lIns="36576" rIns="36576" tIns="36576" bIns="36576" anchor="t">
            <a:spAutoFit/>
          </a:bodyPr>
          <a:lstStyle/>
          <a:p>
            <a:pPr algn="ctr"/>
            <a:r>
              <a:rPr sz="1600" b="1" i="0">
                <a:solidFill>
                  <a:srgbClr val="14B8A6"/>
                </a:solidFill>
                <a:latin typeface="Inter Display"/>
              </a:rPr>
              <a:t>✓</a:t>
            </a:r>
          </a:p>
        </p:txBody>
      </p:sp>
      <p:sp>
        <p:nvSpPr>
          <p:cNvPr id="21" name="TextBox 20"/>
          <p:cNvSpPr txBox="1"/>
          <p:nvPr/>
        </p:nvSpPr>
        <p:spPr>
          <a:xfrm>
            <a:off x="6720840" y="4288536"/>
            <a:ext cx="1645920" cy="256032"/>
          </a:xfrm>
          <a:prstGeom prst="rect">
            <a:avLst/>
          </a:prstGeom>
          <a:noFill/>
        </p:spPr>
        <p:txBody>
          <a:bodyPr wrap="square" lIns="36576" rIns="36576" tIns="36576" bIns="36576" anchor="t">
            <a:normAutofit/>
          </a:bodyPr>
          <a:lstStyle/>
          <a:p>
            <a:pPr algn="l"/>
            <a:r>
              <a:rPr sz="1150" b="1" i="0">
                <a:solidFill>
                  <a:srgbClr val="FFFFFF"/>
                </a:solidFill>
                <a:latin typeface="Inter Display"/>
              </a:rPr>
              <a:t>Decision</a:t>
            </a:r>
          </a:p>
        </p:txBody>
      </p:sp>
      <p:sp>
        <p:nvSpPr>
          <p:cNvPr id="22" name="TextBox 21"/>
          <p:cNvSpPr txBox="1"/>
          <p:nvPr/>
        </p:nvSpPr>
        <p:spPr>
          <a:xfrm>
            <a:off x="8366760" y="4288536"/>
            <a:ext cx="2834640" cy="320040"/>
          </a:xfrm>
          <a:prstGeom prst="rect">
            <a:avLst/>
          </a:prstGeom>
          <a:noFill/>
        </p:spPr>
        <p:txBody>
          <a:bodyPr wrap="square" lIns="36576" rIns="36576" tIns="36576" bIns="36576" anchor="t">
            <a:normAutofit/>
          </a:bodyPr>
          <a:lstStyle/>
          <a:p>
            <a:pPr algn="l"/>
            <a:r>
              <a:rPr sz="1050" b="0" i="0">
                <a:solidFill>
                  <a:srgbClr val="DDE9F7"/>
                </a:solidFill>
                <a:latin typeface="Inter"/>
              </a:rPr>
              <a:t>Approved, revise, hold, or archive.</a:t>
            </a:r>
          </a:p>
        </p:txBody>
      </p:sp>
      <p:sp>
        <p:nvSpPr>
          <p:cNvPr id="23" name="Rounded Rectangle 22"/>
          <p:cNvSpPr/>
          <p:nvPr/>
        </p:nvSpPr>
        <p:spPr>
          <a:xfrm>
            <a:off x="6446520" y="5001768"/>
            <a:ext cx="4709160" cy="365760"/>
          </a:xfrm>
          <a:prstGeom prst="roundRect">
            <a:avLst/>
          </a:prstGeom>
          <a:solidFill>
            <a:srgbClr val="06101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5084064"/>
            <a:ext cx="4343400" cy="201168"/>
          </a:xfrm>
          <a:prstGeom prst="rect">
            <a:avLst/>
          </a:prstGeom>
          <a:noFill/>
        </p:spPr>
        <p:txBody>
          <a:bodyPr wrap="square" lIns="36576" rIns="36576" tIns="36576" bIns="36576" anchor="t">
            <a:normAutofit/>
          </a:bodyPr>
          <a:lstStyle/>
          <a:p>
            <a:pPr algn="ctr"/>
            <a:r>
              <a:rPr sz="1150" b="1" i="0">
                <a:solidFill>
                  <a:srgbClr val="FFFFFF"/>
                </a:solidFill>
                <a:latin typeface="Inter"/>
              </a:rPr>
              <a:t>Record reviewer • status • date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04</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30</a:t>
            </a:r>
          </a:p>
        </p:txBody>
      </p:sp>
      <p:pic>
        <p:nvPicPr>
          <p:cNvPr id="5" name="Picture 4" descr="09_lesson_08_approval_lane.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31</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14B8A6"/>
                </a:solidFill>
                <a:latin typeface="Inter Display"/>
              </a:rPr>
              <a:t>LESSON 8</a:t>
            </a:r>
          </a:p>
        </p:txBody>
      </p:sp>
      <p:sp>
        <p:nvSpPr>
          <p:cNvPr id="7" name="Rounded Rectangle 6"/>
          <p:cNvSpPr/>
          <p:nvPr/>
        </p:nvSpPr>
        <p:spPr>
          <a:xfrm>
            <a:off x="457200" y="804672"/>
            <a:ext cx="50292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08</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Create the approval lane</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Roles and risk levels make publication decisions visible.</a:t>
            </a:r>
          </a:p>
        </p:txBody>
      </p:sp>
      <p:sp>
        <p:nvSpPr>
          <p:cNvPr id="11" name="Rounded Rectangle 10"/>
          <p:cNvSpPr/>
          <p:nvPr/>
        </p:nvSpPr>
        <p:spPr>
          <a:xfrm>
            <a:off x="594360" y="1920240"/>
            <a:ext cx="3383280" cy="9144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185416"/>
            <a:ext cx="3054096" cy="329184"/>
          </a:xfrm>
          <a:prstGeom prst="rect">
            <a:avLst/>
          </a:prstGeom>
          <a:noFill/>
        </p:spPr>
        <p:txBody>
          <a:bodyPr wrap="square" lIns="36576" rIns="36576" tIns="36576" bIns="36576" anchor="t">
            <a:normAutofit/>
          </a:bodyPr>
          <a:lstStyle/>
          <a:p>
            <a:pPr algn="ctr"/>
            <a:r>
              <a:rPr sz="1550" b="1" i="0">
                <a:solidFill>
                  <a:srgbClr val="FFFFFF"/>
                </a:solidFill>
                <a:latin typeface="Inter Display"/>
              </a:rPr>
              <a:t>Source owner</a:t>
            </a:r>
          </a:p>
        </p:txBody>
      </p:sp>
      <p:sp>
        <p:nvSpPr>
          <p:cNvPr id="13" name="Rounded Rectangle 12"/>
          <p:cNvSpPr/>
          <p:nvPr/>
        </p:nvSpPr>
        <p:spPr>
          <a:xfrm>
            <a:off x="4389120" y="1920240"/>
            <a:ext cx="3383280" cy="9144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185416"/>
            <a:ext cx="3054096" cy="329184"/>
          </a:xfrm>
          <a:prstGeom prst="rect">
            <a:avLst/>
          </a:prstGeom>
          <a:noFill/>
        </p:spPr>
        <p:txBody>
          <a:bodyPr wrap="square" lIns="36576" rIns="36576" tIns="36576" bIns="36576" anchor="t">
            <a:normAutofit/>
          </a:bodyPr>
          <a:lstStyle/>
          <a:p>
            <a:pPr algn="ctr"/>
            <a:r>
              <a:rPr sz="1550" b="1" i="0">
                <a:solidFill>
                  <a:srgbClr val="FFFFFF"/>
                </a:solidFill>
                <a:latin typeface="Inter Display"/>
              </a:rPr>
              <a:t>Writer</a:t>
            </a:r>
          </a:p>
        </p:txBody>
      </p:sp>
      <p:sp>
        <p:nvSpPr>
          <p:cNvPr id="15" name="Rounded Rectangle 14"/>
          <p:cNvSpPr/>
          <p:nvPr/>
        </p:nvSpPr>
        <p:spPr>
          <a:xfrm>
            <a:off x="8183880" y="1920240"/>
            <a:ext cx="3383280" cy="9144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2185416"/>
            <a:ext cx="3054096" cy="329184"/>
          </a:xfrm>
          <a:prstGeom prst="rect">
            <a:avLst/>
          </a:prstGeom>
          <a:noFill/>
        </p:spPr>
        <p:txBody>
          <a:bodyPr wrap="square" lIns="36576" rIns="36576" tIns="36576" bIns="36576" anchor="t">
            <a:normAutofit/>
          </a:bodyPr>
          <a:lstStyle/>
          <a:p>
            <a:pPr algn="ctr"/>
            <a:r>
              <a:rPr sz="1550" b="1" i="0">
                <a:solidFill>
                  <a:srgbClr val="FFFFFF"/>
                </a:solidFill>
                <a:latin typeface="Inter Display"/>
              </a:rPr>
              <a:t>Reviewer</a:t>
            </a:r>
          </a:p>
        </p:txBody>
      </p:sp>
      <p:sp>
        <p:nvSpPr>
          <p:cNvPr id="17" name="Rounded Rectangle 16"/>
          <p:cNvSpPr/>
          <p:nvPr/>
        </p:nvSpPr>
        <p:spPr>
          <a:xfrm>
            <a:off x="594360" y="3108960"/>
            <a:ext cx="3383280" cy="9144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374136"/>
            <a:ext cx="3054096" cy="329184"/>
          </a:xfrm>
          <a:prstGeom prst="rect">
            <a:avLst/>
          </a:prstGeom>
          <a:noFill/>
        </p:spPr>
        <p:txBody>
          <a:bodyPr wrap="square" lIns="36576" rIns="36576" tIns="36576" bIns="36576" anchor="t">
            <a:normAutofit/>
          </a:bodyPr>
          <a:lstStyle/>
          <a:p>
            <a:pPr algn="ctr"/>
            <a:r>
              <a:rPr sz="1550" b="1" i="0">
                <a:solidFill>
                  <a:srgbClr val="FFFFFF"/>
                </a:solidFill>
                <a:latin typeface="Inter Display"/>
              </a:rPr>
              <a:t>Approver</a:t>
            </a:r>
          </a:p>
        </p:txBody>
      </p:sp>
      <p:sp>
        <p:nvSpPr>
          <p:cNvPr id="19" name="Rounded Rectangle 18"/>
          <p:cNvSpPr/>
          <p:nvPr/>
        </p:nvSpPr>
        <p:spPr>
          <a:xfrm>
            <a:off x="4389120" y="3108960"/>
            <a:ext cx="3383280" cy="9144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3374136"/>
            <a:ext cx="3054096" cy="329184"/>
          </a:xfrm>
          <a:prstGeom prst="rect">
            <a:avLst/>
          </a:prstGeom>
          <a:noFill/>
        </p:spPr>
        <p:txBody>
          <a:bodyPr wrap="square" lIns="36576" rIns="36576" tIns="36576" bIns="36576" anchor="t">
            <a:normAutofit/>
          </a:bodyPr>
          <a:lstStyle/>
          <a:p>
            <a:pPr algn="ctr"/>
            <a:r>
              <a:rPr sz="1550" b="1" i="0">
                <a:solidFill>
                  <a:srgbClr val="FFFFFF"/>
                </a:solidFill>
                <a:latin typeface="Inter Display"/>
              </a:rPr>
              <a:t>Publisher</a:t>
            </a:r>
          </a:p>
        </p:txBody>
      </p:sp>
      <p:sp>
        <p:nvSpPr>
          <p:cNvPr id="21" name="Rounded Rectangle 20"/>
          <p:cNvSpPr/>
          <p:nvPr/>
        </p:nvSpPr>
        <p:spPr>
          <a:xfrm>
            <a:off x="8183880" y="3108960"/>
            <a:ext cx="3383280" cy="9144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48472" y="3374136"/>
            <a:ext cx="3054096" cy="329184"/>
          </a:xfrm>
          <a:prstGeom prst="rect">
            <a:avLst/>
          </a:prstGeom>
          <a:noFill/>
        </p:spPr>
        <p:txBody>
          <a:bodyPr wrap="square" lIns="36576" rIns="36576" tIns="36576" bIns="36576" anchor="t">
            <a:normAutofit/>
          </a:bodyPr>
          <a:lstStyle/>
          <a:p>
            <a:pPr algn="ctr"/>
            <a:r>
              <a:rPr sz="1550" b="1" i="0">
                <a:solidFill>
                  <a:srgbClr val="FFFFFF"/>
                </a:solidFill>
                <a:latin typeface="Inter Display"/>
              </a:rPr>
              <a:t>Response owner</a:t>
            </a:r>
          </a:p>
        </p:txBody>
      </p:sp>
      <p:sp>
        <p:nvSpPr>
          <p:cNvPr id="23" name="TextBox 22"/>
          <p:cNvSpPr txBox="1"/>
          <p:nvPr/>
        </p:nvSpPr>
        <p:spPr>
          <a:xfrm>
            <a:off x="658368" y="4572000"/>
            <a:ext cx="1371600" cy="274320"/>
          </a:xfrm>
          <a:prstGeom prst="rect">
            <a:avLst/>
          </a:prstGeom>
          <a:noFill/>
        </p:spPr>
        <p:txBody>
          <a:bodyPr wrap="square" lIns="36576" rIns="36576" tIns="36576" bIns="36576" anchor="t">
            <a:spAutoFit/>
          </a:bodyPr>
          <a:lstStyle/>
          <a:p>
            <a:pPr algn="l"/>
            <a:r>
              <a:rPr sz="1200" b="1" i="0">
                <a:solidFill>
                  <a:srgbClr val="14B8A6"/>
                </a:solidFill>
                <a:latin typeface="Inter Display"/>
              </a:rPr>
              <a:t>Risk levels</a:t>
            </a:r>
          </a:p>
        </p:txBody>
      </p:sp>
      <p:sp>
        <p:nvSpPr>
          <p:cNvPr id="24" name="Rounded Rectangle 23"/>
          <p:cNvSpPr/>
          <p:nvPr/>
        </p:nvSpPr>
        <p:spPr>
          <a:xfrm>
            <a:off x="2011680" y="4315968"/>
            <a:ext cx="2834640" cy="100584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48840" y="4498848"/>
            <a:ext cx="2560320" cy="228600"/>
          </a:xfrm>
          <a:prstGeom prst="rect">
            <a:avLst/>
          </a:prstGeom>
          <a:noFill/>
        </p:spPr>
        <p:txBody>
          <a:bodyPr wrap="square" lIns="36576" rIns="36576" tIns="36576" bIns="36576" anchor="t">
            <a:normAutofit/>
          </a:bodyPr>
          <a:lstStyle/>
          <a:p>
            <a:pPr algn="ctr"/>
            <a:r>
              <a:rPr sz="1200" b="1" i="0">
                <a:solidFill>
                  <a:srgbClr val="3B82F6"/>
                </a:solidFill>
                <a:latin typeface="Inter Display"/>
              </a:rPr>
              <a:t>STANDARD</a:t>
            </a:r>
          </a:p>
        </p:txBody>
      </p:sp>
      <p:sp>
        <p:nvSpPr>
          <p:cNvPr id="26" name="TextBox 25"/>
          <p:cNvSpPr txBox="1"/>
          <p:nvPr/>
        </p:nvSpPr>
        <p:spPr>
          <a:xfrm>
            <a:off x="2176272" y="4800600"/>
            <a:ext cx="2514600" cy="292608"/>
          </a:xfrm>
          <a:prstGeom prst="rect">
            <a:avLst/>
          </a:prstGeom>
          <a:noFill/>
        </p:spPr>
        <p:txBody>
          <a:bodyPr wrap="square" lIns="36576" rIns="36576" tIns="36576" bIns="36576" anchor="t">
            <a:normAutofit/>
          </a:bodyPr>
          <a:lstStyle/>
          <a:p>
            <a:pPr algn="ctr"/>
            <a:r>
              <a:rPr sz="980" b="0" i="0">
                <a:solidFill>
                  <a:srgbClr val="DDE9F7"/>
                </a:solidFill>
                <a:latin typeface="Inter"/>
              </a:rPr>
              <a:t>Routine teaching, approved source.</a:t>
            </a:r>
          </a:p>
        </p:txBody>
      </p:sp>
      <p:sp>
        <p:nvSpPr>
          <p:cNvPr id="27" name="Rounded Rectangle 26"/>
          <p:cNvSpPr/>
          <p:nvPr/>
        </p:nvSpPr>
        <p:spPr>
          <a:xfrm>
            <a:off x="5166360" y="4315968"/>
            <a:ext cx="2834640" cy="1005840"/>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4498848"/>
            <a:ext cx="2560320" cy="228600"/>
          </a:xfrm>
          <a:prstGeom prst="rect">
            <a:avLst/>
          </a:prstGeom>
          <a:noFill/>
        </p:spPr>
        <p:txBody>
          <a:bodyPr wrap="square" lIns="36576" rIns="36576" tIns="36576" bIns="36576" anchor="t">
            <a:normAutofit/>
          </a:bodyPr>
          <a:lstStyle/>
          <a:p>
            <a:pPr algn="ctr"/>
            <a:r>
              <a:rPr sz="1200" b="1" i="0">
                <a:solidFill>
                  <a:srgbClr val="8B5CF6"/>
                </a:solidFill>
                <a:latin typeface="Inter Display"/>
              </a:rPr>
              <a:t>SENSITIVE</a:t>
            </a:r>
          </a:p>
        </p:txBody>
      </p:sp>
      <p:sp>
        <p:nvSpPr>
          <p:cNvPr id="29" name="TextBox 28"/>
          <p:cNvSpPr txBox="1"/>
          <p:nvPr/>
        </p:nvSpPr>
        <p:spPr>
          <a:xfrm>
            <a:off x="5330952" y="4800600"/>
            <a:ext cx="2514600" cy="292608"/>
          </a:xfrm>
          <a:prstGeom prst="rect">
            <a:avLst/>
          </a:prstGeom>
          <a:noFill/>
        </p:spPr>
        <p:txBody>
          <a:bodyPr wrap="square" lIns="36576" rIns="36576" tIns="36576" bIns="36576" anchor="t">
            <a:normAutofit/>
          </a:bodyPr>
          <a:lstStyle/>
          <a:p>
            <a:pPr algn="ctr"/>
            <a:r>
              <a:rPr sz="980" b="0" i="0">
                <a:solidFill>
                  <a:srgbClr val="DDE9F7"/>
                </a:solidFill>
                <a:latin typeface="Inter"/>
              </a:rPr>
              <a:t>Customer, legal, health, finance, claims, privacy.</a:t>
            </a:r>
          </a:p>
        </p:txBody>
      </p:sp>
      <p:sp>
        <p:nvSpPr>
          <p:cNvPr id="30" name="Rounded Rectangle 29"/>
          <p:cNvSpPr/>
          <p:nvPr/>
        </p:nvSpPr>
        <p:spPr>
          <a:xfrm>
            <a:off x="8321040" y="4315968"/>
            <a:ext cx="2834640" cy="1005840"/>
          </a:xfrm>
          <a:prstGeom prst="roundRect">
            <a:avLst/>
          </a:prstGeom>
          <a:solidFill>
            <a:srgbClr val="0A1730"/>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498848"/>
            <a:ext cx="2560320" cy="228600"/>
          </a:xfrm>
          <a:prstGeom prst="rect">
            <a:avLst/>
          </a:prstGeom>
          <a:noFill/>
        </p:spPr>
        <p:txBody>
          <a:bodyPr wrap="square" lIns="36576" rIns="36576" tIns="36576" bIns="36576" anchor="t">
            <a:normAutofit/>
          </a:bodyPr>
          <a:lstStyle/>
          <a:p>
            <a:pPr algn="ctr"/>
            <a:r>
              <a:rPr sz="1200" b="1" i="0">
                <a:solidFill>
                  <a:srgbClr val="FB7185"/>
                </a:solidFill>
                <a:latin typeface="Inter Display"/>
              </a:rPr>
              <a:t>URGENT</a:t>
            </a:r>
          </a:p>
        </p:txBody>
      </p:sp>
      <p:sp>
        <p:nvSpPr>
          <p:cNvPr id="32" name="TextBox 31"/>
          <p:cNvSpPr txBox="1"/>
          <p:nvPr/>
        </p:nvSpPr>
        <p:spPr>
          <a:xfrm>
            <a:off x="8485632" y="4800600"/>
            <a:ext cx="2514600" cy="292608"/>
          </a:xfrm>
          <a:prstGeom prst="rect">
            <a:avLst/>
          </a:prstGeom>
          <a:noFill/>
        </p:spPr>
        <p:txBody>
          <a:bodyPr wrap="square" lIns="36576" rIns="36576" tIns="36576" bIns="36576" anchor="t">
            <a:normAutofit/>
          </a:bodyPr>
          <a:lstStyle/>
          <a:p>
            <a:pPr algn="ctr"/>
            <a:r>
              <a:rPr sz="980" b="0" i="0">
                <a:solidFill>
                  <a:srgbClr val="DDE9F7"/>
                </a:solidFill>
                <a:latin typeface="Inter"/>
              </a:rPr>
              <a:t>Time-sensitive correction or response.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32</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14B8A6"/>
                </a:solidFill>
                <a:latin typeface="Inter Display"/>
              </a:rPr>
              <a:t>HANDS-ON 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Write the one-page Approval Lane SOP</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Define deadlines, reapproval triggers, and the correction path.</a:t>
            </a:r>
          </a:p>
        </p:txBody>
      </p:sp>
      <p:sp>
        <p:nvSpPr>
          <p:cNvPr id="9" name="TextBox 8"/>
          <p:cNvSpPr txBox="1"/>
          <p:nvPr/>
        </p:nvSpPr>
        <p:spPr>
          <a:xfrm>
            <a:off x="640080" y="1783080"/>
            <a:ext cx="5029200" cy="3474720"/>
          </a:xfrm>
          <a:prstGeom prst="rect">
            <a:avLst/>
          </a:prstGeom>
          <a:noFill/>
        </p:spPr>
        <p:txBody>
          <a:bodyPr wrap="square" lIns="18288" rIns="18288">
            <a:spAutoFit/>
          </a:bodyPr>
          <a:lstStyle/>
          <a:p>
            <a:pPr>
              <a:spcAft>
                <a:spcPts val="500"/>
              </a:spcAft>
              <a:defRPr sz="1600">
                <a:solidFill>
                  <a:srgbClr val="DDE9F7"/>
                </a:solidFill>
                <a:latin typeface="Inter"/>
              </a:defRPr>
            </a:pPr>
            <a:r>
              <a:t>1.  Name the source owner, writer, reviewer, approver, publisher, and response owner for your current team.</a:t>
            </a:r>
          </a:p>
          <a:p>
            <a:pPr>
              <a:spcAft>
                <a:spcPts val="500"/>
              </a:spcAft>
              <a:defRPr sz="1600">
                <a:solidFill>
                  <a:srgbClr val="DDE9F7"/>
                </a:solidFill>
                <a:latin typeface="Inter"/>
              </a:defRPr>
            </a:pPr>
            <a:r>
              <a:t>2.  Define standard, sensitive, and urgent content categories.</a:t>
            </a:r>
          </a:p>
          <a:p>
            <a:pPr>
              <a:spcAft>
                <a:spcPts val="500"/>
              </a:spcAft>
              <a:defRPr sz="1600">
                <a:solidFill>
                  <a:srgbClr val="DDE9F7"/>
                </a:solidFill>
                <a:latin typeface="Inter"/>
              </a:defRPr>
            </a:pPr>
            <a:r>
              <a:t>3.  Set the normal review window and publication cutoff.</a:t>
            </a:r>
          </a:p>
          <a:p>
            <a:pPr>
              <a:spcAft>
                <a:spcPts val="500"/>
              </a:spcAft>
              <a:defRPr sz="1600">
                <a:solidFill>
                  <a:srgbClr val="DDE9F7"/>
                </a:solidFill>
                <a:latin typeface="Inter"/>
              </a:defRPr>
            </a:pPr>
            <a:r>
              <a:t>4.  List material changes that require reapproval.</a:t>
            </a:r>
          </a:p>
          <a:p>
            <a:pPr>
              <a:spcAft>
                <a:spcPts val="500"/>
              </a:spcAft>
              <a:defRPr sz="1600">
                <a:solidFill>
                  <a:srgbClr val="DDE9F7"/>
                </a:solidFill>
                <a:latin typeface="Inter"/>
              </a:defRPr>
            </a:pPr>
            <a:r>
              <a:t>5.  Write the post-publication check and correction process.</a:t>
            </a:r>
          </a:p>
        </p:txBody>
      </p:sp>
      <p:sp>
        <p:nvSpPr>
          <p:cNvPr id="10" name="Rounded Rectangle 9"/>
          <p:cNvSpPr/>
          <p:nvPr/>
        </p:nvSpPr>
        <p:spPr>
          <a:xfrm>
            <a:off x="5989320" y="1600200"/>
            <a:ext cx="5577840" cy="402336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874519"/>
            <a:ext cx="1097280" cy="237744"/>
          </a:xfrm>
          <a:prstGeom prst="rect">
            <a:avLst/>
          </a:prstGeom>
          <a:noFill/>
        </p:spPr>
        <p:txBody>
          <a:bodyPr wrap="square" lIns="36576" rIns="36576" tIns="36576" bIns="36576" anchor="t">
            <a:spAutoFit/>
          </a:bodyPr>
          <a:lstStyle/>
          <a:p>
            <a:pPr algn="l"/>
            <a:r>
              <a:rPr sz="1000" b="1" i="0">
                <a:solidFill>
                  <a:srgbClr val="14B8A6"/>
                </a:solidFill>
                <a:latin typeface="Inter Display"/>
              </a:rPr>
              <a:t>WHO</a:t>
            </a:r>
          </a:p>
        </p:txBody>
      </p:sp>
      <p:sp>
        <p:nvSpPr>
          <p:cNvPr id="12" name="TextBox 11"/>
          <p:cNvSpPr txBox="1"/>
          <p:nvPr/>
        </p:nvSpPr>
        <p:spPr>
          <a:xfrm>
            <a:off x="7360920" y="1874519"/>
            <a:ext cx="3794760" cy="310896"/>
          </a:xfrm>
          <a:prstGeom prst="rect">
            <a:avLst/>
          </a:prstGeom>
          <a:noFill/>
        </p:spPr>
        <p:txBody>
          <a:bodyPr wrap="square" lIns="36576" rIns="36576" tIns="36576" bIns="36576" anchor="t">
            <a:normAutofit/>
          </a:bodyPr>
          <a:lstStyle/>
          <a:p>
            <a:pPr algn="l"/>
            <a:r>
              <a:rPr sz="1120" b="1" i="0">
                <a:solidFill>
                  <a:srgbClr val="FFFFFF"/>
                </a:solidFill>
                <a:latin typeface="Inter"/>
              </a:rPr>
              <a:t>Named roles + backup approver</a:t>
            </a:r>
          </a:p>
        </p:txBody>
      </p:sp>
      <p:sp>
        <p:nvSpPr>
          <p:cNvPr id="13" name="TextBox 12"/>
          <p:cNvSpPr txBox="1"/>
          <p:nvPr/>
        </p:nvSpPr>
        <p:spPr>
          <a:xfrm>
            <a:off x="6263640" y="2532887"/>
            <a:ext cx="1097280" cy="237744"/>
          </a:xfrm>
          <a:prstGeom prst="rect">
            <a:avLst/>
          </a:prstGeom>
          <a:noFill/>
        </p:spPr>
        <p:txBody>
          <a:bodyPr wrap="square" lIns="36576" rIns="36576" tIns="36576" bIns="36576" anchor="t">
            <a:spAutoFit/>
          </a:bodyPr>
          <a:lstStyle/>
          <a:p>
            <a:pPr algn="l"/>
            <a:r>
              <a:rPr sz="1000" b="1" i="0">
                <a:solidFill>
                  <a:srgbClr val="14B8A6"/>
                </a:solidFill>
                <a:latin typeface="Inter Display"/>
              </a:rPr>
              <a:t>WHAT</a:t>
            </a:r>
          </a:p>
        </p:txBody>
      </p:sp>
      <p:sp>
        <p:nvSpPr>
          <p:cNvPr id="14" name="TextBox 13"/>
          <p:cNvSpPr txBox="1"/>
          <p:nvPr/>
        </p:nvSpPr>
        <p:spPr>
          <a:xfrm>
            <a:off x="7360920" y="2532887"/>
            <a:ext cx="3794760" cy="310896"/>
          </a:xfrm>
          <a:prstGeom prst="rect">
            <a:avLst/>
          </a:prstGeom>
          <a:noFill/>
        </p:spPr>
        <p:txBody>
          <a:bodyPr wrap="square" lIns="36576" rIns="36576" tIns="36576" bIns="36576" anchor="t">
            <a:normAutofit/>
          </a:bodyPr>
          <a:lstStyle/>
          <a:p>
            <a:pPr algn="l"/>
            <a:r>
              <a:rPr sz="1120" b="1" i="0">
                <a:solidFill>
                  <a:srgbClr val="FFFFFF"/>
                </a:solidFill>
                <a:latin typeface="Inter"/>
              </a:rPr>
              <a:t>Standard, sensitive, and urgent categories</a:t>
            </a:r>
          </a:p>
        </p:txBody>
      </p:sp>
      <p:sp>
        <p:nvSpPr>
          <p:cNvPr id="15" name="TextBox 14"/>
          <p:cNvSpPr txBox="1"/>
          <p:nvPr/>
        </p:nvSpPr>
        <p:spPr>
          <a:xfrm>
            <a:off x="6263640" y="3191256"/>
            <a:ext cx="1097280" cy="237744"/>
          </a:xfrm>
          <a:prstGeom prst="rect">
            <a:avLst/>
          </a:prstGeom>
          <a:noFill/>
        </p:spPr>
        <p:txBody>
          <a:bodyPr wrap="square" lIns="36576" rIns="36576" tIns="36576" bIns="36576" anchor="t">
            <a:spAutoFit/>
          </a:bodyPr>
          <a:lstStyle/>
          <a:p>
            <a:pPr algn="l"/>
            <a:r>
              <a:rPr sz="1000" b="1" i="0">
                <a:solidFill>
                  <a:srgbClr val="14B8A6"/>
                </a:solidFill>
                <a:latin typeface="Inter Display"/>
              </a:rPr>
              <a:t>WHEN</a:t>
            </a:r>
          </a:p>
        </p:txBody>
      </p:sp>
      <p:sp>
        <p:nvSpPr>
          <p:cNvPr id="16" name="TextBox 15"/>
          <p:cNvSpPr txBox="1"/>
          <p:nvPr/>
        </p:nvSpPr>
        <p:spPr>
          <a:xfrm>
            <a:off x="7360920" y="3191256"/>
            <a:ext cx="3794760" cy="310896"/>
          </a:xfrm>
          <a:prstGeom prst="rect">
            <a:avLst/>
          </a:prstGeom>
          <a:noFill/>
        </p:spPr>
        <p:txBody>
          <a:bodyPr wrap="square" lIns="36576" rIns="36576" tIns="36576" bIns="36576" anchor="t">
            <a:normAutofit/>
          </a:bodyPr>
          <a:lstStyle/>
          <a:p>
            <a:pPr algn="l"/>
            <a:r>
              <a:rPr sz="1120" b="1" i="0">
                <a:solidFill>
                  <a:srgbClr val="FFFFFF"/>
                </a:solidFill>
                <a:latin typeface="Inter"/>
              </a:rPr>
              <a:t>Review windows + publication cutoff</a:t>
            </a:r>
          </a:p>
        </p:txBody>
      </p:sp>
      <p:sp>
        <p:nvSpPr>
          <p:cNvPr id="17" name="TextBox 16"/>
          <p:cNvSpPr txBox="1"/>
          <p:nvPr/>
        </p:nvSpPr>
        <p:spPr>
          <a:xfrm>
            <a:off x="6263640" y="3849624"/>
            <a:ext cx="1097280" cy="237744"/>
          </a:xfrm>
          <a:prstGeom prst="rect">
            <a:avLst/>
          </a:prstGeom>
          <a:noFill/>
        </p:spPr>
        <p:txBody>
          <a:bodyPr wrap="square" lIns="36576" rIns="36576" tIns="36576" bIns="36576" anchor="t">
            <a:spAutoFit/>
          </a:bodyPr>
          <a:lstStyle/>
          <a:p>
            <a:pPr algn="l"/>
            <a:r>
              <a:rPr sz="1000" b="1" i="0">
                <a:solidFill>
                  <a:srgbClr val="14B8A6"/>
                </a:solidFill>
                <a:latin typeface="Inter Display"/>
              </a:rPr>
              <a:t>REAPPROVAL</a:t>
            </a:r>
          </a:p>
        </p:txBody>
      </p:sp>
      <p:sp>
        <p:nvSpPr>
          <p:cNvPr id="18" name="TextBox 17"/>
          <p:cNvSpPr txBox="1"/>
          <p:nvPr/>
        </p:nvSpPr>
        <p:spPr>
          <a:xfrm>
            <a:off x="7360920" y="3849624"/>
            <a:ext cx="3794760" cy="310896"/>
          </a:xfrm>
          <a:prstGeom prst="rect">
            <a:avLst/>
          </a:prstGeom>
          <a:noFill/>
        </p:spPr>
        <p:txBody>
          <a:bodyPr wrap="square" lIns="36576" rIns="36576" tIns="36576" bIns="36576" anchor="t">
            <a:normAutofit/>
          </a:bodyPr>
          <a:lstStyle/>
          <a:p>
            <a:pPr algn="l"/>
            <a:r>
              <a:rPr sz="1120" b="1" i="0">
                <a:solidFill>
                  <a:srgbClr val="FFFFFF"/>
                </a:solidFill>
                <a:latin typeface="Inter"/>
              </a:rPr>
              <a:t>Material changes that reopen approval</a:t>
            </a:r>
          </a:p>
        </p:txBody>
      </p:sp>
      <p:sp>
        <p:nvSpPr>
          <p:cNvPr id="19" name="TextBox 18"/>
          <p:cNvSpPr txBox="1"/>
          <p:nvPr/>
        </p:nvSpPr>
        <p:spPr>
          <a:xfrm>
            <a:off x="6263640" y="4507992"/>
            <a:ext cx="1097280" cy="237744"/>
          </a:xfrm>
          <a:prstGeom prst="rect">
            <a:avLst/>
          </a:prstGeom>
          <a:noFill/>
        </p:spPr>
        <p:txBody>
          <a:bodyPr wrap="square" lIns="36576" rIns="36576" tIns="36576" bIns="36576" anchor="t">
            <a:spAutoFit/>
          </a:bodyPr>
          <a:lstStyle/>
          <a:p>
            <a:pPr algn="l"/>
            <a:r>
              <a:rPr sz="1000" b="1" i="0">
                <a:solidFill>
                  <a:srgbClr val="14B8A6"/>
                </a:solidFill>
                <a:latin typeface="Inter Display"/>
              </a:rPr>
              <a:t>AFTER</a:t>
            </a:r>
          </a:p>
        </p:txBody>
      </p:sp>
      <p:sp>
        <p:nvSpPr>
          <p:cNvPr id="20" name="TextBox 19"/>
          <p:cNvSpPr txBox="1"/>
          <p:nvPr/>
        </p:nvSpPr>
        <p:spPr>
          <a:xfrm>
            <a:off x="7360920" y="4507992"/>
            <a:ext cx="3794760" cy="310896"/>
          </a:xfrm>
          <a:prstGeom prst="rect">
            <a:avLst/>
          </a:prstGeom>
          <a:noFill/>
        </p:spPr>
        <p:txBody>
          <a:bodyPr wrap="square" lIns="36576" rIns="36576" tIns="36576" bIns="36576" anchor="t">
            <a:normAutofit/>
          </a:bodyPr>
          <a:lstStyle/>
          <a:p>
            <a:pPr algn="l"/>
            <a:r>
              <a:rPr sz="1120" b="1" i="0">
                <a:solidFill>
                  <a:srgbClr val="FFFFFF"/>
                </a:solidFill>
                <a:latin typeface="Inter"/>
              </a:rPr>
              <a:t>Post-publish check + correction / pause process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05</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33</a:t>
            </a:r>
          </a:p>
        </p:txBody>
      </p:sp>
      <p:sp>
        <p:nvSpPr>
          <p:cNvPr id="5" name="Rectangle 4"/>
          <p:cNvSpPr/>
          <p:nvPr/>
        </p:nvSpPr>
        <p:spPr>
          <a:xfrm>
            <a:off x="0" y="0"/>
            <a:ext cx="6080760" cy="6858000"/>
          </a:xfrm>
          <a:prstGeom prst="rect">
            <a:avLst/>
          </a:prstGeom>
          <a:solidFill>
            <a:srgbClr val="06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309360" y="1234440"/>
            <a:ext cx="5394960" cy="342900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6_diagram_translation_map.png"/>
          <p:cNvPicPr>
            <a:picLocks noChangeAspect="1"/>
          </p:cNvPicPr>
          <p:nvPr/>
        </p:nvPicPr>
        <p:blipFill>
          <a:blip r:embed="rId2"/>
          <a:stretch>
            <a:fillRect/>
          </a:stretch>
        </p:blipFill>
        <p:spPr>
          <a:xfrm>
            <a:off x="6428232" y="1498473"/>
            <a:ext cx="5157216" cy="2900934"/>
          </a:xfrm>
          <a:prstGeom prst="rect">
            <a:avLst/>
          </a:prstGeom>
        </p:spPr>
      </p:pic>
      <p:sp>
        <p:nvSpPr>
          <p:cNvPr id="8" name="Rounded Rectangle 7"/>
          <p:cNvSpPr/>
          <p:nvPr/>
        </p:nvSpPr>
        <p:spPr>
          <a:xfrm>
            <a:off x="502920" y="594360"/>
            <a:ext cx="658368" cy="658368"/>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94360"/>
            <a:ext cx="658368" cy="658368"/>
          </a:xfrm>
          <a:prstGeom prst="rect">
            <a:avLst/>
          </a:prstGeom>
          <a:noFill/>
        </p:spPr>
        <p:txBody>
          <a:bodyPr wrap="square" lIns="36576" rIns="36576" tIns="36576" bIns="36576" anchor="ctr">
            <a:normAutofit/>
          </a:bodyPr>
          <a:lstStyle/>
          <a:p>
            <a:pPr algn="ctr"/>
            <a:r>
              <a:rPr sz="2200" b="1" i="0">
                <a:solidFill>
                  <a:srgbClr val="FFFFFF"/>
                </a:solidFill>
                <a:latin typeface="Inter Display"/>
              </a:rPr>
              <a:t>05</a:t>
            </a:r>
          </a:p>
        </p:txBody>
      </p:sp>
      <p:sp>
        <p:nvSpPr>
          <p:cNvPr id="10" name="TextBox 9"/>
          <p:cNvSpPr txBox="1"/>
          <p:nvPr/>
        </p:nvSpPr>
        <p:spPr>
          <a:xfrm>
            <a:off x="1353312" y="658368"/>
            <a:ext cx="1828800" cy="228600"/>
          </a:xfrm>
          <a:prstGeom prst="rect">
            <a:avLst/>
          </a:prstGeom>
          <a:noFill/>
        </p:spPr>
        <p:txBody>
          <a:bodyPr wrap="square" lIns="36576" rIns="36576" tIns="36576" bIns="36576" anchor="t">
            <a:spAutoFit/>
          </a:bodyPr>
          <a:lstStyle/>
          <a:p>
            <a:pPr algn="l"/>
            <a:r>
              <a:rPr sz="1000" b="1" i="0">
                <a:solidFill>
                  <a:srgbClr val="22C55E"/>
                </a:solidFill>
                <a:latin typeface="Inter Display"/>
              </a:rPr>
              <a:t>MODULE</a:t>
            </a:r>
          </a:p>
        </p:txBody>
      </p:sp>
      <p:sp>
        <p:nvSpPr>
          <p:cNvPr id="11" name="TextBox 10"/>
          <p:cNvSpPr txBox="1"/>
          <p:nvPr/>
        </p:nvSpPr>
        <p:spPr>
          <a:xfrm>
            <a:off x="548640" y="1417320"/>
            <a:ext cx="5669280" cy="1371600"/>
          </a:xfrm>
          <a:prstGeom prst="rect">
            <a:avLst/>
          </a:prstGeom>
          <a:noFill/>
        </p:spPr>
        <p:txBody>
          <a:bodyPr wrap="square" lIns="36576" rIns="36576" tIns="36576" bIns="36576" anchor="t">
            <a:normAutofit/>
          </a:bodyPr>
          <a:lstStyle/>
          <a:p>
            <a:pPr algn="l"/>
            <a:r>
              <a:rPr sz="3200" b="1" i="0">
                <a:solidFill>
                  <a:srgbClr val="FFFFFF"/>
                </a:solidFill>
                <a:latin typeface="Inter Display"/>
              </a:rPr>
              <a:t>REPURPOSE INTO VIDEO AND EMAIL</a:t>
            </a:r>
          </a:p>
        </p:txBody>
      </p:sp>
      <p:sp>
        <p:nvSpPr>
          <p:cNvPr id="12" name="TextBox 11"/>
          <p:cNvSpPr txBox="1"/>
          <p:nvPr/>
        </p:nvSpPr>
        <p:spPr>
          <a:xfrm>
            <a:off x="594360" y="3063240"/>
            <a:ext cx="5257800" cy="1005840"/>
          </a:xfrm>
          <a:prstGeom prst="rect">
            <a:avLst/>
          </a:prstGeom>
          <a:noFill/>
        </p:spPr>
        <p:txBody>
          <a:bodyPr wrap="square" lIns="36576" rIns="36576" tIns="36576" bIns="36576" anchor="t">
            <a:normAutofit/>
          </a:bodyPr>
          <a:lstStyle/>
          <a:p>
            <a:pPr algn="l"/>
            <a:r>
              <a:rPr sz="1700" b="0" i="0">
                <a:solidFill>
                  <a:srgbClr val="DDE9F7"/>
                </a:solidFill>
                <a:latin typeface="Inter"/>
              </a:rPr>
              <a:t>A short-form video script, an email draft, and a one-to-many repurposing map.</a:t>
            </a:r>
          </a:p>
        </p:txBody>
      </p:sp>
      <p:sp>
        <p:nvSpPr>
          <p:cNvPr id="13" name="Rounded Rectangle 12"/>
          <p:cNvSpPr/>
          <p:nvPr/>
        </p:nvSpPr>
        <p:spPr>
          <a:xfrm>
            <a:off x="594360" y="4754880"/>
            <a:ext cx="5029200" cy="105156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56048"/>
            <a:ext cx="1828800" cy="228600"/>
          </a:xfrm>
          <a:prstGeom prst="rect">
            <a:avLst/>
          </a:prstGeom>
          <a:noFill/>
        </p:spPr>
        <p:txBody>
          <a:bodyPr wrap="square" lIns="36576" rIns="36576" tIns="36576" bIns="36576" anchor="t">
            <a:spAutoFit/>
          </a:bodyPr>
          <a:lstStyle/>
          <a:p>
            <a:pPr algn="l"/>
            <a:r>
              <a:rPr sz="900" b="1" i="0">
                <a:solidFill>
                  <a:srgbClr val="22C55E"/>
                </a:solidFill>
                <a:latin typeface="Inter Display"/>
              </a:rPr>
              <a:t>FACILITATOR FOCUS</a:t>
            </a:r>
          </a:p>
        </p:txBody>
      </p:sp>
      <p:sp>
        <p:nvSpPr>
          <p:cNvPr id="15" name="TextBox 14"/>
          <p:cNvSpPr txBox="1"/>
          <p:nvPr/>
        </p:nvSpPr>
        <p:spPr>
          <a:xfrm>
            <a:off x="822960" y="5257800"/>
            <a:ext cx="4480560" cy="384048"/>
          </a:xfrm>
          <a:prstGeom prst="rect">
            <a:avLst/>
          </a:prstGeom>
          <a:noFill/>
        </p:spPr>
        <p:txBody>
          <a:bodyPr wrap="square" lIns="36576" rIns="36576" tIns="36576" bIns="36576" anchor="t">
            <a:normAutofit/>
          </a:bodyPr>
          <a:lstStyle/>
          <a:p>
            <a:pPr algn="l"/>
            <a:r>
              <a:rPr sz="1300" b="1" i="0">
                <a:solidFill>
                  <a:srgbClr val="FFFFFF"/>
                </a:solidFill>
                <a:latin typeface="Inter"/>
              </a:rPr>
              <a:t>Translate one approved insight for video and email.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05</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34</a:t>
            </a:r>
          </a:p>
        </p:txBody>
      </p:sp>
      <p:pic>
        <p:nvPicPr>
          <p:cNvPr id="5" name="Picture 4" descr="10_lesson_09_translate_to_video.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35</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LESSON 9</a:t>
            </a:r>
          </a:p>
        </p:txBody>
      </p:sp>
      <p:sp>
        <p:nvSpPr>
          <p:cNvPr id="7" name="Rounded Rectangle 6"/>
          <p:cNvSpPr/>
          <p:nvPr/>
        </p:nvSpPr>
        <p:spPr>
          <a:xfrm>
            <a:off x="457200" y="804672"/>
            <a:ext cx="502920" cy="5029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09</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Translate the anchor into short-form video</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Preserve the idea; change the delivery for spoken and visual attention.</a:t>
            </a:r>
          </a:p>
        </p:txBody>
      </p:sp>
      <p:sp>
        <p:nvSpPr>
          <p:cNvPr id="11" name="Rounded Rectangle 10"/>
          <p:cNvSpPr/>
          <p:nvPr/>
        </p:nvSpPr>
        <p:spPr>
          <a:xfrm>
            <a:off x="502920" y="2240280"/>
            <a:ext cx="2011680" cy="21488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6152" y="2423160"/>
            <a:ext cx="594360" cy="594360"/>
          </a:xfrm>
          <a:prstGeom prst="rect">
            <a:avLst/>
          </a:prstGeom>
          <a:noFill/>
        </p:spPr>
        <p:txBody>
          <a:bodyPr wrap="square" lIns="36576" rIns="36576" tIns="36576" bIns="36576" anchor="ctr">
            <a:normAutofit/>
          </a:bodyPr>
          <a:lstStyle/>
          <a:p>
            <a:pPr algn="ctr"/>
            <a:r>
              <a:rPr sz="2300" b="1" i="0">
                <a:solidFill>
                  <a:srgbClr val="22C55E"/>
                </a:solidFill>
                <a:latin typeface="Inter Display"/>
              </a:rPr>
              <a:t>1</a:t>
            </a:r>
          </a:p>
        </p:txBody>
      </p:sp>
      <p:sp>
        <p:nvSpPr>
          <p:cNvPr id="13" name="TextBox 12"/>
          <p:cNvSpPr txBox="1"/>
          <p:nvPr/>
        </p:nvSpPr>
        <p:spPr>
          <a:xfrm>
            <a:off x="685800" y="3172968"/>
            <a:ext cx="1645920" cy="329184"/>
          </a:xfrm>
          <a:prstGeom prst="rect">
            <a:avLst/>
          </a:prstGeom>
          <a:noFill/>
        </p:spPr>
        <p:txBody>
          <a:bodyPr wrap="square" lIns="36576" rIns="36576" tIns="36576" bIns="36576" anchor="t">
            <a:normAutofit/>
          </a:bodyPr>
          <a:lstStyle/>
          <a:p>
            <a:pPr algn="ctr"/>
            <a:r>
              <a:rPr sz="1300" b="1" i="0">
                <a:solidFill>
                  <a:srgbClr val="FFFFFF"/>
                </a:solidFill>
                <a:latin typeface="Inter Display"/>
              </a:rPr>
              <a:t>HOOK</a:t>
            </a:r>
          </a:p>
        </p:txBody>
      </p:sp>
      <p:sp>
        <p:nvSpPr>
          <p:cNvPr id="14" name="TextBox 13"/>
          <p:cNvSpPr txBox="1"/>
          <p:nvPr/>
        </p:nvSpPr>
        <p:spPr>
          <a:xfrm>
            <a:off x="713232" y="3703320"/>
            <a:ext cx="1600200" cy="347472"/>
          </a:xfrm>
          <a:prstGeom prst="rect">
            <a:avLst/>
          </a:prstGeom>
          <a:noFill/>
        </p:spPr>
        <p:txBody>
          <a:bodyPr wrap="square" lIns="36576" rIns="36576" tIns="36576" bIns="36576" anchor="t">
            <a:normAutofit/>
          </a:bodyPr>
          <a:lstStyle/>
          <a:p>
            <a:pPr algn="ctr"/>
            <a:r>
              <a:rPr sz="1050" b="0" i="0">
                <a:solidFill>
                  <a:srgbClr val="DDE9F7"/>
                </a:solidFill>
                <a:latin typeface="Inter"/>
              </a:rPr>
              <a:t>Earn attention quickly.</a:t>
            </a:r>
          </a:p>
        </p:txBody>
      </p:sp>
      <p:sp>
        <p:nvSpPr>
          <p:cNvPr id="15" name="TextBox 14"/>
          <p:cNvSpPr txBox="1"/>
          <p:nvPr/>
        </p:nvSpPr>
        <p:spPr>
          <a:xfrm>
            <a:off x="2496312" y="3090672"/>
            <a:ext cx="347472" cy="32004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16" name="Rounded Rectangle 15"/>
          <p:cNvSpPr/>
          <p:nvPr/>
        </p:nvSpPr>
        <p:spPr>
          <a:xfrm>
            <a:off x="2843784" y="2240280"/>
            <a:ext cx="2011680" cy="21488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7016" y="2423160"/>
            <a:ext cx="594360" cy="594360"/>
          </a:xfrm>
          <a:prstGeom prst="rect">
            <a:avLst/>
          </a:prstGeom>
          <a:noFill/>
        </p:spPr>
        <p:txBody>
          <a:bodyPr wrap="square" lIns="36576" rIns="36576" tIns="36576" bIns="36576" anchor="ctr">
            <a:normAutofit/>
          </a:bodyPr>
          <a:lstStyle/>
          <a:p>
            <a:pPr algn="ctr"/>
            <a:r>
              <a:rPr sz="2300" b="1" i="0">
                <a:solidFill>
                  <a:srgbClr val="22C55E"/>
                </a:solidFill>
                <a:latin typeface="Inter Display"/>
              </a:rPr>
              <a:t>2</a:t>
            </a:r>
          </a:p>
        </p:txBody>
      </p:sp>
      <p:sp>
        <p:nvSpPr>
          <p:cNvPr id="18" name="TextBox 17"/>
          <p:cNvSpPr txBox="1"/>
          <p:nvPr/>
        </p:nvSpPr>
        <p:spPr>
          <a:xfrm>
            <a:off x="3026664" y="3172968"/>
            <a:ext cx="1645920" cy="329184"/>
          </a:xfrm>
          <a:prstGeom prst="rect">
            <a:avLst/>
          </a:prstGeom>
          <a:noFill/>
        </p:spPr>
        <p:txBody>
          <a:bodyPr wrap="square" lIns="36576" rIns="36576" tIns="36576" bIns="36576" anchor="t">
            <a:normAutofit/>
          </a:bodyPr>
          <a:lstStyle/>
          <a:p>
            <a:pPr algn="ctr"/>
            <a:r>
              <a:rPr sz="1300" b="1" i="0">
                <a:solidFill>
                  <a:srgbClr val="FFFFFF"/>
                </a:solidFill>
                <a:latin typeface="Inter Display"/>
              </a:rPr>
              <a:t>TENSION</a:t>
            </a:r>
          </a:p>
        </p:txBody>
      </p:sp>
      <p:sp>
        <p:nvSpPr>
          <p:cNvPr id="19" name="TextBox 18"/>
          <p:cNvSpPr txBox="1"/>
          <p:nvPr/>
        </p:nvSpPr>
        <p:spPr>
          <a:xfrm>
            <a:off x="3054096" y="3703320"/>
            <a:ext cx="1600200" cy="347472"/>
          </a:xfrm>
          <a:prstGeom prst="rect">
            <a:avLst/>
          </a:prstGeom>
          <a:noFill/>
        </p:spPr>
        <p:txBody>
          <a:bodyPr wrap="square" lIns="36576" rIns="36576" tIns="36576" bIns="36576" anchor="t">
            <a:normAutofit/>
          </a:bodyPr>
          <a:lstStyle/>
          <a:p>
            <a:pPr algn="ctr"/>
            <a:r>
              <a:rPr sz="1050" b="0" i="0">
                <a:solidFill>
                  <a:srgbClr val="DDE9F7"/>
                </a:solidFill>
                <a:latin typeface="Inter"/>
              </a:rPr>
              <a:t>Name the problem or contrast.</a:t>
            </a:r>
          </a:p>
        </p:txBody>
      </p:sp>
      <p:sp>
        <p:nvSpPr>
          <p:cNvPr id="20" name="TextBox 19"/>
          <p:cNvSpPr txBox="1"/>
          <p:nvPr/>
        </p:nvSpPr>
        <p:spPr>
          <a:xfrm>
            <a:off x="4837176" y="3090672"/>
            <a:ext cx="347472" cy="32004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21" name="Rounded Rectangle 20"/>
          <p:cNvSpPr/>
          <p:nvPr/>
        </p:nvSpPr>
        <p:spPr>
          <a:xfrm>
            <a:off x="5184648" y="2240280"/>
            <a:ext cx="2011680" cy="21488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97880" y="2423160"/>
            <a:ext cx="594360" cy="594360"/>
          </a:xfrm>
          <a:prstGeom prst="rect">
            <a:avLst/>
          </a:prstGeom>
          <a:noFill/>
        </p:spPr>
        <p:txBody>
          <a:bodyPr wrap="square" lIns="36576" rIns="36576" tIns="36576" bIns="36576" anchor="ctr">
            <a:normAutofit/>
          </a:bodyPr>
          <a:lstStyle/>
          <a:p>
            <a:pPr algn="ctr"/>
            <a:r>
              <a:rPr sz="2300" b="1" i="0">
                <a:solidFill>
                  <a:srgbClr val="22C55E"/>
                </a:solidFill>
                <a:latin typeface="Inter Display"/>
              </a:rPr>
              <a:t>3</a:t>
            </a:r>
          </a:p>
        </p:txBody>
      </p:sp>
      <p:sp>
        <p:nvSpPr>
          <p:cNvPr id="23" name="TextBox 22"/>
          <p:cNvSpPr txBox="1"/>
          <p:nvPr/>
        </p:nvSpPr>
        <p:spPr>
          <a:xfrm>
            <a:off x="5367528" y="3172968"/>
            <a:ext cx="1645920" cy="329184"/>
          </a:xfrm>
          <a:prstGeom prst="rect">
            <a:avLst/>
          </a:prstGeom>
          <a:noFill/>
        </p:spPr>
        <p:txBody>
          <a:bodyPr wrap="square" lIns="36576" rIns="36576" tIns="36576" bIns="36576" anchor="t">
            <a:normAutofit/>
          </a:bodyPr>
          <a:lstStyle/>
          <a:p>
            <a:pPr algn="ctr"/>
            <a:r>
              <a:rPr sz="1300" b="1" i="0">
                <a:solidFill>
                  <a:srgbClr val="FFFFFF"/>
                </a:solidFill>
                <a:latin typeface="Inter Display"/>
              </a:rPr>
              <a:t>INSIGHT</a:t>
            </a:r>
          </a:p>
        </p:txBody>
      </p:sp>
      <p:sp>
        <p:nvSpPr>
          <p:cNvPr id="24" name="TextBox 23"/>
          <p:cNvSpPr txBox="1"/>
          <p:nvPr/>
        </p:nvSpPr>
        <p:spPr>
          <a:xfrm>
            <a:off x="5394960" y="3703320"/>
            <a:ext cx="1600200" cy="347472"/>
          </a:xfrm>
          <a:prstGeom prst="rect">
            <a:avLst/>
          </a:prstGeom>
          <a:noFill/>
        </p:spPr>
        <p:txBody>
          <a:bodyPr wrap="square" lIns="36576" rIns="36576" tIns="36576" bIns="36576" anchor="t">
            <a:normAutofit/>
          </a:bodyPr>
          <a:lstStyle/>
          <a:p>
            <a:pPr algn="ctr"/>
            <a:r>
              <a:rPr sz="1050" b="0" i="0">
                <a:solidFill>
                  <a:srgbClr val="DDE9F7"/>
                </a:solidFill>
                <a:latin typeface="Inter"/>
              </a:rPr>
              <a:t>Deliver the one idea.</a:t>
            </a:r>
          </a:p>
        </p:txBody>
      </p:sp>
      <p:sp>
        <p:nvSpPr>
          <p:cNvPr id="25" name="TextBox 24"/>
          <p:cNvSpPr txBox="1"/>
          <p:nvPr/>
        </p:nvSpPr>
        <p:spPr>
          <a:xfrm>
            <a:off x="7178040" y="3090672"/>
            <a:ext cx="347472" cy="32004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26" name="Rounded Rectangle 25"/>
          <p:cNvSpPr/>
          <p:nvPr/>
        </p:nvSpPr>
        <p:spPr>
          <a:xfrm>
            <a:off x="7525512" y="2240280"/>
            <a:ext cx="2011680" cy="21488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38744" y="2423160"/>
            <a:ext cx="594360" cy="594360"/>
          </a:xfrm>
          <a:prstGeom prst="rect">
            <a:avLst/>
          </a:prstGeom>
          <a:noFill/>
        </p:spPr>
        <p:txBody>
          <a:bodyPr wrap="square" lIns="36576" rIns="36576" tIns="36576" bIns="36576" anchor="ctr">
            <a:normAutofit/>
          </a:bodyPr>
          <a:lstStyle/>
          <a:p>
            <a:pPr algn="ctr"/>
            <a:r>
              <a:rPr sz="2300" b="1" i="0">
                <a:solidFill>
                  <a:srgbClr val="22C55E"/>
                </a:solidFill>
                <a:latin typeface="Inter Display"/>
              </a:rPr>
              <a:t>4</a:t>
            </a:r>
          </a:p>
        </p:txBody>
      </p:sp>
      <p:sp>
        <p:nvSpPr>
          <p:cNvPr id="28" name="TextBox 27"/>
          <p:cNvSpPr txBox="1"/>
          <p:nvPr/>
        </p:nvSpPr>
        <p:spPr>
          <a:xfrm>
            <a:off x="7708392" y="3172968"/>
            <a:ext cx="1645920" cy="329184"/>
          </a:xfrm>
          <a:prstGeom prst="rect">
            <a:avLst/>
          </a:prstGeom>
          <a:noFill/>
        </p:spPr>
        <p:txBody>
          <a:bodyPr wrap="square" lIns="36576" rIns="36576" tIns="36576" bIns="36576" anchor="t">
            <a:normAutofit/>
          </a:bodyPr>
          <a:lstStyle/>
          <a:p>
            <a:pPr algn="ctr"/>
            <a:r>
              <a:rPr sz="1300" b="1" i="0">
                <a:solidFill>
                  <a:srgbClr val="FFFFFF"/>
                </a:solidFill>
                <a:latin typeface="Inter Display"/>
              </a:rPr>
              <a:t>PROOF</a:t>
            </a:r>
          </a:p>
        </p:txBody>
      </p:sp>
      <p:sp>
        <p:nvSpPr>
          <p:cNvPr id="29" name="TextBox 28"/>
          <p:cNvSpPr txBox="1"/>
          <p:nvPr/>
        </p:nvSpPr>
        <p:spPr>
          <a:xfrm>
            <a:off x="7735824" y="3703320"/>
            <a:ext cx="1600200" cy="347472"/>
          </a:xfrm>
          <a:prstGeom prst="rect">
            <a:avLst/>
          </a:prstGeom>
          <a:noFill/>
        </p:spPr>
        <p:txBody>
          <a:bodyPr wrap="square" lIns="36576" rIns="36576" tIns="36576" bIns="36576" anchor="t">
            <a:normAutofit/>
          </a:bodyPr>
          <a:lstStyle/>
          <a:p>
            <a:pPr algn="ctr"/>
            <a:r>
              <a:rPr sz="1050" b="0" i="0">
                <a:solidFill>
                  <a:srgbClr val="DDE9F7"/>
                </a:solidFill>
                <a:latin typeface="Inter"/>
              </a:rPr>
              <a:t>Show a detail, example, or demonstration.</a:t>
            </a:r>
          </a:p>
        </p:txBody>
      </p:sp>
      <p:sp>
        <p:nvSpPr>
          <p:cNvPr id="30" name="TextBox 29"/>
          <p:cNvSpPr txBox="1"/>
          <p:nvPr/>
        </p:nvSpPr>
        <p:spPr>
          <a:xfrm>
            <a:off x="9518904" y="3090672"/>
            <a:ext cx="347472" cy="320040"/>
          </a:xfrm>
          <a:prstGeom prst="rect">
            <a:avLst/>
          </a:prstGeom>
          <a:noFill/>
        </p:spPr>
        <p:txBody>
          <a:bodyPr wrap="square" lIns="36576" rIns="36576" tIns="36576" bIns="36576" anchor="t">
            <a:spAutoFit/>
          </a:bodyPr>
          <a:lstStyle/>
          <a:p>
            <a:pPr algn="ctr"/>
            <a:r>
              <a:rPr sz="2200" b="1" i="0">
                <a:solidFill>
                  <a:srgbClr val="A9B7CC"/>
                </a:solidFill>
                <a:latin typeface="Inter Display"/>
              </a:rPr>
              <a:t>→</a:t>
            </a:r>
          </a:p>
        </p:txBody>
      </p:sp>
      <p:sp>
        <p:nvSpPr>
          <p:cNvPr id="31" name="Rounded Rectangle 30"/>
          <p:cNvSpPr/>
          <p:nvPr/>
        </p:nvSpPr>
        <p:spPr>
          <a:xfrm>
            <a:off x="9866376" y="2240280"/>
            <a:ext cx="2011680" cy="21488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79608" y="2423160"/>
            <a:ext cx="594360" cy="594360"/>
          </a:xfrm>
          <a:prstGeom prst="rect">
            <a:avLst/>
          </a:prstGeom>
          <a:noFill/>
        </p:spPr>
        <p:txBody>
          <a:bodyPr wrap="square" lIns="36576" rIns="36576" tIns="36576" bIns="36576" anchor="ctr">
            <a:normAutofit/>
          </a:bodyPr>
          <a:lstStyle/>
          <a:p>
            <a:pPr algn="ctr"/>
            <a:r>
              <a:rPr sz="2300" b="1" i="0">
                <a:solidFill>
                  <a:srgbClr val="22C55E"/>
                </a:solidFill>
                <a:latin typeface="Inter Display"/>
              </a:rPr>
              <a:t>5</a:t>
            </a:r>
          </a:p>
        </p:txBody>
      </p:sp>
      <p:sp>
        <p:nvSpPr>
          <p:cNvPr id="33" name="TextBox 32"/>
          <p:cNvSpPr txBox="1"/>
          <p:nvPr/>
        </p:nvSpPr>
        <p:spPr>
          <a:xfrm>
            <a:off x="10049256" y="3172968"/>
            <a:ext cx="1645920" cy="329184"/>
          </a:xfrm>
          <a:prstGeom prst="rect">
            <a:avLst/>
          </a:prstGeom>
          <a:noFill/>
        </p:spPr>
        <p:txBody>
          <a:bodyPr wrap="square" lIns="36576" rIns="36576" tIns="36576" bIns="36576" anchor="t">
            <a:normAutofit/>
          </a:bodyPr>
          <a:lstStyle/>
          <a:p>
            <a:pPr algn="ctr"/>
            <a:r>
              <a:rPr sz="1300" b="1" i="0">
                <a:solidFill>
                  <a:srgbClr val="FFFFFF"/>
                </a:solidFill>
                <a:latin typeface="Inter Display"/>
              </a:rPr>
              <a:t>NEXT STEP</a:t>
            </a:r>
          </a:p>
        </p:txBody>
      </p:sp>
      <p:sp>
        <p:nvSpPr>
          <p:cNvPr id="34" name="TextBox 33"/>
          <p:cNvSpPr txBox="1"/>
          <p:nvPr/>
        </p:nvSpPr>
        <p:spPr>
          <a:xfrm>
            <a:off x="10076688" y="3703320"/>
            <a:ext cx="1600200" cy="347472"/>
          </a:xfrm>
          <a:prstGeom prst="rect">
            <a:avLst/>
          </a:prstGeom>
          <a:noFill/>
        </p:spPr>
        <p:txBody>
          <a:bodyPr wrap="square" lIns="36576" rIns="36576" tIns="36576" bIns="36576" anchor="t">
            <a:normAutofit/>
          </a:bodyPr>
          <a:lstStyle/>
          <a:p>
            <a:pPr algn="ctr"/>
            <a:r>
              <a:rPr sz="1050" b="0" i="0">
                <a:solidFill>
                  <a:srgbClr val="DDE9F7"/>
                </a:solidFill>
                <a:latin typeface="Inter"/>
              </a:rPr>
              <a:t>Tell the viewer what to do next.</a:t>
            </a:r>
          </a:p>
        </p:txBody>
      </p:sp>
      <p:sp>
        <p:nvSpPr>
          <p:cNvPr id="35" name="Rounded Rectangle 34"/>
          <p:cNvSpPr/>
          <p:nvPr/>
        </p:nvSpPr>
        <p:spPr>
          <a:xfrm>
            <a:off x="1051560" y="4983480"/>
            <a:ext cx="10058400" cy="64008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25880" y="5157216"/>
            <a:ext cx="9509760" cy="274320"/>
          </a:xfrm>
          <a:prstGeom prst="rect">
            <a:avLst/>
          </a:prstGeom>
          <a:noFill/>
        </p:spPr>
        <p:txBody>
          <a:bodyPr wrap="square" lIns="36576" rIns="36576" tIns="36576" bIns="36576" anchor="t">
            <a:normAutofit/>
          </a:bodyPr>
          <a:lstStyle/>
          <a:p>
            <a:pPr algn="ctr"/>
            <a:r>
              <a:rPr sz="1350" b="1" i="0">
                <a:solidFill>
                  <a:srgbClr val="FFFFFF"/>
                </a:solidFill>
                <a:latin typeface="Inter"/>
              </a:rPr>
              <a:t>Read aloud. Time it. Cut anything that sounds written instead of spoken.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36</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HANDS-ON 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Create the 45–90 second video plan</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Write the script, shot list, caption plan, and approval check.</a:t>
            </a:r>
          </a:p>
        </p:txBody>
      </p:sp>
      <p:sp>
        <p:nvSpPr>
          <p:cNvPr id="9" name="TextBox 8"/>
          <p:cNvSpPr txBox="1"/>
          <p:nvPr/>
        </p:nvSpPr>
        <p:spPr>
          <a:xfrm>
            <a:off x="640080" y="2057400"/>
            <a:ext cx="5029200" cy="3246120"/>
          </a:xfrm>
          <a:prstGeom prst="rect">
            <a:avLst/>
          </a:prstGeom>
          <a:noFill/>
        </p:spPr>
        <p:txBody>
          <a:bodyPr wrap="square" lIns="18288" rIns="18288">
            <a:spAutoFit/>
          </a:bodyPr>
          <a:lstStyle/>
          <a:p>
            <a:pPr>
              <a:spcAft>
                <a:spcPts val="500"/>
              </a:spcAft>
              <a:defRPr sz="1550">
                <a:solidFill>
                  <a:srgbClr val="DDE9F7"/>
                </a:solidFill>
                <a:latin typeface="Inter"/>
              </a:defRPr>
            </a:pPr>
            <a:r>
              <a:t>1.  Write the one idea the viewer should remember.</a:t>
            </a:r>
          </a:p>
          <a:p>
            <a:pPr>
              <a:spcAft>
                <a:spcPts val="500"/>
              </a:spcAft>
              <a:defRPr sz="1550">
                <a:solidFill>
                  <a:srgbClr val="DDE9F7"/>
                </a:solidFill>
                <a:latin typeface="Inter"/>
              </a:defRPr>
            </a:pPr>
            <a:r>
              <a:t>2.  Draft Hook, Tension, Insight, Proof, and Next Step in spoken language.</a:t>
            </a:r>
          </a:p>
          <a:p>
            <a:pPr>
              <a:spcAft>
                <a:spcPts val="500"/>
              </a:spcAft>
              <a:defRPr sz="1550">
                <a:solidFill>
                  <a:srgbClr val="DDE9F7"/>
                </a:solidFill>
                <a:latin typeface="Inter"/>
              </a:defRPr>
            </a:pPr>
            <a:r>
              <a:t>3.  Read the script aloud and cut anything that sounds written rather than spoken.</a:t>
            </a:r>
          </a:p>
          <a:p>
            <a:pPr>
              <a:spcAft>
                <a:spcPts val="500"/>
              </a:spcAft>
              <a:defRPr sz="1550">
                <a:solidFill>
                  <a:srgbClr val="DDE9F7"/>
                </a:solidFill>
                <a:latin typeface="Inter"/>
              </a:defRPr>
            </a:pPr>
            <a:r>
              <a:t>4.  Create a three-to-five-shot plan and caption requirement.</a:t>
            </a:r>
          </a:p>
          <a:p>
            <a:pPr>
              <a:spcAft>
                <a:spcPts val="500"/>
              </a:spcAft>
              <a:defRPr sz="1550">
                <a:solidFill>
                  <a:srgbClr val="DDE9F7"/>
                </a:solidFill>
                <a:latin typeface="Inter"/>
              </a:defRPr>
            </a:pPr>
            <a:r>
              <a:t>5.  Apply the relevant CLEAR checks before recording or publishing.</a:t>
            </a:r>
          </a:p>
        </p:txBody>
      </p:sp>
      <p:sp>
        <p:nvSpPr>
          <p:cNvPr id="10" name="Rounded Rectangle 9"/>
          <p:cNvSpPr/>
          <p:nvPr/>
        </p:nvSpPr>
        <p:spPr>
          <a:xfrm>
            <a:off x="5897880" y="2011680"/>
            <a:ext cx="5715000" cy="356616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240280"/>
            <a:ext cx="960120" cy="274320"/>
          </a:xfrm>
          <a:prstGeom prst="rect">
            <a:avLst/>
          </a:prstGeom>
          <a:noFill/>
        </p:spPr>
        <p:txBody>
          <a:bodyPr wrap="square" lIns="36576" rIns="36576" tIns="36576" bIns="36576" anchor="t">
            <a:normAutofit/>
          </a:bodyPr>
          <a:lstStyle/>
          <a:p>
            <a:pPr algn="ctr"/>
            <a:r>
              <a:rPr sz="780" b="1" i="0">
                <a:solidFill>
                  <a:srgbClr val="22C55E"/>
                </a:solidFill>
                <a:latin typeface="Inter Display"/>
              </a:rPr>
              <a:t>SHOT</a:t>
            </a:r>
          </a:p>
        </p:txBody>
      </p:sp>
      <p:sp>
        <p:nvSpPr>
          <p:cNvPr id="12" name="TextBox 11"/>
          <p:cNvSpPr txBox="1"/>
          <p:nvPr/>
        </p:nvSpPr>
        <p:spPr>
          <a:xfrm>
            <a:off x="7150608" y="2240280"/>
            <a:ext cx="960120" cy="274320"/>
          </a:xfrm>
          <a:prstGeom prst="rect">
            <a:avLst/>
          </a:prstGeom>
          <a:noFill/>
        </p:spPr>
        <p:txBody>
          <a:bodyPr wrap="square" lIns="36576" rIns="36576" tIns="36576" bIns="36576" anchor="t">
            <a:normAutofit/>
          </a:bodyPr>
          <a:lstStyle/>
          <a:p>
            <a:pPr algn="ctr"/>
            <a:r>
              <a:rPr sz="780" b="1" i="0">
                <a:solidFill>
                  <a:srgbClr val="22C55E"/>
                </a:solidFill>
                <a:latin typeface="Inter Display"/>
              </a:rPr>
              <a:t>VISUAL / ACTION</a:t>
            </a:r>
          </a:p>
        </p:txBody>
      </p:sp>
      <p:sp>
        <p:nvSpPr>
          <p:cNvPr id="13" name="TextBox 12"/>
          <p:cNvSpPr txBox="1"/>
          <p:nvPr/>
        </p:nvSpPr>
        <p:spPr>
          <a:xfrm>
            <a:off x="8220456" y="2240280"/>
            <a:ext cx="960120" cy="274320"/>
          </a:xfrm>
          <a:prstGeom prst="rect">
            <a:avLst/>
          </a:prstGeom>
          <a:noFill/>
        </p:spPr>
        <p:txBody>
          <a:bodyPr wrap="square" lIns="36576" rIns="36576" tIns="36576" bIns="36576" anchor="t">
            <a:normAutofit/>
          </a:bodyPr>
          <a:lstStyle/>
          <a:p>
            <a:pPr algn="ctr"/>
            <a:r>
              <a:rPr sz="780" b="1" i="0">
                <a:solidFill>
                  <a:srgbClr val="22C55E"/>
                </a:solidFill>
                <a:latin typeface="Inter Display"/>
              </a:rPr>
              <a:t>SPOKEN LINE</a:t>
            </a:r>
          </a:p>
        </p:txBody>
      </p:sp>
      <p:sp>
        <p:nvSpPr>
          <p:cNvPr id="14" name="TextBox 13"/>
          <p:cNvSpPr txBox="1"/>
          <p:nvPr/>
        </p:nvSpPr>
        <p:spPr>
          <a:xfrm>
            <a:off x="9290304" y="2240280"/>
            <a:ext cx="960120" cy="274320"/>
          </a:xfrm>
          <a:prstGeom prst="rect">
            <a:avLst/>
          </a:prstGeom>
          <a:noFill/>
        </p:spPr>
        <p:txBody>
          <a:bodyPr wrap="square" lIns="36576" rIns="36576" tIns="36576" bIns="36576" anchor="t">
            <a:normAutofit/>
          </a:bodyPr>
          <a:lstStyle/>
          <a:p>
            <a:pPr algn="ctr"/>
            <a:r>
              <a:rPr sz="780" b="1" i="0">
                <a:solidFill>
                  <a:srgbClr val="22C55E"/>
                </a:solidFill>
                <a:latin typeface="Inter Display"/>
              </a:rPr>
              <a:t>CAPTION</a:t>
            </a:r>
          </a:p>
        </p:txBody>
      </p:sp>
      <p:sp>
        <p:nvSpPr>
          <p:cNvPr id="15" name="TextBox 14"/>
          <p:cNvSpPr txBox="1"/>
          <p:nvPr/>
        </p:nvSpPr>
        <p:spPr>
          <a:xfrm>
            <a:off x="10360152" y="2240280"/>
            <a:ext cx="960120" cy="274320"/>
          </a:xfrm>
          <a:prstGeom prst="rect">
            <a:avLst/>
          </a:prstGeom>
          <a:noFill/>
        </p:spPr>
        <p:txBody>
          <a:bodyPr wrap="square" lIns="36576" rIns="36576" tIns="36576" bIns="36576" anchor="t">
            <a:normAutofit/>
          </a:bodyPr>
          <a:lstStyle/>
          <a:p>
            <a:pPr algn="ctr"/>
            <a:r>
              <a:rPr sz="780" b="1" i="0">
                <a:solidFill>
                  <a:srgbClr val="22C55E"/>
                </a:solidFill>
                <a:latin typeface="Inter Display"/>
              </a:rPr>
              <a:t>RIGHTS</a:t>
            </a:r>
          </a:p>
        </p:txBody>
      </p:sp>
      <p:sp>
        <p:nvSpPr>
          <p:cNvPr id="16" name="Rounded Rectangle 15"/>
          <p:cNvSpPr/>
          <p:nvPr/>
        </p:nvSpPr>
        <p:spPr>
          <a:xfrm>
            <a:off x="6062472" y="2670048"/>
            <a:ext cx="5349240" cy="512064"/>
          </a:xfrm>
          <a:prstGeom prst="roundRect">
            <a:avLst/>
          </a:prstGeom>
          <a:solidFill>
            <a:srgbClr val="0E213D"/>
          </a:solidFill>
          <a:ln w="12700">
            <a:solidFill>
              <a:srgbClr val="243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2798064"/>
            <a:ext cx="411480" cy="201168"/>
          </a:xfrm>
          <a:prstGeom prst="rect">
            <a:avLst/>
          </a:prstGeom>
          <a:noFill/>
        </p:spPr>
        <p:txBody>
          <a:bodyPr wrap="square" lIns="36576" rIns="36576" tIns="36576" bIns="36576" anchor="t">
            <a:spAutoFit/>
          </a:bodyPr>
          <a:lstStyle/>
          <a:p>
            <a:pPr algn="ctr"/>
            <a:r>
              <a:rPr sz="1000" b="1" i="0">
                <a:solidFill>
                  <a:srgbClr val="FFFFFF"/>
                </a:solidFill>
                <a:latin typeface="Inter"/>
              </a:rPr>
              <a:t>1</a:t>
            </a:r>
          </a:p>
        </p:txBody>
      </p:sp>
      <p:sp>
        <p:nvSpPr>
          <p:cNvPr id="18" name="Rounded Rectangle 17"/>
          <p:cNvSpPr/>
          <p:nvPr/>
        </p:nvSpPr>
        <p:spPr>
          <a:xfrm>
            <a:off x="6062472" y="3291840"/>
            <a:ext cx="5349240" cy="512064"/>
          </a:xfrm>
          <a:prstGeom prst="roundRect">
            <a:avLst/>
          </a:prstGeom>
          <a:solidFill>
            <a:srgbClr val="0E213D"/>
          </a:solidFill>
          <a:ln w="12700">
            <a:solidFill>
              <a:srgbClr val="243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3419856"/>
            <a:ext cx="411480" cy="201168"/>
          </a:xfrm>
          <a:prstGeom prst="rect">
            <a:avLst/>
          </a:prstGeom>
          <a:noFill/>
        </p:spPr>
        <p:txBody>
          <a:bodyPr wrap="square" lIns="36576" rIns="36576" tIns="36576" bIns="36576" anchor="t">
            <a:spAutoFit/>
          </a:bodyPr>
          <a:lstStyle/>
          <a:p>
            <a:pPr algn="ctr"/>
            <a:r>
              <a:rPr sz="1000" b="1" i="0">
                <a:solidFill>
                  <a:srgbClr val="FFFFFF"/>
                </a:solidFill>
                <a:latin typeface="Inter"/>
              </a:rPr>
              <a:t>2</a:t>
            </a:r>
          </a:p>
        </p:txBody>
      </p:sp>
      <p:sp>
        <p:nvSpPr>
          <p:cNvPr id="20" name="Rounded Rectangle 19"/>
          <p:cNvSpPr/>
          <p:nvPr/>
        </p:nvSpPr>
        <p:spPr>
          <a:xfrm>
            <a:off x="6062472" y="3913632"/>
            <a:ext cx="5349240" cy="512064"/>
          </a:xfrm>
          <a:prstGeom prst="roundRect">
            <a:avLst/>
          </a:prstGeom>
          <a:solidFill>
            <a:srgbClr val="0E213D"/>
          </a:solidFill>
          <a:ln w="12700">
            <a:solidFill>
              <a:srgbClr val="243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4041648"/>
            <a:ext cx="411480" cy="201168"/>
          </a:xfrm>
          <a:prstGeom prst="rect">
            <a:avLst/>
          </a:prstGeom>
          <a:noFill/>
        </p:spPr>
        <p:txBody>
          <a:bodyPr wrap="square" lIns="36576" rIns="36576" tIns="36576" bIns="36576" anchor="t">
            <a:spAutoFit/>
          </a:bodyPr>
          <a:lstStyle/>
          <a:p>
            <a:pPr algn="ctr"/>
            <a:r>
              <a:rPr sz="1000" b="1" i="0">
                <a:solidFill>
                  <a:srgbClr val="FFFFFF"/>
                </a:solidFill>
                <a:latin typeface="Inter"/>
              </a:rPr>
              <a:t>3</a:t>
            </a:r>
          </a:p>
        </p:txBody>
      </p:sp>
      <p:sp>
        <p:nvSpPr>
          <p:cNvPr id="22" name="Rounded Rectangle 21"/>
          <p:cNvSpPr/>
          <p:nvPr/>
        </p:nvSpPr>
        <p:spPr>
          <a:xfrm>
            <a:off x="6062472" y="4535424"/>
            <a:ext cx="5349240" cy="512064"/>
          </a:xfrm>
          <a:prstGeom prst="roundRect">
            <a:avLst/>
          </a:prstGeom>
          <a:solidFill>
            <a:srgbClr val="0E213D"/>
          </a:solidFill>
          <a:ln w="12700">
            <a:solidFill>
              <a:srgbClr val="243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4663440"/>
            <a:ext cx="411480" cy="201168"/>
          </a:xfrm>
          <a:prstGeom prst="rect">
            <a:avLst/>
          </a:prstGeom>
          <a:noFill/>
        </p:spPr>
        <p:txBody>
          <a:bodyPr wrap="square" lIns="36576" rIns="36576" tIns="36576" bIns="36576" anchor="t">
            <a:spAutoFit/>
          </a:bodyPr>
          <a:lstStyle/>
          <a:p>
            <a:pPr algn="ctr"/>
            <a:r>
              <a:rPr sz="1000" b="1" i="0">
                <a:solidFill>
                  <a:srgbClr val="FFFFFF"/>
                </a:solidFill>
                <a:latin typeface="Inter"/>
              </a:rPr>
              <a:t>4</a:t>
            </a:r>
          </a:p>
        </p:txBody>
      </p:sp>
      <p:sp>
        <p:nvSpPr>
          <p:cNvPr id="24" name="Rounded Rectangle 23"/>
          <p:cNvSpPr/>
          <p:nvPr/>
        </p:nvSpPr>
        <p:spPr>
          <a:xfrm>
            <a:off x="6537960" y="5166360"/>
            <a:ext cx="4434840" cy="274320"/>
          </a:xfrm>
          <a:prstGeom prst="roundRect">
            <a:avLst/>
          </a:prstGeom>
          <a:solidFill>
            <a:srgbClr val="06101F"/>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5212080"/>
            <a:ext cx="4160520" cy="164592"/>
          </a:xfrm>
          <a:prstGeom prst="rect">
            <a:avLst/>
          </a:prstGeom>
          <a:noFill/>
        </p:spPr>
        <p:txBody>
          <a:bodyPr wrap="square" lIns="36576" rIns="36576" tIns="36576" bIns="36576" anchor="t">
            <a:normAutofit/>
          </a:bodyPr>
          <a:lstStyle/>
          <a:p>
            <a:pPr algn="ctr"/>
            <a:r>
              <a:rPr sz="980" b="1" i="0">
                <a:solidFill>
                  <a:srgbClr val="FFFFFF"/>
                </a:solidFill>
                <a:latin typeface="Inter"/>
              </a:rPr>
              <a:t>One idea • one next step • captions included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MODULE 05</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37</a:t>
            </a:r>
          </a:p>
        </p:txBody>
      </p:sp>
      <p:pic>
        <p:nvPicPr>
          <p:cNvPr id="5" name="Picture 4" descr="11_lesson_10_deepen_in_email.png"/>
          <p:cNvPicPr>
            <a:picLocks noChangeAspect="1"/>
          </p:cNvPicPr>
          <p:nvPr/>
        </p:nvPicPr>
        <p:blipFill>
          <a:blip r:embed="rId2"/>
          <a:srcRect l="1" r="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38</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LESSON 10</a:t>
            </a:r>
          </a:p>
        </p:txBody>
      </p:sp>
      <p:sp>
        <p:nvSpPr>
          <p:cNvPr id="7" name="Rounded Rectangle 6"/>
          <p:cNvSpPr/>
          <p:nvPr/>
        </p:nvSpPr>
        <p:spPr>
          <a:xfrm>
            <a:off x="457200" y="804672"/>
            <a:ext cx="502920" cy="50292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804672"/>
            <a:ext cx="502920" cy="502920"/>
          </a:xfrm>
          <a:prstGeom prst="rect">
            <a:avLst/>
          </a:prstGeom>
          <a:noFill/>
        </p:spPr>
        <p:txBody>
          <a:bodyPr wrap="square" lIns="36576" rIns="36576" tIns="36576" bIns="36576" anchor="ctr">
            <a:normAutofit/>
          </a:bodyPr>
          <a:lstStyle/>
          <a:p>
            <a:pPr algn="ctr"/>
            <a:r>
              <a:rPr sz="1800" b="1" i="0">
                <a:solidFill>
                  <a:srgbClr val="FFFFFF"/>
                </a:solidFill>
                <a:latin typeface="Inter Display"/>
              </a:rPr>
              <a:t>10</a:t>
            </a:r>
          </a:p>
        </p:txBody>
      </p:sp>
      <p:sp>
        <p:nvSpPr>
          <p:cNvPr id="9" name="TextBox 8"/>
          <p:cNvSpPr txBox="1"/>
          <p:nvPr/>
        </p:nvSpPr>
        <p:spPr>
          <a:xfrm>
            <a:off x="1097280" y="804672"/>
            <a:ext cx="9966960"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Deepen the idea in email</a:t>
            </a:r>
          </a:p>
        </p:txBody>
      </p:sp>
      <p:sp>
        <p:nvSpPr>
          <p:cNvPr id="10" name="TextBox 9"/>
          <p:cNvSpPr txBox="1"/>
          <p:nvPr/>
        </p:nvSpPr>
        <p:spPr>
          <a:xfrm>
            <a:off x="1097280" y="1554480"/>
            <a:ext cx="9875520" cy="457200"/>
          </a:xfrm>
          <a:prstGeom prst="rect">
            <a:avLst/>
          </a:prstGeom>
          <a:noFill/>
        </p:spPr>
        <p:txBody>
          <a:bodyPr wrap="square" lIns="36576" rIns="36576" tIns="36576" bIns="36576" anchor="t">
            <a:normAutofit/>
          </a:bodyPr>
          <a:lstStyle/>
          <a:p>
            <a:pPr algn="l"/>
            <a:r>
              <a:rPr sz="1400" b="0" i="0">
                <a:solidFill>
                  <a:srgbClr val="A9B7CC"/>
                </a:solidFill>
                <a:latin typeface="Inter"/>
              </a:rPr>
              <a:t>Use the inbox for context, reflection, and a direct relationship with the reader.</a:t>
            </a:r>
          </a:p>
        </p:txBody>
      </p:sp>
      <p:sp>
        <p:nvSpPr>
          <p:cNvPr id="11" name="Rounded Rectangle 10"/>
          <p:cNvSpPr/>
          <p:nvPr/>
        </p:nvSpPr>
        <p:spPr>
          <a:xfrm>
            <a:off x="502920" y="1965960"/>
            <a:ext cx="2606040" cy="114300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48840"/>
            <a:ext cx="2331720" cy="274320"/>
          </a:xfrm>
          <a:prstGeom prst="rect">
            <a:avLst/>
          </a:prstGeom>
          <a:noFill/>
        </p:spPr>
        <p:txBody>
          <a:bodyPr wrap="square" lIns="36576" rIns="36576" tIns="36576" bIns="36576" anchor="t">
            <a:normAutofit/>
          </a:bodyPr>
          <a:lstStyle/>
          <a:p>
            <a:pPr algn="ctr"/>
            <a:r>
              <a:rPr sz="1150" b="1" i="0">
                <a:solidFill>
                  <a:srgbClr val="22C55E"/>
                </a:solidFill>
                <a:latin typeface="Inter Display"/>
              </a:rPr>
              <a:t>SUBJECT</a:t>
            </a:r>
          </a:p>
        </p:txBody>
      </p:sp>
      <p:sp>
        <p:nvSpPr>
          <p:cNvPr id="13" name="TextBox 12"/>
          <p:cNvSpPr txBox="1"/>
          <p:nvPr/>
        </p:nvSpPr>
        <p:spPr>
          <a:xfrm>
            <a:off x="685800" y="258775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Accurate before clever.</a:t>
            </a:r>
          </a:p>
        </p:txBody>
      </p:sp>
      <p:sp>
        <p:nvSpPr>
          <p:cNvPr id="14" name="Rounded Rectangle 13"/>
          <p:cNvSpPr/>
          <p:nvPr/>
        </p:nvSpPr>
        <p:spPr>
          <a:xfrm>
            <a:off x="3410712" y="1965960"/>
            <a:ext cx="2606040" cy="114300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2148840"/>
            <a:ext cx="2331720" cy="274320"/>
          </a:xfrm>
          <a:prstGeom prst="rect">
            <a:avLst/>
          </a:prstGeom>
          <a:noFill/>
        </p:spPr>
        <p:txBody>
          <a:bodyPr wrap="square" lIns="36576" rIns="36576" tIns="36576" bIns="36576" anchor="t">
            <a:normAutofit/>
          </a:bodyPr>
          <a:lstStyle/>
          <a:p>
            <a:pPr algn="ctr"/>
            <a:r>
              <a:rPr sz="1150" b="1" i="0">
                <a:solidFill>
                  <a:srgbClr val="22C55E"/>
                </a:solidFill>
                <a:latin typeface="Inter Display"/>
              </a:rPr>
              <a:t>PREVIEW</a:t>
            </a:r>
          </a:p>
        </p:txBody>
      </p:sp>
      <p:sp>
        <p:nvSpPr>
          <p:cNvPr id="16" name="TextBox 15"/>
          <p:cNvSpPr txBox="1"/>
          <p:nvPr/>
        </p:nvSpPr>
        <p:spPr>
          <a:xfrm>
            <a:off x="3593592" y="258775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Support the promise.</a:t>
            </a:r>
          </a:p>
        </p:txBody>
      </p:sp>
      <p:sp>
        <p:nvSpPr>
          <p:cNvPr id="17" name="Rounded Rectangle 16"/>
          <p:cNvSpPr/>
          <p:nvPr/>
        </p:nvSpPr>
        <p:spPr>
          <a:xfrm>
            <a:off x="6318504" y="1965960"/>
            <a:ext cx="2606040" cy="114300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2148840"/>
            <a:ext cx="2331720" cy="274320"/>
          </a:xfrm>
          <a:prstGeom prst="rect">
            <a:avLst/>
          </a:prstGeom>
          <a:noFill/>
        </p:spPr>
        <p:txBody>
          <a:bodyPr wrap="square" lIns="36576" rIns="36576" tIns="36576" bIns="36576" anchor="t">
            <a:normAutofit/>
          </a:bodyPr>
          <a:lstStyle/>
          <a:p>
            <a:pPr algn="ctr"/>
            <a:r>
              <a:rPr sz="1150" b="1" i="0">
                <a:solidFill>
                  <a:srgbClr val="22C55E"/>
                </a:solidFill>
                <a:latin typeface="Inter Display"/>
              </a:rPr>
              <a:t>OPENING</a:t>
            </a:r>
          </a:p>
        </p:txBody>
      </p:sp>
      <p:sp>
        <p:nvSpPr>
          <p:cNvPr id="19" name="TextBox 18"/>
          <p:cNvSpPr txBox="1"/>
          <p:nvPr/>
        </p:nvSpPr>
        <p:spPr>
          <a:xfrm>
            <a:off x="6501384" y="258775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Create a close reader connection.</a:t>
            </a:r>
          </a:p>
        </p:txBody>
      </p:sp>
      <p:sp>
        <p:nvSpPr>
          <p:cNvPr id="20" name="Rounded Rectangle 19"/>
          <p:cNvSpPr/>
          <p:nvPr/>
        </p:nvSpPr>
        <p:spPr>
          <a:xfrm>
            <a:off x="9226296" y="1965960"/>
            <a:ext cx="2606040" cy="114300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63456" y="2148840"/>
            <a:ext cx="2331720" cy="274320"/>
          </a:xfrm>
          <a:prstGeom prst="rect">
            <a:avLst/>
          </a:prstGeom>
          <a:noFill/>
        </p:spPr>
        <p:txBody>
          <a:bodyPr wrap="square" lIns="36576" rIns="36576" tIns="36576" bIns="36576" anchor="t">
            <a:normAutofit/>
          </a:bodyPr>
          <a:lstStyle/>
          <a:p>
            <a:pPr algn="ctr"/>
            <a:r>
              <a:rPr sz="1150" b="1" i="0">
                <a:solidFill>
                  <a:srgbClr val="22C55E"/>
                </a:solidFill>
                <a:latin typeface="Inter Display"/>
              </a:rPr>
              <a:t>ONE IDEA</a:t>
            </a:r>
          </a:p>
        </p:txBody>
      </p:sp>
      <p:sp>
        <p:nvSpPr>
          <p:cNvPr id="22" name="TextBox 21"/>
          <p:cNvSpPr txBox="1"/>
          <p:nvPr/>
        </p:nvSpPr>
        <p:spPr>
          <a:xfrm>
            <a:off x="9409176" y="258775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Stay focused.</a:t>
            </a:r>
          </a:p>
        </p:txBody>
      </p:sp>
      <p:sp>
        <p:nvSpPr>
          <p:cNvPr id="23" name="Rounded Rectangle 22"/>
          <p:cNvSpPr/>
          <p:nvPr/>
        </p:nvSpPr>
        <p:spPr>
          <a:xfrm>
            <a:off x="502920" y="3383280"/>
            <a:ext cx="2606040" cy="11430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566160"/>
            <a:ext cx="2331720" cy="274320"/>
          </a:xfrm>
          <a:prstGeom prst="rect">
            <a:avLst/>
          </a:prstGeom>
          <a:noFill/>
        </p:spPr>
        <p:txBody>
          <a:bodyPr wrap="square" lIns="36576" rIns="36576" tIns="36576" bIns="36576" anchor="t">
            <a:normAutofit/>
          </a:bodyPr>
          <a:lstStyle/>
          <a:p>
            <a:pPr algn="ctr"/>
            <a:r>
              <a:rPr sz="1150" b="1" i="0">
                <a:solidFill>
                  <a:srgbClr val="14B8A6"/>
                </a:solidFill>
                <a:latin typeface="Inter Display"/>
              </a:rPr>
              <a:t>STORY / PROOF</a:t>
            </a:r>
          </a:p>
        </p:txBody>
      </p:sp>
      <p:sp>
        <p:nvSpPr>
          <p:cNvPr id="25" name="TextBox 24"/>
          <p:cNvSpPr txBox="1"/>
          <p:nvPr/>
        </p:nvSpPr>
        <p:spPr>
          <a:xfrm>
            <a:off x="685800" y="400507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Add evidence or lived detail.</a:t>
            </a:r>
          </a:p>
        </p:txBody>
      </p:sp>
      <p:sp>
        <p:nvSpPr>
          <p:cNvPr id="26" name="Rounded Rectangle 25"/>
          <p:cNvSpPr/>
          <p:nvPr/>
        </p:nvSpPr>
        <p:spPr>
          <a:xfrm>
            <a:off x="3410712" y="3383280"/>
            <a:ext cx="2606040" cy="11430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47872" y="3566160"/>
            <a:ext cx="2331720" cy="274320"/>
          </a:xfrm>
          <a:prstGeom prst="rect">
            <a:avLst/>
          </a:prstGeom>
          <a:noFill/>
        </p:spPr>
        <p:txBody>
          <a:bodyPr wrap="square" lIns="36576" rIns="36576" tIns="36576" bIns="36576" anchor="t">
            <a:normAutofit/>
          </a:bodyPr>
          <a:lstStyle/>
          <a:p>
            <a:pPr algn="ctr"/>
            <a:r>
              <a:rPr sz="1150" b="1" i="0">
                <a:solidFill>
                  <a:srgbClr val="14B8A6"/>
                </a:solidFill>
                <a:latin typeface="Inter Display"/>
              </a:rPr>
              <a:t>PRACTICAL MOVE</a:t>
            </a:r>
          </a:p>
        </p:txBody>
      </p:sp>
      <p:sp>
        <p:nvSpPr>
          <p:cNvPr id="28" name="TextBox 27"/>
          <p:cNvSpPr txBox="1"/>
          <p:nvPr/>
        </p:nvSpPr>
        <p:spPr>
          <a:xfrm>
            <a:off x="3593592" y="400507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Give the reader something to do.</a:t>
            </a:r>
          </a:p>
        </p:txBody>
      </p:sp>
      <p:sp>
        <p:nvSpPr>
          <p:cNvPr id="29" name="Rounded Rectangle 28"/>
          <p:cNvSpPr/>
          <p:nvPr/>
        </p:nvSpPr>
        <p:spPr>
          <a:xfrm>
            <a:off x="6318504" y="3383280"/>
            <a:ext cx="2606040" cy="11430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55664" y="3566160"/>
            <a:ext cx="2331720" cy="274320"/>
          </a:xfrm>
          <a:prstGeom prst="rect">
            <a:avLst/>
          </a:prstGeom>
          <a:noFill/>
        </p:spPr>
        <p:txBody>
          <a:bodyPr wrap="square" lIns="36576" rIns="36576" tIns="36576" bIns="36576" anchor="t">
            <a:normAutofit/>
          </a:bodyPr>
          <a:lstStyle/>
          <a:p>
            <a:pPr algn="ctr"/>
            <a:r>
              <a:rPr sz="1150" b="1" i="0">
                <a:solidFill>
                  <a:srgbClr val="14B8A6"/>
                </a:solidFill>
                <a:latin typeface="Inter Display"/>
              </a:rPr>
              <a:t>CTA</a:t>
            </a:r>
          </a:p>
        </p:txBody>
      </p:sp>
      <p:sp>
        <p:nvSpPr>
          <p:cNvPr id="31" name="TextBox 30"/>
          <p:cNvSpPr txBox="1"/>
          <p:nvPr/>
        </p:nvSpPr>
        <p:spPr>
          <a:xfrm>
            <a:off x="6501384" y="400507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Invite one relevant next step.</a:t>
            </a:r>
          </a:p>
        </p:txBody>
      </p:sp>
      <p:sp>
        <p:nvSpPr>
          <p:cNvPr id="32" name="Rounded Rectangle 31"/>
          <p:cNvSpPr/>
          <p:nvPr/>
        </p:nvSpPr>
        <p:spPr>
          <a:xfrm>
            <a:off x="9226296" y="3383280"/>
            <a:ext cx="2606040" cy="114300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63456" y="3566160"/>
            <a:ext cx="2331720" cy="274320"/>
          </a:xfrm>
          <a:prstGeom prst="rect">
            <a:avLst/>
          </a:prstGeom>
          <a:noFill/>
        </p:spPr>
        <p:txBody>
          <a:bodyPr wrap="square" lIns="36576" rIns="36576" tIns="36576" bIns="36576" anchor="t">
            <a:normAutofit/>
          </a:bodyPr>
          <a:lstStyle/>
          <a:p>
            <a:pPr algn="ctr"/>
            <a:r>
              <a:rPr sz="1150" b="1" i="0">
                <a:solidFill>
                  <a:srgbClr val="14B8A6"/>
                </a:solidFill>
                <a:latin typeface="Inter Display"/>
              </a:rPr>
              <a:t>P.S.</a:t>
            </a:r>
          </a:p>
        </p:txBody>
      </p:sp>
      <p:sp>
        <p:nvSpPr>
          <p:cNvPr id="34" name="TextBox 33"/>
          <p:cNvSpPr txBox="1"/>
          <p:nvPr/>
        </p:nvSpPr>
        <p:spPr>
          <a:xfrm>
            <a:off x="9409176" y="4005072"/>
            <a:ext cx="2240280" cy="274320"/>
          </a:xfrm>
          <a:prstGeom prst="rect">
            <a:avLst/>
          </a:prstGeom>
          <a:noFill/>
        </p:spPr>
        <p:txBody>
          <a:bodyPr wrap="square" lIns="36576" rIns="36576" tIns="36576" bIns="36576" anchor="t">
            <a:normAutofit/>
          </a:bodyPr>
          <a:lstStyle/>
          <a:p>
            <a:pPr algn="ctr"/>
            <a:r>
              <a:rPr sz="1050" b="1" i="0">
                <a:solidFill>
                  <a:srgbClr val="FFFFFF"/>
                </a:solidFill>
                <a:latin typeface="Inter"/>
              </a:rPr>
              <a:t>Optional human afterthought.</a:t>
            </a:r>
          </a:p>
        </p:txBody>
      </p:sp>
      <p:sp>
        <p:nvSpPr>
          <p:cNvPr id="35" name="Rounded Rectangle 34"/>
          <p:cNvSpPr/>
          <p:nvPr/>
        </p:nvSpPr>
        <p:spPr>
          <a:xfrm>
            <a:off x="1097280" y="5074920"/>
            <a:ext cx="9966960" cy="59436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25880" y="5239512"/>
            <a:ext cx="9509760" cy="274320"/>
          </a:xfrm>
          <a:prstGeom prst="rect">
            <a:avLst/>
          </a:prstGeom>
          <a:noFill/>
        </p:spPr>
        <p:txBody>
          <a:bodyPr wrap="square" lIns="36576" rIns="36576" tIns="36576" bIns="36576" anchor="t">
            <a:normAutofit/>
          </a:bodyPr>
          <a:lstStyle/>
          <a:p>
            <a:pPr algn="ctr"/>
            <a:r>
              <a:rPr sz="1320" b="1" i="0">
                <a:solidFill>
                  <a:srgbClr val="FFFFFF"/>
                </a:solidFill>
                <a:latin typeface="Inter"/>
              </a:rPr>
              <a:t>Email should deepen the approved insight, not copy the post or narrate the video.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39</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ONE-TO-MANY SYSTEM</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Preserve the insight. Rebuild the delivery.</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Every derivative links back to the approved parent idea.</a:t>
            </a:r>
          </a:p>
        </p:txBody>
      </p:sp>
      <p:pic>
        <p:nvPicPr>
          <p:cNvPr id="9" name="Picture 8" descr="16_diagram_translation_map.png"/>
          <p:cNvPicPr>
            <a:picLocks noChangeAspect="1"/>
          </p:cNvPicPr>
          <p:nvPr/>
        </p:nvPicPr>
        <p:blipFill>
          <a:blip r:embed="rId3"/>
          <a:srcRect t="47" b="47"/>
          <a:stretch>
            <a:fillRect/>
          </a:stretch>
        </p:blipFill>
        <p:spPr>
          <a:xfrm>
            <a:off x="640080" y="2029968"/>
            <a:ext cx="6492240" cy="3648456"/>
          </a:xfrm>
          <a:prstGeom prst="rect">
            <a:avLst/>
          </a:prstGeom>
        </p:spPr>
      </p:pic>
      <p:sp>
        <p:nvSpPr>
          <p:cNvPr id="10" name="Rounded Rectangle 9"/>
          <p:cNvSpPr/>
          <p:nvPr/>
        </p:nvSpPr>
        <p:spPr>
          <a:xfrm>
            <a:off x="7360920" y="2029968"/>
            <a:ext cx="4206240" cy="35204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2258568"/>
            <a:ext cx="3566160" cy="256032"/>
          </a:xfrm>
          <a:prstGeom prst="rect">
            <a:avLst/>
          </a:prstGeom>
          <a:noFill/>
        </p:spPr>
        <p:txBody>
          <a:bodyPr wrap="square" lIns="36576" rIns="36576" tIns="36576" bIns="36576" anchor="t">
            <a:spAutoFit/>
          </a:bodyPr>
          <a:lstStyle/>
          <a:p>
            <a:pPr algn="ctr"/>
            <a:r>
              <a:rPr sz="1000" b="1" i="0">
                <a:solidFill>
                  <a:srgbClr val="22C55E"/>
                </a:solidFill>
                <a:latin typeface="Inter Display"/>
              </a:rPr>
              <a:t>WHAT STAYS THE SAME</a:t>
            </a:r>
          </a:p>
        </p:txBody>
      </p:sp>
      <p:sp>
        <p:nvSpPr>
          <p:cNvPr id="12" name="TextBox 11"/>
          <p:cNvSpPr txBox="1"/>
          <p:nvPr/>
        </p:nvSpPr>
        <p:spPr>
          <a:xfrm>
            <a:off x="7635240" y="2633472"/>
            <a:ext cx="3520440" cy="1325880"/>
          </a:xfrm>
          <a:prstGeom prst="rect">
            <a:avLst/>
          </a:prstGeom>
          <a:noFill/>
        </p:spPr>
        <p:txBody>
          <a:bodyPr wrap="square" lIns="27432" rIns="27432" tIns="18288" bIns="18288">
            <a:spAutoFit/>
          </a:bodyPr>
          <a:lstStyle/>
          <a:p>
            <a:pPr>
              <a:spcAft>
                <a:spcPts val="600"/>
              </a:spcAft>
              <a:defRPr sz="1400">
                <a:solidFill>
                  <a:srgbClr val="DDE9F7"/>
                </a:solidFill>
                <a:latin typeface="Inter"/>
              </a:defRPr>
            </a:pPr>
            <a:r>
              <a:t>•  Core insight</a:t>
            </a:r>
          </a:p>
          <a:p>
            <a:pPr>
              <a:spcAft>
                <a:spcPts val="600"/>
              </a:spcAft>
              <a:defRPr sz="1400">
                <a:solidFill>
                  <a:srgbClr val="DDE9F7"/>
                </a:solidFill>
                <a:latin typeface="Inter"/>
              </a:defRPr>
            </a:pPr>
            <a:r>
              <a:t>•  Approved evidence</a:t>
            </a:r>
          </a:p>
          <a:p>
            <a:pPr>
              <a:spcAft>
                <a:spcPts val="600"/>
              </a:spcAft>
              <a:defRPr sz="1400">
                <a:solidFill>
                  <a:srgbClr val="DDE9F7"/>
                </a:solidFill>
                <a:latin typeface="Inter"/>
              </a:defRPr>
            </a:pPr>
            <a:r>
              <a:t>•  Audience promise</a:t>
            </a:r>
          </a:p>
          <a:p>
            <a:pPr>
              <a:spcAft>
                <a:spcPts val="600"/>
              </a:spcAft>
              <a:defRPr sz="1400">
                <a:solidFill>
                  <a:srgbClr val="DDE9F7"/>
                </a:solidFill>
                <a:latin typeface="Inter"/>
              </a:defRPr>
            </a:pPr>
            <a:r>
              <a:t>•  Truth and privacy boundaries</a:t>
            </a:r>
          </a:p>
        </p:txBody>
      </p:sp>
      <p:sp>
        <p:nvSpPr>
          <p:cNvPr id="13" name="TextBox 12"/>
          <p:cNvSpPr txBox="1"/>
          <p:nvPr/>
        </p:nvSpPr>
        <p:spPr>
          <a:xfrm>
            <a:off x="7635240" y="4187952"/>
            <a:ext cx="3566160" cy="256032"/>
          </a:xfrm>
          <a:prstGeom prst="rect">
            <a:avLst/>
          </a:prstGeom>
          <a:noFill/>
        </p:spPr>
        <p:txBody>
          <a:bodyPr wrap="square" lIns="36576" rIns="36576" tIns="36576" bIns="36576" anchor="t">
            <a:spAutoFit/>
          </a:bodyPr>
          <a:lstStyle/>
          <a:p>
            <a:pPr algn="ctr"/>
            <a:r>
              <a:rPr sz="1000" b="1" i="0">
                <a:solidFill>
                  <a:srgbClr val="14B8A6"/>
                </a:solidFill>
                <a:latin typeface="Inter Display"/>
              </a:rPr>
              <a:t>WHAT CHANGES</a:t>
            </a:r>
          </a:p>
        </p:txBody>
      </p:sp>
      <p:sp>
        <p:nvSpPr>
          <p:cNvPr id="14" name="TextBox 13"/>
          <p:cNvSpPr txBox="1"/>
          <p:nvPr/>
        </p:nvSpPr>
        <p:spPr>
          <a:xfrm>
            <a:off x="7635240" y="4498848"/>
            <a:ext cx="3520440" cy="822960"/>
          </a:xfrm>
          <a:prstGeom prst="rect">
            <a:avLst/>
          </a:prstGeom>
          <a:noFill/>
        </p:spPr>
        <p:txBody>
          <a:bodyPr wrap="square" lIns="27432" rIns="27432" tIns="18288" bIns="18288">
            <a:spAutoFit/>
          </a:bodyPr>
          <a:lstStyle/>
          <a:p>
            <a:pPr>
              <a:spcAft>
                <a:spcPts val="300"/>
              </a:spcAft>
              <a:defRPr sz="1260">
                <a:solidFill>
                  <a:srgbClr val="DDE9F7"/>
                </a:solidFill>
                <a:latin typeface="Inter"/>
              </a:defRPr>
            </a:pPr>
            <a:r>
              <a:t>•  Hook and pacing</a:t>
            </a:r>
          </a:p>
          <a:p>
            <a:pPr>
              <a:spcAft>
                <a:spcPts val="300"/>
              </a:spcAft>
              <a:defRPr sz="1260">
                <a:solidFill>
                  <a:srgbClr val="DDE9F7"/>
                </a:solidFill>
                <a:latin typeface="Inter"/>
              </a:defRPr>
            </a:pPr>
            <a:r>
              <a:t>•  Structure and length</a:t>
            </a:r>
          </a:p>
          <a:p>
            <a:pPr>
              <a:spcAft>
                <a:spcPts val="300"/>
              </a:spcAft>
              <a:defRPr sz="1260">
                <a:solidFill>
                  <a:srgbClr val="DDE9F7"/>
                </a:solidFill>
                <a:latin typeface="Inter"/>
              </a:defRPr>
            </a:pPr>
            <a:r>
              <a:t>•  Visual or inbox context</a:t>
            </a:r>
          </a:p>
          <a:p>
            <a:pPr>
              <a:spcAft>
                <a:spcPts val="300"/>
              </a:spcAft>
              <a:defRPr sz="1260">
                <a:solidFill>
                  <a:srgbClr val="DDE9F7"/>
                </a:solidFill>
                <a:latin typeface="Inter"/>
              </a:defRPr>
            </a:pPr>
            <a:r>
              <a:t>•  Channel-specific next step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40</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HANDS-ON ACTIVITY</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Complete the email and Translation Map</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Connect the post, video, email, approvals, and live file paths.</a:t>
            </a:r>
          </a:p>
        </p:txBody>
      </p:sp>
      <p:sp>
        <p:nvSpPr>
          <p:cNvPr id="9" name="TextBox 8"/>
          <p:cNvSpPr txBox="1"/>
          <p:nvPr/>
        </p:nvSpPr>
        <p:spPr>
          <a:xfrm>
            <a:off x="640080" y="1783080"/>
            <a:ext cx="5074920" cy="3429000"/>
          </a:xfrm>
          <a:prstGeom prst="rect">
            <a:avLst/>
          </a:prstGeom>
          <a:noFill/>
        </p:spPr>
        <p:txBody>
          <a:bodyPr wrap="square" lIns="18288" rIns="18288">
            <a:spAutoFit/>
          </a:bodyPr>
          <a:lstStyle/>
          <a:p>
            <a:pPr>
              <a:spcAft>
                <a:spcPts val="500"/>
              </a:spcAft>
              <a:defRPr sz="1600">
                <a:solidFill>
                  <a:srgbClr val="DDE9F7"/>
                </a:solidFill>
                <a:latin typeface="Inter"/>
              </a:defRPr>
            </a:pPr>
            <a:r>
              <a:t>1.  Choose the deeper angle the email will add to the approved anchor idea.</a:t>
            </a:r>
          </a:p>
          <a:p>
            <a:pPr>
              <a:spcAft>
                <a:spcPts val="500"/>
              </a:spcAft>
              <a:defRPr sz="1600">
                <a:solidFill>
                  <a:srgbClr val="DDE9F7"/>
                </a:solidFill>
                <a:latin typeface="Inter"/>
              </a:defRPr>
            </a:pPr>
            <a:r>
              <a:t>2.  Draft the subject, preview line, opening, one idea, proof, practical move, and call to action.</a:t>
            </a:r>
          </a:p>
          <a:p>
            <a:pPr>
              <a:spcAft>
                <a:spcPts val="500"/>
              </a:spcAft>
              <a:defRPr sz="1600">
                <a:solidFill>
                  <a:srgbClr val="DDE9F7"/>
                </a:solidFill>
                <a:latin typeface="Inter"/>
              </a:defRPr>
            </a:pPr>
            <a:r>
              <a:t>3.  Compare the email with the post and video to remove unnecessary repetition.</a:t>
            </a:r>
          </a:p>
          <a:p>
            <a:pPr>
              <a:spcAft>
                <a:spcPts val="500"/>
              </a:spcAft>
              <a:defRPr sz="1600">
                <a:solidFill>
                  <a:srgbClr val="DDE9F7"/>
                </a:solidFill>
                <a:latin typeface="Inter"/>
              </a:defRPr>
            </a:pPr>
            <a:r>
              <a:t>4.  Run CLEAR plus the email delivery check for links, audience, sender, reply path, and mobile view.</a:t>
            </a:r>
          </a:p>
          <a:p>
            <a:pPr>
              <a:spcAft>
                <a:spcPts val="500"/>
              </a:spcAft>
              <a:defRPr sz="1600">
                <a:solidFill>
                  <a:srgbClr val="DDE9F7"/>
                </a:solidFill>
                <a:latin typeface="Inter"/>
              </a:defRPr>
            </a:pPr>
            <a:r>
              <a:t>5.  Complete the repurposing map and capture future questions from replies.</a:t>
            </a:r>
          </a:p>
        </p:txBody>
      </p:sp>
      <p:sp>
        <p:nvSpPr>
          <p:cNvPr id="10" name="Rounded Rectangle 9"/>
          <p:cNvSpPr/>
          <p:nvPr/>
        </p:nvSpPr>
        <p:spPr>
          <a:xfrm>
            <a:off x="5989320" y="1691640"/>
            <a:ext cx="5577840" cy="384048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1993392"/>
            <a:ext cx="155448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PUBLIC POST</a:t>
            </a:r>
          </a:p>
        </p:txBody>
      </p:sp>
      <p:sp>
        <p:nvSpPr>
          <p:cNvPr id="12" name="TextBox 11"/>
          <p:cNvSpPr txBox="1"/>
          <p:nvPr/>
        </p:nvSpPr>
        <p:spPr>
          <a:xfrm>
            <a:off x="7818120" y="1993392"/>
            <a:ext cx="3246120" cy="310896"/>
          </a:xfrm>
          <a:prstGeom prst="rect">
            <a:avLst/>
          </a:prstGeom>
          <a:noFill/>
        </p:spPr>
        <p:txBody>
          <a:bodyPr wrap="square" lIns="36576" rIns="36576" tIns="36576" bIns="36576" anchor="t">
            <a:normAutofit/>
          </a:bodyPr>
          <a:lstStyle/>
          <a:p>
            <a:pPr algn="l"/>
            <a:r>
              <a:rPr sz="1130" b="1" i="0">
                <a:solidFill>
                  <a:srgbClr val="FFFFFF"/>
                </a:solidFill>
                <a:latin typeface="Inter"/>
              </a:rPr>
              <a:t>What is concise and scrollable?</a:t>
            </a:r>
          </a:p>
        </p:txBody>
      </p:sp>
      <p:sp>
        <p:nvSpPr>
          <p:cNvPr id="13" name="TextBox 12"/>
          <p:cNvSpPr txBox="1"/>
          <p:nvPr/>
        </p:nvSpPr>
        <p:spPr>
          <a:xfrm>
            <a:off x="6263640" y="2743200"/>
            <a:ext cx="155448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SHORT VIDEO</a:t>
            </a:r>
          </a:p>
        </p:txBody>
      </p:sp>
      <p:sp>
        <p:nvSpPr>
          <p:cNvPr id="14" name="TextBox 13"/>
          <p:cNvSpPr txBox="1"/>
          <p:nvPr/>
        </p:nvSpPr>
        <p:spPr>
          <a:xfrm>
            <a:off x="7818120" y="2743200"/>
            <a:ext cx="3246120" cy="310896"/>
          </a:xfrm>
          <a:prstGeom prst="rect">
            <a:avLst/>
          </a:prstGeom>
          <a:noFill/>
        </p:spPr>
        <p:txBody>
          <a:bodyPr wrap="square" lIns="36576" rIns="36576" tIns="36576" bIns="36576" anchor="t">
            <a:normAutofit/>
          </a:bodyPr>
          <a:lstStyle/>
          <a:p>
            <a:pPr algn="l"/>
            <a:r>
              <a:rPr sz="1130" b="1" i="0">
                <a:solidFill>
                  <a:srgbClr val="FFFFFF"/>
                </a:solidFill>
                <a:latin typeface="Inter"/>
              </a:rPr>
              <a:t>What is spoken and visible?</a:t>
            </a:r>
          </a:p>
        </p:txBody>
      </p:sp>
      <p:sp>
        <p:nvSpPr>
          <p:cNvPr id="15" name="TextBox 14"/>
          <p:cNvSpPr txBox="1"/>
          <p:nvPr/>
        </p:nvSpPr>
        <p:spPr>
          <a:xfrm>
            <a:off x="6263640" y="3493008"/>
            <a:ext cx="1554480" cy="256032"/>
          </a:xfrm>
          <a:prstGeom prst="rect">
            <a:avLst/>
          </a:prstGeom>
          <a:noFill/>
        </p:spPr>
        <p:txBody>
          <a:bodyPr wrap="square" lIns="36576" rIns="36576" tIns="36576" bIns="36576" anchor="t">
            <a:spAutoFit/>
          </a:bodyPr>
          <a:lstStyle/>
          <a:p>
            <a:pPr algn="l"/>
            <a:r>
              <a:rPr sz="1000" b="1" i="0">
                <a:solidFill>
                  <a:srgbClr val="22C55E"/>
                </a:solidFill>
                <a:latin typeface="Inter Display"/>
              </a:rPr>
              <a:t>EMAIL</a:t>
            </a:r>
          </a:p>
        </p:txBody>
      </p:sp>
      <p:sp>
        <p:nvSpPr>
          <p:cNvPr id="16" name="TextBox 15"/>
          <p:cNvSpPr txBox="1"/>
          <p:nvPr/>
        </p:nvSpPr>
        <p:spPr>
          <a:xfrm>
            <a:off x="7818120" y="3493008"/>
            <a:ext cx="3246120" cy="310896"/>
          </a:xfrm>
          <a:prstGeom prst="rect">
            <a:avLst/>
          </a:prstGeom>
          <a:noFill/>
        </p:spPr>
        <p:txBody>
          <a:bodyPr wrap="square" lIns="36576" rIns="36576" tIns="36576" bIns="36576" anchor="t">
            <a:normAutofit/>
          </a:bodyPr>
          <a:lstStyle/>
          <a:p>
            <a:pPr algn="l"/>
            <a:r>
              <a:rPr sz="1130" b="1" i="0">
                <a:solidFill>
                  <a:srgbClr val="FFFFFF"/>
                </a:solidFill>
                <a:latin typeface="Inter"/>
              </a:rPr>
              <a:t>What is deeper and relational?</a:t>
            </a:r>
          </a:p>
        </p:txBody>
      </p:sp>
      <p:sp>
        <p:nvSpPr>
          <p:cNvPr id="17" name="TextBox 16"/>
          <p:cNvSpPr txBox="1"/>
          <p:nvPr/>
        </p:nvSpPr>
        <p:spPr>
          <a:xfrm>
            <a:off x="6263640" y="4242816"/>
            <a:ext cx="1554480" cy="256032"/>
          </a:xfrm>
          <a:prstGeom prst="rect">
            <a:avLst/>
          </a:prstGeom>
          <a:noFill/>
        </p:spPr>
        <p:txBody>
          <a:bodyPr wrap="square" lIns="36576" rIns="36576" tIns="36576" bIns="36576" anchor="t">
            <a:spAutoFit/>
          </a:bodyPr>
          <a:lstStyle/>
          <a:p>
            <a:pPr algn="l"/>
            <a:r>
              <a:rPr sz="1000" b="1" i="0">
                <a:solidFill>
                  <a:srgbClr val="14B8A6"/>
                </a:solidFill>
                <a:latin typeface="Inter Display"/>
              </a:rPr>
              <a:t>OPTIONAL</a:t>
            </a:r>
          </a:p>
        </p:txBody>
      </p:sp>
      <p:sp>
        <p:nvSpPr>
          <p:cNvPr id="18" name="TextBox 17"/>
          <p:cNvSpPr txBox="1"/>
          <p:nvPr/>
        </p:nvSpPr>
        <p:spPr>
          <a:xfrm>
            <a:off x="7818120" y="4242816"/>
            <a:ext cx="3246120" cy="310896"/>
          </a:xfrm>
          <a:prstGeom prst="rect">
            <a:avLst/>
          </a:prstGeom>
          <a:noFill/>
        </p:spPr>
        <p:txBody>
          <a:bodyPr wrap="square" lIns="36576" rIns="36576" tIns="36576" bIns="36576" anchor="t">
            <a:normAutofit/>
          </a:bodyPr>
          <a:lstStyle/>
          <a:p>
            <a:pPr algn="l"/>
            <a:r>
              <a:rPr sz="1130" b="1" i="0">
                <a:solidFill>
                  <a:srgbClr val="FFFFFF"/>
                </a:solidFill>
                <a:latin typeface="Inter"/>
              </a:rPr>
              <a:t>What question becomes the next asset?</a:t>
            </a:r>
          </a:p>
        </p:txBody>
      </p:sp>
      <p:sp>
        <p:nvSpPr>
          <p:cNvPr id="19" name="Rounded Rectangle 18"/>
          <p:cNvSpPr/>
          <p:nvPr/>
        </p:nvSpPr>
        <p:spPr>
          <a:xfrm>
            <a:off x="6537960" y="5074920"/>
            <a:ext cx="4389120" cy="329184"/>
          </a:xfrm>
          <a:prstGeom prst="roundRect">
            <a:avLst/>
          </a:prstGeom>
          <a:solidFill>
            <a:srgbClr val="06101F"/>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5138928"/>
            <a:ext cx="4114800" cy="182880"/>
          </a:xfrm>
          <a:prstGeom prst="rect">
            <a:avLst/>
          </a:prstGeom>
          <a:noFill/>
        </p:spPr>
        <p:txBody>
          <a:bodyPr wrap="square" lIns="36576" rIns="36576" tIns="36576" bIns="36576" anchor="t">
            <a:normAutofit/>
          </a:bodyPr>
          <a:lstStyle/>
          <a:p>
            <a:pPr algn="ctr"/>
            <a:r>
              <a:rPr sz="1070" b="1" i="0">
                <a:solidFill>
                  <a:srgbClr val="FFFFFF"/>
                </a:solidFill>
                <a:latin typeface="Inter"/>
              </a:rPr>
              <a:t>Capture replies and learning back into the idea bank.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41</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FINAL PROJECT</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LANA One-Week Content Command Center</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A ready-to-operate content system for one real week.</a:t>
            </a:r>
          </a:p>
        </p:txBody>
      </p:sp>
      <p:sp>
        <p:nvSpPr>
          <p:cNvPr id="9" name="Rounded Rectangle 8"/>
          <p:cNvSpPr/>
          <p:nvPr/>
        </p:nvSpPr>
        <p:spPr>
          <a:xfrm>
            <a:off x="7086600" y="1874519"/>
            <a:ext cx="4206240" cy="438912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7_printable_workshop_overview.png"/>
          <p:cNvPicPr>
            <a:picLocks noChangeAspect="1"/>
          </p:cNvPicPr>
          <p:nvPr/>
        </p:nvPicPr>
        <p:blipFill>
          <a:blip r:embed="rId3"/>
          <a:stretch>
            <a:fillRect/>
          </a:stretch>
        </p:blipFill>
        <p:spPr>
          <a:xfrm>
            <a:off x="7718705" y="1993392"/>
            <a:ext cx="2942029" cy="4160520"/>
          </a:xfrm>
          <a:prstGeom prst="rect">
            <a:avLst/>
          </a:prstGeom>
        </p:spPr>
      </p:pic>
      <p:sp>
        <p:nvSpPr>
          <p:cNvPr id="11" name="TextBox 10"/>
          <p:cNvSpPr txBox="1"/>
          <p:nvPr/>
        </p:nvSpPr>
        <p:spPr>
          <a:xfrm>
            <a:off x="640080" y="1965960"/>
            <a:ext cx="6080760" cy="822960"/>
          </a:xfrm>
          <a:prstGeom prst="rect">
            <a:avLst/>
          </a:prstGeom>
          <a:noFill/>
        </p:spPr>
        <p:txBody>
          <a:bodyPr wrap="square" lIns="36576" rIns="36576" tIns="36576" bIns="36576" anchor="t">
            <a:normAutofit/>
          </a:bodyPr>
          <a:lstStyle/>
          <a:p>
            <a:pPr algn="l"/>
            <a:r>
              <a:rPr sz="1520" b="0" i="0">
                <a:solidFill>
                  <a:srgbClr val="DDE9F7"/>
                </a:solidFill>
                <a:latin typeface="Inter"/>
              </a:rPr>
              <a:t>Build a complete, ready-to-operate content system for one week. The system must begin with approved source material, preserve the founder's voice, show who reviews and approves every asset, and translate one central insight into channel-native public content, video, and email.</a:t>
            </a:r>
          </a:p>
        </p:txBody>
      </p:sp>
      <p:sp>
        <p:nvSpPr>
          <p:cNvPr id="12" name="TextBox 11"/>
          <p:cNvSpPr txBox="1"/>
          <p:nvPr/>
        </p:nvSpPr>
        <p:spPr>
          <a:xfrm>
            <a:off x="640080" y="2971800"/>
            <a:ext cx="201168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CORE COMPONENTS</a:t>
            </a:r>
          </a:p>
        </p:txBody>
      </p:sp>
      <p:sp>
        <p:nvSpPr>
          <p:cNvPr id="13" name="TextBox 12"/>
          <p:cNvSpPr txBox="1"/>
          <p:nvPr/>
        </p:nvSpPr>
        <p:spPr>
          <a:xfrm>
            <a:off x="640080" y="3291840"/>
            <a:ext cx="2971800" cy="2331720"/>
          </a:xfrm>
          <a:prstGeom prst="rect">
            <a:avLst/>
          </a:prstGeom>
          <a:noFill/>
        </p:spPr>
        <p:txBody>
          <a:bodyPr wrap="square" lIns="27432" rIns="27432" tIns="18288" bIns="18288">
            <a:spAutoFit/>
          </a:bodyPr>
          <a:lstStyle/>
          <a:p>
            <a:pPr>
              <a:spcAft>
                <a:spcPts val="400"/>
              </a:spcAft>
              <a:defRPr sz="1280">
                <a:solidFill>
                  <a:srgbClr val="DDE9F7"/>
                </a:solidFill>
                <a:latin typeface="Inter"/>
              </a:defRPr>
            </a:pPr>
            <a:r>
              <a:t>•  Three-pillar Content Strategy Card</a:t>
            </a:r>
          </a:p>
          <a:p>
            <a:pPr>
              <a:spcAft>
                <a:spcPts val="400"/>
              </a:spcAft>
              <a:defRPr sz="1280">
                <a:solidFill>
                  <a:srgbClr val="DDE9F7"/>
                </a:solidFill>
                <a:latin typeface="Inter"/>
              </a:defRPr>
            </a:pPr>
            <a:r>
              <a:t>•  15-idea evidence bank</a:t>
            </a:r>
          </a:p>
          <a:p>
            <a:pPr>
              <a:spcAft>
                <a:spcPts val="400"/>
              </a:spcAft>
              <a:defRPr sz="1280">
                <a:solidFill>
                  <a:srgbClr val="DDE9F7"/>
                </a:solidFill>
                <a:latin typeface="Inter"/>
              </a:defRPr>
            </a:pPr>
            <a:r>
              <a:t>•  Weekly publishing rhythm</a:t>
            </a:r>
          </a:p>
          <a:p>
            <a:pPr>
              <a:spcAft>
                <a:spcPts val="400"/>
              </a:spcAft>
              <a:defRPr sz="1280">
                <a:solidFill>
                  <a:srgbClr val="DDE9F7"/>
                </a:solidFill>
                <a:latin typeface="Inter"/>
              </a:defRPr>
            </a:pPr>
            <a:r>
              <a:t>•  One-source command board</a:t>
            </a:r>
          </a:p>
          <a:p>
            <a:pPr>
              <a:spcAft>
                <a:spcPts val="400"/>
              </a:spcAft>
              <a:defRPr sz="1280">
                <a:solidFill>
                  <a:srgbClr val="DDE9F7"/>
                </a:solidFill>
                <a:latin typeface="Inter"/>
              </a:defRPr>
            </a:pPr>
            <a:r>
              <a:t>•  LANA Voice Card</a:t>
            </a:r>
          </a:p>
          <a:p>
            <a:pPr>
              <a:spcAft>
                <a:spcPts val="400"/>
              </a:spcAft>
              <a:defRPr sz="1280">
                <a:solidFill>
                  <a:srgbClr val="DDE9F7"/>
                </a:solidFill>
                <a:latin typeface="Inter"/>
              </a:defRPr>
            </a:pPr>
            <a:r>
              <a:t>•  SIGNAL Brief and approved anchor post</a:t>
            </a:r>
          </a:p>
          <a:p>
            <a:pPr>
              <a:spcAft>
                <a:spcPts val="400"/>
              </a:spcAft>
              <a:defRPr sz="1280">
                <a:solidFill>
                  <a:srgbClr val="DDE9F7"/>
                </a:solidFill>
                <a:latin typeface="Inter"/>
              </a:defRPr>
            </a:pPr>
            <a:r>
              <a:t>•  Completed CLEAR review</a:t>
            </a:r>
          </a:p>
        </p:txBody>
      </p:sp>
      <p:sp>
        <p:nvSpPr>
          <p:cNvPr id="14" name="TextBox 13"/>
          <p:cNvSpPr txBox="1"/>
          <p:nvPr/>
        </p:nvSpPr>
        <p:spPr>
          <a:xfrm>
            <a:off x="3703320" y="3291840"/>
            <a:ext cx="2971800" cy="2331720"/>
          </a:xfrm>
          <a:prstGeom prst="rect">
            <a:avLst/>
          </a:prstGeom>
          <a:noFill/>
        </p:spPr>
        <p:txBody>
          <a:bodyPr wrap="square" lIns="27432" rIns="27432" tIns="18288" bIns="18288">
            <a:spAutoFit/>
          </a:bodyPr>
          <a:lstStyle/>
          <a:p>
            <a:pPr>
              <a:spcAft>
                <a:spcPts val="400"/>
              </a:spcAft>
              <a:defRPr sz="1280">
                <a:solidFill>
                  <a:srgbClr val="DDE9F7"/>
                </a:solidFill>
                <a:latin typeface="Inter"/>
              </a:defRPr>
            </a:pPr>
            <a:r>
              <a:t>•  Approval Lane SOP</a:t>
            </a:r>
          </a:p>
          <a:p>
            <a:pPr>
              <a:spcAft>
                <a:spcPts val="400"/>
              </a:spcAft>
              <a:defRPr sz="1280">
                <a:solidFill>
                  <a:srgbClr val="DDE9F7"/>
                </a:solidFill>
                <a:latin typeface="Inter"/>
              </a:defRPr>
            </a:pPr>
            <a:r>
              <a:t>•  Short-form video script and shot list</a:t>
            </a:r>
          </a:p>
          <a:p>
            <a:pPr>
              <a:spcAft>
                <a:spcPts val="400"/>
              </a:spcAft>
              <a:defRPr sz="1280">
                <a:solidFill>
                  <a:srgbClr val="DDE9F7"/>
                </a:solidFill>
                <a:latin typeface="Inter"/>
              </a:defRPr>
            </a:pPr>
            <a:r>
              <a:t>•  Email draft and delivery check</a:t>
            </a:r>
          </a:p>
          <a:p>
            <a:pPr>
              <a:spcAft>
                <a:spcPts val="400"/>
              </a:spcAft>
              <a:defRPr sz="1280">
                <a:solidFill>
                  <a:srgbClr val="DDE9F7"/>
                </a:solidFill>
                <a:latin typeface="Inter"/>
              </a:defRPr>
            </a:pPr>
            <a:r>
              <a:t>•  One-to-many Translation Map</a:t>
            </a:r>
          </a:p>
          <a:p>
            <a:pPr>
              <a:spcAft>
                <a:spcPts val="400"/>
              </a:spcAft>
              <a:defRPr sz="1280">
                <a:solidFill>
                  <a:srgbClr val="DDE9F7"/>
                </a:solidFill>
                <a:latin typeface="Inter"/>
              </a:defRPr>
            </a:pPr>
            <a:r>
              <a:t>•  One-week learning and response plan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42</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06B6D4"/>
                </a:solidFill>
                <a:latin typeface="Inter Display"/>
              </a:rPr>
              <a:t>LAUNCH READINESS</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Is the one-week system ready to operate?</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Check source, workflow, voice, approval, channel fit, and learning.</a:t>
            </a:r>
          </a:p>
        </p:txBody>
      </p:sp>
      <p:sp>
        <p:nvSpPr>
          <p:cNvPr id="9" name="Rounded Rectangle 8"/>
          <p:cNvSpPr/>
          <p:nvPr/>
        </p:nvSpPr>
        <p:spPr>
          <a:xfrm>
            <a:off x="594360" y="1874519"/>
            <a:ext cx="5166360" cy="566928"/>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84248"/>
            <a:ext cx="365760" cy="320040"/>
          </a:xfrm>
          <a:prstGeom prst="rect">
            <a:avLst/>
          </a:prstGeom>
          <a:noFill/>
        </p:spPr>
        <p:txBody>
          <a:bodyPr wrap="square" lIns="36576" rIns="36576" tIns="36576" bIns="36576" anchor="t">
            <a:spAutoFit/>
          </a:bodyPr>
          <a:lstStyle/>
          <a:p>
            <a:pPr algn="ctr"/>
            <a:r>
              <a:rPr sz="1500" b="1" i="0">
                <a:solidFill>
                  <a:srgbClr val="06B6D4"/>
                </a:solidFill>
                <a:latin typeface="Inter Display"/>
              </a:rPr>
              <a:t>☐</a:t>
            </a:r>
          </a:p>
        </p:txBody>
      </p:sp>
      <p:sp>
        <p:nvSpPr>
          <p:cNvPr id="11" name="TextBox 10"/>
          <p:cNvSpPr txBox="1"/>
          <p:nvPr/>
        </p:nvSpPr>
        <p:spPr>
          <a:xfrm>
            <a:off x="1188720" y="1975103"/>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Every content idea belongs to one pillar and names its source.</a:t>
            </a:r>
          </a:p>
        </p:txBody>
      </p:sp>
      <p:sp>
        <p:nvSpPr>
          <p:cNvPr id="12" name="Rounded Rectangle 11"/>
          <p:cNvSpPr/>
          <p:nvPr/>
        </p:nvSpPr>
        <p:spPr>
          <a:xfrm>
            <a:off x="594360" y="2624327"/>
            <a:ext cx="5166360" cy="566928"/>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34056"/>
            <a:ext cx="365760" cy="320040"/>
          </a:xfrm>
          <a:prstGeom prst="rect">
            <a:avLst/>
          </a:prstGeom>
          <a:noFill/>
        </p:spPr>
        <p:txBody>
          <a:bodyPr wrap="square" lIns="36576" rIns="36576" tIns="36576" bIns="36576" anchor="t">
            <a:spAutoFit/>
          </a:bodyPr>
          <a:lstStyle/>
          <a:p>
            <a:pPr algn="ctr"/>
            <a:r>
              <a:rPr sz="1500" b="1" i="0">
                <a:solidFill>
                  <a:srgbClr val="06B6D4"/>
                </a:solidFill>
                <a:latin typeface="Inter Display"/>
              </a:rPr>
              <a:t>☐</a:t>
            </a:r>
          </a:p>
        </p:txBody>
      </p:sp>
      <p:sp>
        <p:nvSpPr>
          <p:cNvPr id="14" name="TextBox 13"/>
          <p:cNvSpPr txBox="1"/>
          <p:nvPr/>
        </p:nvSpPr>
        <p:spPr>
          <a:xfrm>
            <a:off x="1188720" y="2724911"/>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The weekly rhythm fits actual drafting and approval capacity.</a:t>
            </a:r>
          </a:p>
        </p:txBody>
      </p:sp>
      <p:sp>
        <p:nvSpPr>
          <p:cNvPr id="15" name="Rounded Rectangle 14"/>
          <p:cNvSpPr/>
          <p:nvPr/>
        </p:nvSpPr>
        <p:spPr>
          <a:xfrm>
            <a:off x="594360" y="3374135"/>
            <a:ext cx="5166360" cy="566928"/>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483863"/>
            <a:ext cx="365760" cy="320040"/>
          </a:xfrm>
          <a:prstGeom prst="rect">
            <a:avLst/>
          </a:prstGeom>
          <a:noFill/>
        </p:spPr>
        <p:txBody>
          <a:bodyPr wrap="square" lIns="36576" rIns="36576" tIns="36576" bIns="36576" anchor="t">
            <a:spAutoFit/>
          </a:bodyPr>
          <a:lstStyle/>
          <a:p>
            <a:pPr algn="ctr"/>
            <a:r>
              <a:rPr sz="1500" b="1" i="0">
                <a:solidFill>
                  <a:srgbClr val="06B6D4"/>
                </a:solidFill>
                <a:latin typeface="Inter Display"/>
              </a:rPr>
              <a:t>☐</a:t>
            </a:r>
          </a:p>
        </p:txBody>
      </p:sp>
      <p:sp>
        <p:nvSpPr>
          <p:cNvPr id="17" name="TextBox 16"/>
          <p:cNvSpPr txBox="1"/>
          <p:nvPr/>
        </p:nvSpPr>
        <p:spPr>
          <a:xfrm>
            <a:off x="1188720" y="3474719"/>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The anchor post contains a specific perspective, example, and reader next step.</a:t>
            </a:r>
          </a:p>
        </p:txBody>
      </p:sp>
      <p:sp>
        <p:nvSpPr>
          <p:cNvPr id="18" name="Rounded Rectangle 17"/>
          <p:cNvSpPr/>
          <p:nvPr/>
        </p:nvSpPr>
        <p:spPr>
          <a:xfrm>
            <a:off x="594360" y="4123944"/>
            <a:ext cx="5166360" cy="566928"/>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233672"/>
            <a:ext cx="365760" cy="320040"/>
          </a:xfrm>
          <a:prstGeom prst="rect">
            <a:avLst/>
          </a:prstGeom>
          <a:noFill/>
        </p:spPr>
        <p:txBody>
          <a:bodyPr wrap="square" lIns="36576" rIns="36576" tIns="36576" bIns="36576" anchor="t">
            <a:spAutoFit/>
          </a:bodyPr>
          <a:lstStyle/>
          <a:p>
            <a:pPr algn="ctr"/>
            <a:r>
              <a:rPr sz="1500" b="1" i="0">
                <a:solidFill>
                  <a:srgbClr val="06B6D4"/>
                </a:solidFill>
                <a:latin typeface="Inter Display"/>
              </a:rPr>
              <a:t>☐</a:t>
            </a:r>
          </a:p>
        </p:txBody>
      </p:sp>
      <p:sp>
        <p:nvSpPr>
          <p:cNvPr id="20" name="TextBox 19"/>
          <p:cNvSpPr txBox="1"/>
          <p:nvPr/>
        </p:nvSpPr>
        <p:spPr>
          <a:xfrm>
            <a:off x="1188720" y="4224528"/>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Claims, examples, customer information, links, and rights are reviewed.</a:t>
            </a:r>
          </a:p>
        </p:txBody>
      </p:sp>
      <p:sp>
        <p:nvSpPr>
          <p:cNvPr id="21" name="Rounded Rectangle 20"/>
          <p:cNvSpPr/>
          <p:nvPr/>
        </p:nvSpPr>
        <p:spPr>
          <a:xfrm>
            <a:off x="594360" y="4873752"/>
            <a:ext cx="5166360" cy="566928"/>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983480"/>
            <a:ext cx="365760" cy="320040"/>
          </a:xfrm>
          <a:prstGeom prst="rect">
            <a:avLst/>
          </a:prstGeom>
          <a:noFill/>
        </p:spPr>
        <p:txBody>
          <a:bodyPr wrap="square" lIns="36576" rIns="36576" tIns="36576" bIns="36576" anchor="t">
            <a:spAutoFit/>
          </a:bodyPr>
          <a:lstStyle/>
          <a:p>
            <a:pPr algn="ctr"/>
            <a:r>
              <a:rPr sz="1500" b="1" i="0">
                <a:solidFill>
                  <a:srgbClr val="06B6D4"/>
                </a:solidFill>
                <a:latin typeface="Inter Display"/>
              </a:rPr>
              <a:t>☐</a:t>
            </a:r>
          </a:p>
        </p:txBody>
      </p:sp>
      <p:sp>
        <p:nvSpPr>
          <p:cNvPr id="23" name="TextBox 22"/>
          <p:cNvSpPr txBox="1"/>
          <p:nvPr/>
        </p:nvSpPr>
        <p:spPr>
          <a:xfrm>
            <a:off x="1188720" y="4974336"/>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A named human approves each customer-facing asset.</a:t>
            </a:r>
          </a:p>
        </p:txBody>
      </p:sp>
      <p:sp>
        <p:nvSpPr>
          <p:cNvPr id="24" name="Rounded Rectangle 23"/>
          <p:cNvSpPr/>
          <p:nvPr/>
        </p:nvSpPr>
        <p:spPr>
          <a:xfrm>
            <a:off x="6263640" y="1874519"/>
            <a:ext cx="5166360" cy="566928"/>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19088" y="1984248"/>
            <a:ext cx="365760" cy="320040"/>
          </a:xfrm>
          <a:prstGeom prst="rect">
            <a:avLst/>
          </a:prstGeom>
          <a:noFill/>
        </p:spPr>
        <p:txBody>
          <a:bodyPr wrap="square" lIns="36576" rIns="36576" tIns="36576" bIns="36576" anchor="t">
            <a:spAutoFit/>
          </a:bodyPr>
          <a:lstStyle/>
          <a:p>
            <a:pPr algn="ctr"/>
            <a:r>
              <a:rPr sz="1500" b="1" i="0">
                <a:solidFill>
                  <a:srgbClr val="14B8A6"/>
                </a:solidFill>
                <a:latin typeface="Inter Display"/>
              </a:rPr>
              <a:t>☐</a:t>
            </a:r>
          </a:p>
        </p:txBody>
      </p:sp>
      <p:sp>
        <p:nvSpPr>
          <p:cNvPr id="26" name="TextBox 25"/>
          <p:cNvSpPr txBox="1"/>
          <p:nvPr/>
        </p:nvSpPr>
        <p:spPr>
          <a:xfrm>
            <a:off x="6858000" y="1975103"/>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The video sounds natural when read aloud and includes a caption plan.</a:t>
            </a:r>
          </a:p>
        </p:txBody>
      </p:sp>
      <p:sp>
        <p:nvSpPr>
          <p:cNvPr id="27" name="Rounded Rectangle 26"/>
          <p:cNvSpPr/>
          <p:nvPr/>
        </p:nvSpPr>
        <p:spPr>
          <a:xfrm>
            <a:off x="6263640" y="2624327"/>
            <a:ext cx="5166360" cy="566928"/>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2734056"/>
            <a:ext cx="365760" cy="320040"/>
          </a:xfrm>
          <a:prstGeom prst="rect">
            <a:avLst/>
          </a:prstGeom>
          <a:noFill/>
        </p:spPr>
        <p:txBody>
          <a:bodyPr wrap="square" lIns="36576" rIns="36576" tIns="36576" bIns="36576" anchor="t">
            <a:spAutoFit/>
          </a:bodyPr>
          <a:lstStyle/>
          <a:p>
            <a:pPr algn="ctr"/>
            <a:r>
              <a:rPr sz="1500" b="1" i="0">
                <a:solidFill>
                  <a:srgbClr val="14B8A6"/>
                </a:solidFill>
                <a:latin typeface="Inter Display"/>
              </a:rPr>
              <a:t>☐</a:t>
            </a:r>
          </a:p>
        </p:txBody>
      </p:sp>
      <p:sp>
        <p:nvSpPr>
          <p:cNvPr id="29" name="TextBox 28"/>
          <p:cNvSpPr txBox="1"/>
          <p:nvPr/>
        </p:nvSpPr>
        <p:spPr>
          <a:xfrm>
            <a:off x="6858000" y="2724911"/>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The email adds value beyond the public post and has tested delivery details.</a:t>
            </a:r>
          </a:p>
        </p:txBody>
      </p:sp>
      <p:sp>
        <p:nvSpPr>
          <p:cNvPr id="30" name="Rounded Rectangle 29"/>
          <p:cNvSpPr/>
          <p:nvPr/>
        </p:nvSpPr>
        <p:spPr>
          <a:xfrm>
            <a:off x="6263640" y="3374135"/>
            <a:ext cx="5166360" cy="566928"/>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3483863"/>
            <a:ext cx="365760" cy="320040"/>
          </a:xfrm>
          <a:prstGeom prst="rect">
            <a:avLst/>
          </a:prstGeom>
          <a:noFill/>
        </p:spPr>
        <p:txBody>
          <a:bodyPr wrap="square" lIns="36576" rIns="36576" tIns="36576" bIns="36576" anchor="t">
            <a:spAutoFit/>
          </a:bodyPr>
          <a:lstStyle/>
          <a:p>
            <a:pPr algn="ctr"/>
            <a:r>
              <a:rPr sz="1500" b="1" i="0">
                <a:solidFill>
                  <a:srgbClr val="14B8A6"/>
                </a:solidFill>
                <a:latin typeface="Inter Display"/>
              </a:rPr>
              <a:t>☐</a:t>
            </a:r>
          </a:p>
        </p:txBody>
      </p:sp>
      <p:sp>
        <p:nvSpPr>
          <p:cNvPr id="32" name="TextBox 31"/>
          <p:cNvSpPr txBox="1"/>
          <p:nvPr/>
        </p:nvSpPr>
        <p:spPr>
          <a:xfrm>
            <a:off x="6858000" y="3474719"/>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All derivatives link to the approved parent idea.</a:t>
            </a:r>
          </a:p>
        </p:txBody>
      </p:sp>
      <p:sp>
        <p:nvSpPr>
          <p:cNvPr id="33" name="Rounded Rectangle 32"/>
          <p:cNvSpPr/>
          <p:nvPr/>
        </p:nvSpPr>
        <p:spPr>
          <a:xfrm>
            <a:off x="6263640" y="4123944"/>
            <a:ext cx="5166360" cy="566928"/>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4233672"/>
            <a:ext cx="365760" cy="320040"/>
          </a:xfrm>
          <a:prstGeom prst="rect">
            <a:avLst/>
          </a:prstGeom>
          <a:noFill/>
        </p:spPr>
        <p:txBody>
          <a:bodyPr wrap="square" lIns="36576" rIns="36576" tIns="36576" bIns="36576" anchor="t">
            <a:spAutoFit/>
          </a:bodyPr>
          <a:lstStyle/>
          <a:p>
            <a:pPr algn="ctr"/>
            <a:r>
              <a:rPr sz="1500" b="1" i="0">
                <a:solidFill>
                  <a:srgbClr val="14B8A6"/>
                </a:solidFill>
                <a:latin typeface="Inter Display"/>
              </a:rPr>
              <a:t>☐</a:t>
            </a:r>
          </a:p>
        </p:txBody>
      </p:sp>
      <p:sp>
        <p:nvSpPr>
          <p:cNvPr id="35" name="TextBox 34"/>
          <p:cNvSpPr txBox="1"/>
          <p:nvPr/>
        </p:nvSpPr>
        <p:spPr>
          <a:xfrm>
            <a:off x="6858000" y="4224528"/>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The command board shows the current status and next action for every asset.</a:t>
            </a:r>
          </a:p>
        </p:txBody>
      </p:sp>
      <p:sp>
        <p:nvSpPr>
          <p:cNvPr id="36" name="Rounded Rectangle 35"/>
          <p:cNvSpPr/>
          <p:nvPr/>
        </p:nvSpPr>
        <p:spPr>
          <a:xfrm>
            <a:off x="6263640" y="4873752"/>
            <a:ext cx="5166360" cy="566928"/>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983480"/>
            <a:ext cx="365760" cy="320040"/>
          </a:xfrm>
          <a:prstGeom prst="rect">
            <a:avLst/>
          </a:prstGeom>
          <a:noFill/>
        </p:spPr>
        <p:txBody>
          <a:bodyPr wrap="square" lIns="36576" rIns="36576" tIns="36576" bIns="36576" anchor="t">
            <a:spAutoFit/>
          </a:bodyPr>
          <a:lstStyle/>
          <a:p>
            <a:pPr algn="ctr"/>
            <a:r>
              <a:rPr sz="1500" b="1" i="0">
                <a:solidFill>
                  <a:srgbClr val="14B8A6"/>
                </a:solidFill>
                <a:latin typeface="Inter Display"/>
              </a:rPr>
              <a:t>☐</a:t>
            </a:r>
          </a:p>
        </p:txBody>
      </p:sp>
      <p:sp>
        <p:nvSpPr>
          <p:cNvPr id="38" name="TextBox 37"/>
          <p:cNvSpPr txBox="1"/>
          <p:nvPr/>
        </p:nvSpPr>
        <p:spPr>
          <a:xfrm>
            <a:off x="6858000" y="4974336"/>
            <a:ext cx="4343400" cy="347472"/>
          </a:xfrm>
          <a:prstGeom prst="rect">
            <a:avLst/>
          </a:prstGeom>
          <a:noFill/>
        </p:spPr>
        <p:txBody>
          <a:bodyPr wrap="square" lIns="36576" rIns="36576" tIns="36576" bIns="36576" anchor="t">
            <a:normAutofit/>
          </a:bodyPr>
          <a:lstStyle/>
          <a:p>
            <a:pPr algn="l"/>
            <a:r>
              <a:rPr sz="1120" b="1" i="0">
                <a:solidFill>
                  <a:srgbClr val="FFFFFF"/>
                </a:solidFill>
                <a:latin typeface="Inter"/>
              </a:rPr>
              <a:t>Audience replies and learning have a documented return path to the idea bank.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43</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8B5CF6"/>
                </a:solidFill>
                <a:latin typeface="Inter Display"/>
              </a:rPr>
              <a:t>EVALUATION RUBRIC</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Twenty points to launch-ready</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Score 17–20 ready; 13–16 revise then launch; 0–12 rebuild key elements.</a:t>
            </a:r>
          </a:p>
        </p:txBody>
      </p:sp>
      <p:sp>
        <p:nvSpPr>
          <p:cNvPr id="9" name="Rounded Rectangle 8"/>
          <p:cNvSpPr/>
          <p:nvPr/>
        </p:nvSpPr>
        <p:spPr>
          <a:xfrm>
            <a:off x="594360" y="1783080"/>
            <a:ext cx="10972800" cy="713232"/>
          </a:xfrm>
          <a:prstGeom prst="roundRect">
            <a:avLst/>
          </a:prstGeom>
          <a:solidFill>
            <a:srgbClr val="0A1730"/>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29384"/>
            <a:ext cx="2743200" cy="292608"/>
          </a:xfrm>
          <a:prstGeom prst="rect">
            <a:avLst/>
          </a:prstGeom>
          <a:noFill/>
        </p:spPr>
        <p:txBody>
          <a:bodyPr wrap="square" lIns="36576" rIns="36576" tIns="36576" bIns="36576" anchor="t">
            <a:normAutofit/>
          </a:bodyPr>
          <a:lstStyle/>
          <a:p>
            <a:pPr algn="l"/>
            <a:r>
              <a:rPr sz="1350" b="1" i="0">
                <a:solidFill>
                  <a:srgbClr val="FFFFFF"/>
                </a:solidFill>
                <a:latin typeface="Inter Display"/>
              </a:rPr>
              <a:t>Pillar strategy and idea quality</a:t>
            </a:r>
          </a:p>
        </p:txBody>
      </p:sp>
      <p:sp>
        <p:nvSpPr>
          <p:cNvPr id="11" name="TextBox 10"/>
          <p:cNvSpPr txBox="1"/>
          <p:nvPr/>
        </p:nvSpPr>
        <p:spPr>
          <a:xfrm>
            <a:off x="3703320" y="1938528"/>
            <a:ext cx="640080" cy="274320"/>
          </a:xfrm>
          <a:prstGeom prst="rect">
            <a:avLst/>
          </a:prstGeom>
          <a:noFill/>
        </p:spPr>
        <p:txBody>
          <a:bodyPr wrap="square" lIns="36576" rIns="36576" tIns="36576" bIns="36576" anchor="t">
            <a:normAutofit/>
          </a:bodyPr>
          <a:lstStyle/>
          <a:p>
            <a:pPr algn="ctr"/>
            <a:r>
              <a:rPr sz="1100" b="1" i="0">
                <a:solidFill>
                  <a:srgbClr val="8B5CF6"/>
                </a:solidFill>
                <a:latin typeface="Inter Display"/>
              </a:rPr>
              <a:t>4 PTS</a:t>
            </a:r>
          </a:p>
        </p:txBody>
      </p:sp>
      <p:sp>
        <p:nvSpPr>
          <p:cNvPr id="12" name="TextBox 11"/>
          <p:cNvSpPr txBox="1"/>
          <p:nvPr/>
        </p:nvSpPr>
        <p:spPr>
          <a:xfrm>
            <a:off x="4480560" y="1892807"/>
            <a:ext cx="6720840" cy="384048"/>
          </a:xfrm>
          <a:prstGeom prst="rect">
            <a:avLst/>
          </a:prstGeom>
          <a:noFill/>
        </p:spPr>
        <p:txBody>
          <a:bodyPr wrap="square" lIns="36576" rIns="36576" tIns="36576" bIns="36576" anchor="t">
            <a:normAutofit/>
          </a:bodyPr>
          <a:lstStyle/>
          <a:p>
            <a:pPr algn="l"/>
            <a:r>
              <a:rPr sz="1070" b="0" i="0">
                <a:solidFill>
                  <a:srgbClr val="DDE9F7"/>
                </a:solidFill>
                <a:latin typeface="Inter"/>
              </a:rPr>
              <a:t>Three focused pillars with useful boundaries, approved proof sources, and a strong 15-idea bank.</a:t>
            </a:r>
          </a:p>
        </p:txBody>
      </p:sp>
      <p:sp>
        <p:nvSpPr>
          <p:cNvPr id="13" name="Rounded Rectangle 12"/>
          <p:cNvSpPr/>
          <p:nvPr/>
        </p:nvSpPr>
        <p:spPr>
          <a:xfrm>
            <a:off x="594360" y="2651760"/>
            <a:ext cx="10972800" cy="713232"/>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798064"/>
            <a:ext cx="2743200" cy="292608"/>
          </a:xfrm>
          <a:prstGeom prst="rect">
            <a:avLst/>
          </a:prstGeom>
          <a:noFill/>
        </p:spPr>
        <p:txBody>
          <a:bodyPr wrap="square" lIns="36576" rIns="36576" tIns="36576" bIns="36576" anchor="t">
            <a:normAutofit/>
          </a:bodyPr>
          <a:lstStyle/>
          <a:p>
            <a:pPr algn="l"/>
            <a:r>
              <a:rPr sz="1350" b="1" i="0">
                <a:solidFill>
                  <a:srgbClr val="FFFFFF"/>
                </a:solidFill>
                <a:latin typeface="Inter Display"/>
              </a:rPr>
              <a:t>Weekly operating system</a:t>
            </a:r>
          </a:p>
        </p:txBody>
      </p:sp>
      <p:sp>
        <p:nvSpPr>
          <p:cNvPr id="15" name="TextBox 14"/>
          <p:cNvSpPr txBox="1"/>
          <p:nvPr/>
        </p:nvSpPr>
        <p:spPr>
          <a:xfrm>
            <a:off x="3703320" y="2807208"/>
            <a:ext cx="640080" cy="274320"/>
          </a:xfrm>
          <a:prstGeom prst="rect">
            <a:avLst/>
          </a:prstGeom>
          <a:noFill/>
        </p:spPr>
        <p:txBody>
          <a:bodyPr wrap="square" lIns="36576" rIns="36576" tIns="36576" bIns="36576" anchor="t">
            <a:normAutofit/>
          </a:bodyPr>
          <a:lstStyle/>
          <a:p>
            <a:pPr algn="ctr"/>
            <a:r>
              <a:rPr sz="1100" b="1" i="0">
                <a:solidFill>
                  <a:srgbClr val="3B82F6"/>
                </a:solidFill>
                <a:latin typeface="Inter Display"/>
              </a:rPr>
              <a:t>4 PTS</a:t>
            </a:r>
          </a:p>
        </p:txBody>
      </p:sp>
      <p:sp>
        <p:nvSpPr>
          <p:cNvPr id="16" name="TextBox 15"/>
          <p:cNvSpPr txBox="1"/>
          <p:nvPr/>
        </p:nvSpPr>
        <p:spPr>
          <a:xfrm>
            <a:off x="4480560" y="2761488"/>
            <a:ext cx="6720840" cy="384048"/>
          </a:xfrm>
          <a:prstGeom prst="rect">
            <a:avLst/>
          </a:prstGeom>
          <a:noFill/>
        </p:spPr>
        <p:txBody>
          <a:bodyPr wrap="square" lIns="36576" rIns="36576" tIns="36576" bIns="36576" anchor="t">
            <a:normAutofit/>
          </a:bodyPr>
          <a:lstStyle/>
          <a:p>
            <a:pPr algn="l"/>
            <a:r>
              <a:rPr sz="1070" b="0" i="0">
                <a:solidFill>
                  <a:srgbClr val="DDE9F7"/>
                </a:solidFill>
                <a:latin typeface="Inter"/>
              </a:rPr>
              <a:t>Realistic rhythm, visible statuses, owners, deadlines, next actions, and learning loop.</a:t>
            </a:r>
          </a:p>
        </p:txBody>
      </p:sp>
      <p:sp>
        <p:nvSpPr>
          <p:cNvPr id="17" name="Rounded Rectangle 16"/>
          <p:cNvSpPr/>
          <p:nvPr/>
        </p:nvSpPr>
        <p:spPr>
          <a:xfrm>
            <a:off x="594360" y="3520439"/>
            <a:ext cx="10972800" cy="713232"/>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2743200" cy="292608"/>
          </a:xfrm>
          <a:prstGeom prst="rect">
            <a:avLst/>
          </a:prstGeom>
          <a:noFill/>
        </p:spPr>
        <p:txBody>
          <a:bodyPr wrap="square" lIns="36576" rIns="36576" tIns="36576" bIns="36576" anchor="t">
            <a:normAutofit/>
          </a:bodyPr>
          <a:lstStyle/>
          <a:p>
            <a:pPr algn="l"/>
            <a:r>
              <a:rPr sz="1350" b="1" i="0">
                <a:solidFill>
                  <a:srgbClr val="FFFFFF"/>
                </a:solidFill>
                <a:latin typeface="Inter Display"/>
              </a:rPr>
              <a:t>Voice and drafting quality</a:t>
            </a:r>
          </a:p>
        </p:txBody>
      </p:sp>
      <p:sp>
        <p:nvSpPr>
          <p:cNvPr id="19" name="TextBox 18"/>
          <p:cNvSpPr txBox="1"/>
          <p:nvPr/>
        </p:nvSpPr>
        <p:spPr>
          <a:xfrm>
            <a:off x="3703320" y="3675887"/>
            <a:ext cx="640080" cy="274320"/>
          </a:xfrm>
          <a:prstGeom prst="rect">
            <a:avLst/>
          </a:prstGeom>
          <a:noFill/>
        </p:spPr>
        <p:txBody>
          <a:bodyPr wrap="square" lIns="36576" rIns="36576" tIns="36576" bIns="36576" anchor="t">
            <a:normAutofit/>
          </a:bodyPr>
          <a:lstStyle/>
          <a:p>
            <a:pPr algn="ctr"/>
            <a:r>
              <a:rPr sz="1100" b="1" i="0">
                <a:solidFill>
                  <a:srgbClr val="06B6D4"/>
                </a:solidFill>
                <a:latin typeface="Inter Display"/>
              </a:rPr>
              <a:t>4 PTS</a:t>
            </a:r>
          </a:p>
        </p:txBody>
      </p:sp>
      <p:sp>
        <p:nvSpPr>
          <p:cNvPr id="20" name="TextBox 19"/>
          <p:cNvSpPr txBox="1"/>
          <p:nvPr/>
        </p:nvSpPr>
        <p:spPr>
          <a:xfrm>
            <a:off x="4480560" y="3630168"/>
            <a:ext cx="6720840" cy="384048"/>
          </a:xfrm>
          <a:prstGeom prst="rect">
            <a:avLst/>
          </a:prstGeom>
          <a:noFill/>
        </p:spPr>
        <p:txBody>
          <a:bodyPr wrap="square" lIns="36576" rIns="36576" tIns="36576" bIns="36576" anchor="t">
            <a:normAutofit/>
          </a:bodyPr>
          <a:lstStyle/>
          <a:p>
            <a:pPr algn="l"/>
            <a:r>
              <a:rPr sz="1070" b="0" i="0">
                <a:solidFill>
                  <a:srgbClr val="DDE9F7"/>
                </a:solidFill>
                <a:latin typeface="Inter"/>
              </a:rPr>
              <a:t>Voice Card and SIGNAL produce a specific, evidence-rich anchor draft that sounds natural.</a:t>
            </a:r>
          </a:p>
        </p:txBody>
      </p:sp>
      <p:sp>
        <p:nvSpPr>
          <p:cNvPr id="21" name="Rounded Rectangle 20"/>
          <p:cNvSpPr/>
          <p:nvPr/>
        </p:nvSpPr>
        <p:spPr>
          <a:xfrm>
            <a:off x="594360" y="4389120"/>
            <a:ext cx="10972800" cy="713232"/>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35424"/>
            <a:ext cx="2743200" cy="292608"/>
          </a:xfrm>
          <a:prstGeom prst="rect">
            <a:avLst/>
          </a:prstGeom>
          <a:noFill/>
        </p:spPr>
        <p:txBody>
          <a:bodyPr wrap="square" lIns="36576" rIns="36576" tIns="36576" bIns="36576" anchor="t">
            <a:normAutofit/>
          </a:bodyPr>
          <a:lstStyle/>
          <a:p>
            <a:pPr algn="l"/>
            <a:r>
              <a:rPr sz="1350" b="1" i="0">
                <a:solidFill>
                  <a:srgbClr val="FFFFFF"/>
                </a:solidFill>
                <a:latin typeface="Inter Display"/>
              </a:rPr>
              <a:t>Review, approval, and responsibility</a:t>
            </a:r>
          </a:p>
        </p:txBody>
      </p:sp>
      <p:sp>
        <p:nvSpPr>
          <p:cNvPr id="23" name="TextBox 22"/>
          <p:cNvSpPr txBox="1"/>
          <p:nvPr/>
        </p:nvSpPr>
        <p:spPr>
          <a:xfrm>
            <a:off x="3703320" y="4544568"/>
            <a:ext cx="640080" cy="274320"/>
          </a:xfrm>
          <a:prstGeom prst="rect">
            <a:avLst/>
          </a:prstGeom>
          <a:noFill/>
        </p:spPr>
        <p:txBody>
          <a:bodyPr wrap="square" lIns="36576" rIns="36576" tIns="36576" bIns="36576" anchor="t">
            <a:normAutofit/>
          </a:bodyPr>
          <a:lstStyle/>
          <a:p>
            <a:pPr algn="ctr"/>
            <a:r>
              <a:rPr sz="1100" b="1" i="0">
                <a:solidFill>
                  <a:srgbClr val="14B8A6"/>
                </a:solidFill>
                <a:latin typeface="Inter Display"/>
              </a:rPr>
              <a:t>4 PTS</a:t>
            </a:r>
          </a:p>
        </p:txBody>
      </p:sp>
      <p:sp>
        <p:nvSpPr>
          <p:cNvPr id="24" name="TextBox 23"/>
          <p:cNvSpPr txBox="1"/>
          <p:nvPr/>
        </p:nvSpPr>
        <p:spPr>
          <a:xfrm>
            <a:off x="4480560" y="4498848"/>
            <a:ext cx="6720840" cy="384048"/>
          </a:xfrm>
          <a:prstGeom prst="rect">
            <a:avLst/>
          </a:prstGeom>
          <a:noFill/>
        </p:spPr>
        <p:txBody>
          <a:bodyPr wrap="square" lIns="36576" rIns="36576" tIns="36576" bIns="36576" anchor="t">
            <a:normAutofit/>
          </a:bodyPr>
          <a:lstStyle/>
          <a:p>
            <a:pPr algn="l"/>
            <a:r>
              <a:rPr sz="1070" b="0" i="0">
                <a:solidFill>
                  <a:srgbClr val="DDE9F7"/>
                </a:solidFill>
                <a:latin typeface="Inter"/>
              </a:rPr>
              <a:t>CLEAR review, risk levels, permissions, approval, rights, privacy, and accuracy are documented.</a:t>
            </a:r>
          </a:p>
        </p:txBody>
      </p:sp>
      <p:sp>
        <p:nvSpPr>
          <p:cNvPr id="25" name="Rounded Rectangle 24"/>
          <p:cNvSpPr/>
          <p:nvPr/>
        </p:nvSpPr>
        <p:spPr>
          <a:xfrm>
            <a:off x="594360" y="5257800"/>
            <a:ext cx="10972800" cy="713232"/>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404104"/>
            <a:ext cx="2743200" cy="292608"/>
          </a:xfrm>
          <a:prstGeom prst="rect">
            <a:avLst/>
          </a:prstGeom>
          <a:noFill/>
        </p:spPr>
        <p:txBody>
          <a:bodyPr wrap="square" lIns="36576" rIns="36576" tIns="36576" bIns="36576" anchor="t">
            <a:normAutofit/>
          </a:bodyPr>
          <a:lstStyle/>
          <a:p>
            <a:pPr algn="l"/>
            <a:r>
              <a:rPr sz="1350" b="1" i="0">
                <a:solidFill>
                  <a:srgbClr val="FFFFFF"/>
                </a:solidFill>
                <a:latin typeface="Inter Display"/>
              </a:rPr>
              <a:t>Channel translation and readiness</a:t>
            </a:r>
          </a:p>
        </p:txBody>
      </p:sp>
      <p:sp>
        <p:nvSpPr>
          <p:cNvPr id="27" name="TextBox 26"/>
          <p:cNvSpPr txBox="1"/>
          <p:nvPr/>
        </p:nvSpPr>
        <p:spPr>
          <a:xfrm>
            <a:off x="3703320" y="5413248"/>
            <a:ext cx="640080" cy="274320"/>
          </a:xfrm>
          <a:prstGeom prst="rect">
            <a:avLst/>
          </a:prstGeom>
          <a:noFill/>
        </p:spPr>
        <p:txBody>
          <a:bodyPr wrap="square" lIns="36576" rIns="36576" tIns="36576" bIns="36576" anchor="t">
            <a:normAutofit/>
          </a:bodyPr>
          <a:lstStyle/>
          <a:p>
            <a:pPr algn="ctr"/>
            <a:r>
              <a:rPr sz="1100" b="1" i="0">
                <a:solidFill>
                  <a:srgbClr val="22C55E"/>
                </a:solidFill>
                <a:latin typeface="Inter Display"/>
              </a:rPr>
              <a:t>4 PTS</a:t>
            </a:r>
          </a:p>
        </p:txBody>
      </p:sp>
      <p:sp>
        <p:nvSpPr>
          <p:cNvPr id="28" name="TextBox 27"/>
          <p:cNvSpPr txBox="1"/>
          <p:nvPr/>
        </p:nvSpPr>
        <p:spPr>
          <a:xfrm>
            <a:off x="4480560" y="5367528"/>
            <a:ext cx="6720840" cy="384048"/>
          </a:xfrm>
          <a:prstGeom prst="rect">
            <a:avLst/>
          </a:prstGeom>
          <a:noFill/>
        </p:spPr>
        <p:txBody>
          <a:bodyPr wrap="square" lIns="36576" rIns="36576" tIns="36576" bIns="36576" anchor="t">
            <a:normAutofit/>
          </a:bodyPr>
          <a:lstStyle/>
          <a:p>
            <a:pPr algn="l"/>
            <a:r>
              <a:rPr sz="1070" b="0" i="0">
                <a:solidFill>
                  <a:srgbClr val="DDE9F7"/>
                </a:solidFill>
                <a:latin typeface="Inter"/>
              </a:rPr>
              <a:t>Video and email are channel-native, linked to the parent idea, approved, and ready for production or scheduling.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sp>
        <p:nvSpPr>
          <p:cNvPr id="2" name="Rectangle 1"/>
          <p:cNvSpPr/>
          <p:nvPr/>
        </p:nvSpPr>
        <p:spPr>
          <a:xfrm>
            <a:off x="411480" y="6556248"/>
            <a:ext cx="11365992" cy="10160"/>
          </a:xfrm>
          <a:prstGeom prst="rect">
            <a:avLst/>
          </a:prstGeom>
          <a:solidFill>
            <a:srgbClr val="243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74536"/>
            <a:ext cx="5029200" cy="164592"/>
          </a:xfrm>
          <a:prstGeom prst="rect">
            <a:avLst/>
          </a:prstGeom>
          <a:noFill/>
        </p:spPr>
        <p:txBody>
          <a:bodyPr wrap="square" lIns="36576" rIns="36576" tIns="36576" bIns="36576" anchor="t">
            <a:spAutoFit/>
          </a:bodyPr>
          <a:lstStyle/>
          <a:p>
            <a:pPr algn="l"/>
            <a:r>
              <a:rPr sz="750" b="1" i="0">
                <a:solidFill>
                  <a:srgbClr val="A9B7CC"/>
                </a:solidFill>
                <a:latin typeface="Inter"/>
              </a:rPr>
              <a:t>LANA CONTENT COMMAND CENTER</a:t>
            </a:r>
          </a:p>
        </p:txBody>
      </p:sp>
      <p:sp>
        <p:nvSpPr>
          <p:cNvPr id="4" name="TextBox 3"/>
          <p:cNvSpPr txBox="1"/>
          <p:nvPr/>
        </p:nvSpPr>
        <p:spPr>
          <a:xfrm>
            <a:off x="11247120" y="6565392"/>
            <a:ext cx="502920" cy="164592"/>
          </a:xfrm>
          <a:prstGeom prst="rect">
            <a:avLst/>
          </a:prstGeom>
          <a:noFill/>
        </p:spPr>
        <p:txBody>
          <a:bodyPr wrap="square" lIns="36576" rIns="36576" tIns="36576" bIns="36576" anchor="t">
            <a:spAutoFit/>
          </a:bodyPr>
          <a:lstStyle/>
          <a:p>
            <a:pPr algn="r"/>
            <a:r>
              <a:rPr sz="800" b="1" i="0">
                <a:solidFill>
                  <a:srgbClr val="A9B7CC"/>
                </a:solidFill>
                <a:latin typeface="Inter"/>
              </a:rPr>
              <a:t>44</a:t>
            </a:r>
          </a:p>
        </p:txBody>
      </p:sp>
      <p:pic>
        <p:nvPicPr>
          <p:cNvPr id="5" name="Picture 4" descr="Lux_Automaton_Authentic_Logo.png"/>
          <p:cNvPicPr>
            <a:picLocks noChangeAspect="1"/>
          </p:cNvPicPr>
          <p:nvPr/>
        </p:nvPicPr>
        <p:blipFill>
          <a:blip r:embed="rId2"/>
          <a:stretch>
            <a:fillRect/>
          </a:stretch>
        </p:blipFill>
        <p:spPr>
          <a:xfrm>
            <a:off x="411480" y="256032"/>
            <a:ext cx="2423160" cy="490267"/>
          </a:xfrm>
          <a:prstGeom prst="rect">
            <a:avLst/>
          </a:prstGeom>
        </p:spPr>
      </p:pic>
      <p:sp>
        <p:nvSpPr>
          <p:cNvPr id="6" name="TextBox 5"/>
          <p:cNvSpPr txBox="1"/>
          <p:nvPr/>
        </p:nvSpPr>
        <p:spPr>
          <a:xfrm>
            <a:off x="2907792" y="429768"/>
            <a:ext cx="4343400" cy="256032"/>
          </a:xfrm>
          <a:prstGeom prst="rect">
            <a:avLst/>
          </a:prstGeom>
          <a:noFill/>
        </p:spPr>
        <p:txBody>
          <a:bodyPr wrap="square" lIns="36576" rIns="36576" tIns="36576" bIns="36576" anchor="t">
            <a:spAutoFit/>
          </a:bodyPr>
          <a:lstStyle/>
          <a:p>
            <a:pPr algn="l"/>
            <a:r>
              <a:rPr sz="1000" b="1" i="0">
                <a:solidFill>
                  <a:srgbClr val="3B82F6"/>
                </a:solidFill>
                <a:latin typeface="Inter Display"/>
              </a:rPr>
              <a:t>OPTIONAL COMMAND CENTER LAB</a:t>
            </a:r>
          </a:p>
        </p:txBody>
      </p:sp>
      <p:sp>
        <p:nvSpPr>
          <p:cNvPr id="7" name="TextBox 6"/>
          <p:cNvSpPr txBox="1"/>
          <p:nvPr/>
        </p:nvSpPr>
        <p:spPr>
          <a:xfrm>
            <a:off x="502920" y="804672"/>
            <a:ext cx="10561319" cy="749808"/>
          </a:xfrm>
          <a:prstGeom prst="rect">
            <a:avLst/>
          </a:prstGeom>
          <a:noFill/>
        </p:spPr>
        <p:txBody>
          <a:bodyPr wrap="square" lIns="36576" rIns="36576" tIns="36576" bIns="36576" anchor="t">
            <a:normAutofit/>
          </a:bodyPr>
          <a:lstStyle/>
          <a:p>
            <a:pPr algn="l"/>
            <a:r>
              <a:rPr sz="3000" b="1" i="0">
                <a:solidFill>
                  <a:srgbClr val="FFFFFF"/>
                </a:solidFill>
                <a:latin typeface="Inter Display"/>
              </a:rPr>
              <a:t>Thirty minutes to finish and schedule</a:t>
            </a:r>
          </a:p>
        </p:txBody>
      </p:sp>
      <p:sp>
        <p:nvSpPr>
          <p:cNvPr id="8" name="TextBox 7"/>
          <p:cNvSpPr txBox="1"/>
          <p:nvPr/>
        </p:nvSpPr>
        <p:spPr>
          <a:xfrm>
            <a:off x="502920" y="1554480"/>
            <a:ext cx="10469880" cy="457200"/>
          </a:xfrm>
          <a:prstGeom prst="rect">
            <a:avLst/>
          </a:prstGeom>
          <a:noFill/>
        </p:spPr>
        <p:txBody>
          <a:bodyPr wrap="square" lIns="36576" rIns="36576" tIns="36576" bIns="36576" anchor="t">
            <a:normAutofit/>
          </a:bodyPr>
          <a:lstStyle/>
          <a:p>
            <a:pPr algn="l"/>
            <a:r>
              <a:rPr sz="1400" b="0" i="0">
                <a:solidFill>
                  <a:srgbClr val="A9B7CC"/>
                </a:solidFill>
                <a:latin typeface="Inter"/>
              </a:rPr>
              <a:t>Use the extra time for build, peer review, and next actions.</a:t>
            </a:r>
          </a:p>
        </p:txBody>
      </p:sp>
      <p:sp>
        <p:nvSpPr>
          <p:cNvPr id="9" name="Rounded Rectangle 8"/>
          <p:cNvSpPr/>
          <p:nvPr/>
        </p:nvSpPr>
        <p:spPr>
          <a:xfrm>
            <a:off x="685800" y="2057400"/>
            <a:ext cx="5074920" cy="123444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21992"/>
            <a:ext cx="466344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0–10 MIN</a:t>
            </a:r>
          </a:p>
        </p:txBody>
      </p:sp>
      <p:sp>
        <p:nvSpPr>
          <p:cNvPr id="11" name="TextBox 10"/>
          <p:cNvSpPr txBox="1"/>
          <p:nvPr/>
        </p:nvSpPr>
        <p:spPr>
          <a:xfrm>
            <a:off x="914400" y="2734056"/>
            <a:ext cx="4617720" cy="411480"/>
          </a:xfrm>
          <a:prstGeom prst="rect">
            <a:avLst/>
          </a:prstGeom>
          <a:noFill/>
        </p:spPr>
        <p:txBody>
          <a:bodyPr wrap="square" lIns="36576" rIns="36576" tIns="36576" bIns="36576" anchor="t">
            <a:normAutofit/>
          </a:bodyPr>
          <a:lstStyle/>
          <a:p>
            <a:pPr algn="l"/>
            <a:r>
              <a:rPr sz="1130" b="0" i="0">
                <a:solidFill>
                  <a:srgbClr val="DDE9F7"/>
                </a:solidFill>
                <a:latin typeface="Inter"/>
              </a:rPr>
              <a:t>Complete missing fields and files.</a:t>
            </a:r>
          </a:p>
        </p:txBody>
      </p:sp>
      <p:sp>
        <p:nvSpPr>
          <p:cNvPr id="12" name="Rounded Rectangle 11"/>
          <p:cNvSpPr/>
          <p:nvPr/>
        </p:nvSpPr>
        <p:spPr>
          <a:xfrm>
            <a:off x="6263640" y="2057400"/>
            <a:ext cx="5074920" cy="1234440"/>
          </a:xfrm>
          <a:prstGeom prst="roundRect">
            <a:avLst/>
          </a:prstGeom>
          <a:solidFill>
            <a:srgbClr val="0A1730"/>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221992"/>
            <a:ext cx="466344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10–20 MIN</a:t>
            </a:r>
          </a:p>
        </p:txBody>
      </p:sp>
      <p:sp>
        <p:nvSpPr>
          <p:cNvPr id="14" name="TextBox 13"/>
          <p:cNvSpPr txBox="1"/>
          <p:nvPr/>
        </p:nvSpPr>
        <p:spPr>
          <a:xfrm>
            <a:off x="6492240" y="2734056"/>
            <a:ext cx="4617720" cy="411480"/>
          </a:xfrm>
          <a:prstGeom prst="rect">
            <a:avLst/>
          </a:prstGeom>
          <a:noFill/>
        </p:spPr>
        <p:txBody>
          <a:bodyPr wrap="square" lIns="36576" rIns="36576" tIns="36576" bIns="36576" anchor="t">
            <a:normAutofit/>
          </a:bodyPr>
          <a:lstStyle/>
          <a:p>
            <a:pPr algn="l"/>
            <a:r>
              <a:rPr sz="1130" b="0" i="0">
                <a:solidFill>
                  <a:srgbClr val="DDE9F7"/>
                </a:solidFill>
                <a:latin typeface="Inter"/>
              </a:rPr>
              <a:t>Peer review with CLEAR + approval lane.</a:t>
            </a:r>
          </a:p>
        </p:txBody>
      </p:sp>
      <p:sp>
        <p:nvSpPr>
          <p:cNvPr id="15" name="Rounded Rectangle 14"/>
          <p:cNvSpPr/>
          <p:nvPr/>
        </p:nvSpPr>
        <p:spPr>
          <a:xfrm>
            <a:off x="685800" y="3520440"/>
            <a:ext cx="5074920" cy="1234440"/>
          </a:xfrm>
          <a:prstGeom prst="roundRect">
            <a:avLst/>
          </a:prstGeom>
          <a:solidFill>
            <a:srgbClr val="0A1730"/>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685032"/>
            <a:ext cx="466344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20–25 MIN</a:t>
            </a:r>
          </a:p>
        </p:txBody>
      </p:sp>
      <p:sp>
        <p:nvSpPr>
          <p:cNvPr id="17" name="TextBox 16"/>
          <p:cNvSpPr txBox="1"/>
          <p:nvPr/>
        </p:nvSpPr>
        <p:spPr>
          <a:xfrm>
            <a:off x="914400" y="4197096"/>
            <a:ext cx="4617720" cy="411480"/>
          </a:xfrm>
          <a:prstGeom prst="rect">
            <a:avLst/>
          </a:prstGeom>
          <a:noFill/>
        </p:spPr>
        <p:txBody>
          <a:bodyPr wrap="square" lIns="36576" rIns="36576" tIns="36576" bIns="36576" anchor="t">
            <a:normAutofit/>
          </a:bodyPr>
          <a:lstStyle/>
          <a:p>
            <a:pPr algn="l"/>
            <a:r>
              <a:rPr sz="1130" b="0" i="0">
                <a:solidFill>
                  <a:srgbClr val="DDE9F7"/>
                </a:solidFill>
                <a:latin typeface="Inter"/>
              </a:rPr>
              <a:t>Schedule, assign, or prepare production.</a:t>
            </a:r>
          </a:p>
        </p:txBody>
      </p:sp>
      <p:sp>
        <p:nvSpPr>
          <p:cNvPr id="18" name="Rounded Rectangle 17"/>
          <p:cNvSpPr/>
          <p:nvPr/>
        </p:nvSpPr>
        <p:spPr>
          <a:xfrm>
            <a:off x="6263640" y="3520440"/>
            <a:ext cx="5074920" cy="1234440"/>
          </a:xfrm>
          <a:prstGeom prst="roundRect">
            <a:avLst/>
          </a:prstGeom>
          <a:solidFill>
            <a:srgbClr val="0A1730"/>
          </a:solidFill>
          <a:ln w="127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685032"/>
            <a:ext cx="4663440" cy="411480"/>
          </a:xfrm>
          <a:prstGeom prst="rect">
            <a:avLst/>
          </a:prstGeom>
          <a:noFill/>
        </p:spPr>
        <p:txBody>
          <a:bodyPr wrap="square" lIns="36576" rIns="36576" tIns="36576" bIns="36576" anchor="t">
            <a:normAutofit/>
          </a:bodyPr>
          <a:lstStyle/>
          <a:p>
            <a:pPr algn="l"/>
            <a:r>
              <a:rPr sz="1500" b="1" i="0">
                <a:solidFill>
                  <a:srgbClr val="FFFFFF"/>
                </a:solidFill>
                <a:latin typeface="Inter Display"/>
              </a:rPr>
              <a:t>25–30 MIN</a:t>
            </a:r>
          </a:p>
        </p:txBody>
      </p:sp>
      <p:sp>
        <p:nvSpPr>
          <p:cNvPr id="20" name="TextBox 19"/>
          <p:cNvSpPr txBox="1"/>
          <p:nvPr/>
        </p:nvSpPr>
        <p:spPr>
          <a:xfrm>
            <a:off x="6492240" y="4197096"/>
            <a:ext cx="4617720" cy="411480"/>
          </a:xfrm>
          <a:prstGeom prst="rect">
            <a:avLst/>
          </a:prstGeom>
          <a:noFill/>
        </p:spPr>
        <p:txBody>
          <a:bodyPr wrap="square" lIns="36576" rIns="36576" tIns="36576" bIns="36576" anchor="t">
            <a:normAutofit/>
          </a:bodyPr>
          <a:lstStyle/>
          <a:p>
            <a:pPr algn="l"/>
            <a:r>
              <a:rPr sz="1130" b="0" i="0">
                <a:solidFill>
                  <a:srgbClr val="DDE9F7"/>
                </a:solidFill>
                <a:latin typeface="Inter"/>
              </a:rPr>
              <a:t>Name the first audience signal to capture.</a:t>
            </a:r>
          </a:p>
        </p:txBody>
      </p:sp>
      <p:sp>
        <p:nvSpPr>
          <p:cNvPr id="21" name="Rounded Rectangle 20"/>
          <p:cNvSpPr/>
          <p:nvPr/>
        </p:nvSpPr>
        <p:spPr>
          <a:xfrm>
            <a:off x="1097280" y="5257800"/>
            <a:ext cx="9966960" cy="594360"/>
          </a:xfrm>
          <a:prstGeom prst="roundRect">
            <a:avLst/>
          </a:prstGeom>
          <a:solidFill>
            <a:srgbClr val="0A1730"/>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5422392"/>
            <a:ext cx="9509760" cy="274320"/>
          </a:xfrm>
          <a:prstGeom prst="rect">
            <a:avLst/>
          </a:prstGeom>
          <a:noFill/>
        </p:spPr>
        <p:txBody>
          <a:bodyPr wrap="square" lIns="36576" rIns="36576" tIns="36576" bIns="36576" anchor="t">
            <a:normAutofit/>
          </a:bodyPr>
          <a:lstStyle/>
          <a:p>
            <a:pPr algn="ctr"/>
            <a:r>
              <a:rPr sz="1300" b="1" i="0">
                <a:solidFill>
                  <a:srgbClr val="FFFFFF"/>
                </a:solidFill>
                <a:latin typeface="Inter"/>
              </a:rPr>
              <a:t>Before leaving: every asset has an owner, due date, current file, approval state, and next action.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6101F"/>
        </a:solidFill>
        <a:effectLst/>
      </p:bgPr>
    </p:bg>
    <p:spTree>
      <p:nvGrpSpPr>
        <p:cNvPr id="1" name=""/>
        <p:cNvGrpSpPr/>
        <p:nvPr/>
      </p:nvGrpSpPr>
      <p:grpSpPr/>
      <p:pic>
        <p:nvPicPr>
          <p:cNvPr id="2" name="Picture 1" descr="01_workshop_thumbnail.png"/>
          <p:cNvPicPr>
            <a:picLocks noChangeAspect="1"/>
          </p:cNvPicPr>
          <p:nvPr/>
        </p:nvPicPr>
        <p:blipFill>
          <a:blip r:embed="rId2"/>
          <a:srcRect l="1" r="1"/>
          <a:stretch>
            <a:fillRect/>
          </a:stretch>
        </p:blipFill>
        <p:spPr>
          <a:xfrm>
            <a:off x="0" y="0"/>
            <a:ext cx="12191695" cy="6858000"/>
          </a:xfrm>
          <a:prstGeom prst="rect">
            <a:avLst/>
          </a:prstGeom>
        </p:spPr>
      </p:pic>
      <p:sp>
        <p:nvSpPr>
          <p:cNvPr id="3" name="Rectangle 2"/>
          <p:cNvSpPr/>
          <p:nvPr/>
        </p:nvSpPr>
        <p:spPr>
          <a:xfrm>
            <a:off x="0" y="5349240"/>
            <a:ext cx="12191695" cy="1508760"/>
          </a:xfrm>
          <a:prstGeom prst="rect">
            <a:avLst/>
          </a:prstGeom>
          <a:solidFill>
            <a:srgbClr val="06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532120"/>
            <a:ext cx="10881360" cy="438912"/>
          </a:xfrm>
          <a:prstGeom prst="rect">
            <a:avLst/>
          </a:prstGeom>
          <a:noFill/>
        </p:spPr>
        <p:txBody>
          <a:bodyPr wrap="square" lIns="36576" rIns="36576" tIns="36576" bIns="36576" anchor="t">
            <a:normAutofit/>
          </a:bodyPr>
          <a:lstStyle/>
          <a:p>
            <a:pPr algn="ctr"/>
            <a:r>
              <a:rPr sz="2500" b="1" i="0">
                <a:solidFill>
                  <a:srgbClr val="FFFFFF"/>
                </a:solidFill>
                <a:latin typeface="Inter Display"/>
              </a:rPr>
              <a:t>YOUR NEXT WEEK IS NOW VISIBLE.</a:t>
            </a:r>
          </a:p>
        </p:txBody>
      </p:sp>
      <p:sp>
        <p:nvSpPr>
          <p:cNvPr id="5" name="TextBox 4"/>
          <p:cNvSpPr txBox="1"/>
          <p:nvPr/>
        </p:nvSpPr>
        <p:spPr>
          <a:xfrm>
            <a:off x="731520" y="6062472"/>
            <a:ext cx="10698480" cy="320040"/>
          </a:xfrm>
          <a:prstGeom prst="rect">
            <a:avLst/>
          </a:prstGeom>
          <a:noFill/>
        </p:spPr>
        <p:txBody>
          <a:bodyPr wrap="square" lIns="36576" rIns="36576" tIns="36576" bIns="36576" anchor="t">
            <a:normAutofit/>
          </a:bodyPr>
          <a:lstStyle/>
          <a:p>
            <a:pPr algn="ctr"/>
            <a:r>
              <a:rPr sz="1400" b="1" i="0">
                <a:solidFill>
                  <a:srgbClr val="06B6D4"/>
                </a:solidFill>
                <a:latin typeface="Inter"/>
              </a:rPr>
              <a:t>One source. One rhythm. Human approval. Channel-native execution.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LANA Content Command Center - Facilitator Deck</dc:title>
  <dc:subject>Lux Automaton content strategy workshop</dc:subject>
  <dc:creator>Lux Automaton Editorial</dc:creator>
  <cp:keywords>Lux Automaton, LANA, content command center, workshop, content strategy, AI</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