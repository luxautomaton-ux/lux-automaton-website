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intable_worksho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WELCOME, GAME DESIGNER!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01_workshop_hero_16x9.png"/>
          <p:cNvPicPr>
            <a:picLocks noChangeAspect="1"/>
          </p:cNvPicPr>
          <p:nvPr/>
        </p:nvPicPr>
        <p:blipFill>
          <a:blip r:embed="rId3"/>
          <a:srcRect t="10961" b="10961"/>
          <a:stretch>
            <a:fillRect/>
          </a:stretch>
        </p:blipFill>
        <p:spPr>
          <a:xfrm>
            <a:off x="502920" y="960120"/>
            <a:ext cx="676656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This workbook belongs to: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6446520" cy="7772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166360"/>
            <a:ext cx="58064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6400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8C4DFF"/>
                </a:solidFill>
                <a:latin typeface="Liberation Sans"/>
              </a:rPr>
              <a:t>My game-designer promise: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6355080"/>
            <a:ext cx="310896" cy="31089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336792"/>
            <a:ext cx="5669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Liberation Sans"/>
              </a:rPr>
              <a:t>I will use kind ideas.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7013448"/>
            <a:ext cx="310896" cy="31089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995160"/>
            <a:ext cx="5669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Liberation Sans"/>
              </a:rPr>
              <a:t>I will ask a grown-up before using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7671816"/>
            <a:ext cx="310896" cy="31089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7653528"/>
            <a:ext cx="5669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Liberation Sans"/>
              </a:rPr>
              <a:t>I will keep private information private.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8330184"/>
            <a:ext cx="310896" cy="31089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8311896"/>
            <a:ext cx="5669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Liberation Sans"/>
              </a:rPr>
              <a:t>I will listen when someone tests my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GET READY TO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960120"/>
            <a:ext cx="6675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14213D"/>
                </a:solidFill>
                <a:latin typeface="Liberation Sans"/>
              </a:rPr>
              <a:t>Circle what you brought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011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700784"/>
            <a:ext cx="347472" cy="347472"/>
          </a:xfrm>
          <a:prstGeom prst="roundRect">
            <a:avLst/>
          </a:prstGeom>
          <a:solidFill>
            <a:srgbClr val="F7FAFF"/>
          </a:solidFill>
          <a:ln w="2032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21408"/>
            <a:ext cx="160020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Paper or cardboard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2011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1700784"/>
            <a:ext cx="347472" cy="347472"/>
          </a:xfrm>
          <a:prstGeom prst="roundRect">
            <a:avLst/>
          </a:prstGeom>
          <a:solidFill>
            <a:srgbClr val="F7FAFF"/>
          </a:solidFill>
          <a:ln w="2032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121408"/>
            <a:ext cx="160020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Crayons and markers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554480"/>
            <a:ext cx="2011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48072" y="1700784"/>
            <a:ext cx="347472" cy="347472"/>
          </a:xfrm>
          <a:prstGeom prst="roundRect">
            <a:avLst/>
          </a:prstGeom>
          <a:solidFill>
            <a:srgbClr val="F7FAFF"/>
          </a:solidFill>
          <a:ln w="2032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2121408"/>
            <a:ext cx="160020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Child-safe scissors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54680"/>
            <a:ext cx="2011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3300984"/>
            <a:ext cx="347472" cy="347472"/>
          </a:xfrm>
          <a:prstGeom prst="roundRect">
            <a:avLst/>
          </a:prstGeom>
          <a:solidFill>
            <a:srgbClr val="F7FAFF"/>
          </a:solidFill>
          <a:ln w="2032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21608"/>
            <a:ext cx="160020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Index 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154680"/>
            <a:ext cx="2011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07792" y="3300984"/>
            <a:ext cx="347472" cy="347472"/>
          </a:xfrm>
          <a:prstGeom prst="roundRect">
            <a:avLst/>
          </a:prstGeom>
          <a:solidFill>
            <a:srgbClr val="F7FAFF"/>
          </a:solidFill>
          <a:ln w="2032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3721608"/>
            <a:ext cx="160020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Stickers for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154680"/>
            <a:ext cx="2011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D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8072" y="3300984"/>
            <a:ext cx="347472" cy="347472"/>
          </a:xfrm>
          <a:prstGeom prst="roundRect">
            <a:avLst/>
          </a:prstGeom>
          <a:solidFill>
            <a:srgbClr val="F7FAFF"/>
          </a:solidFill>
          <a:ln w="20320">
            <a:solidFill>
              <a:srgbClr val="FFD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648" y="3721608"/>
            <a:ext cx="1600200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A ruler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83480"/>
            <a:ext cx="6766560" cy="4343400"/>
          </a:xfrm>
          <a:prstGeom prst="roundRect">
            <a:avLst/>
          </a:prstGeom>
          <a:solidFill>
            <a:srgbClr val="F2EAFF"/>
          </a:solidFill>
          <a:ln w="317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85232"/>
            <a:ext cx="6217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8C4DFF"/>
                </a:solidFill>
                <a:latin typeface="Comic Neue"/>
              </a:rPr>
              <a:t>LANA'S SAFE AI RULES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989320"/>
            <a:ext cx="502920" cy="50292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07607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5989320"/>
            <a:ext cx="5440680" cy="6949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Liberation Sans"/>
              </a:rPr>
              <a:t>Ask a grown-up first.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6812280"/>
            <a:ext cx="502920" cy="50292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830568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6812280"/>
            <a:ext cx="5440680" cy="6949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Liberation Sans"/>
              </a:rPr>
              <a:t>Do not share your full name, school, address, phone number, or face photo.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7635240"/>
            <a:ext cx="502920" cy="50292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7653527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7635240"/>
            <a:ext cx="5440680" cy="6949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Liberation Sans"/>
              </a:rPr>
              <a:t>AI gives ideas. You choose what to keep.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8458200"/>
            <a:ext cx="502920" cy="50292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8476488"/>
            <a:ext cx="50292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8458200"/>
            <a:ext cx="5440680" cy="6949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Liberation Sans"/>
              </a:rPr>
              <a:t>Be kind. Do not make art that hurts or embarrasses someone.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MY 6-MISSION GAME ADVENTURE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68680"/>
            <a:ext cx="6766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Color a star after you finish each mission!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6675120" cy="1078992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640080" cy="64008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71126"/>
                </a:solidFill>
                <a:latin typeface="Comic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63624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omic Neue"/>
              </a:rPr>
              <a:t>What Makes a Game a Game?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84248"/>
            <a:ext cx="4480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A6578"/>
                </a:solidFill>
                <a:latin typeface="Liberation Sans"/>
              </a:rPr>
              <a:t>Every game needs a character, a goal, a challenge, and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63624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00B8FF"/>
                </a:solidFill>
                <a:latin typeface="Comic Neue"/>
              </a:rPr>
              <a:t>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24912"/>
            <a:ext cx="6675120" cy="1078992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07792"/>
            <a:ext cx="640080" cy="64008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16936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71126"/>
                </a:solidFill>
                <a:latin typeface="Comic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71216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omic Neue"/>
              </a:rPr>
              <a:t>Pick Your Theme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91840"/>
            <a:ext cx="4480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A6578"/>
                </a:solidFill>
                <a:latin typeface="Liberation Sans"/>
              </a:rPr>
              <a:t>A theme tells where the game happens and what kind of adventure it feels like.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71216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65D94D"/>
                </a:solidFill>
                <a:latin typeface="Comic Neue"/>
              </a:rPr>
              <a:t>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32504"/>
            <a:ext cx="6675120" cy="1078992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15384"/>
            <a:ext cx="640080" cy="64008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71126"/>
                </a:solidFill>
                <a:latin typeface="Comic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78808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omic Neue"/>
              </a:rPr>
              <a:t>Design Your Character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99432"/>
            <a:ext cx="4480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A6578"/>
                </a:solidFill>
                <a:latin typeface="Liberation Sans"/>
              </a:rPr>
              <a:t>A strong game hero has a name, a clear look, one useful power, and a reason to 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178808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FF9D19"/>
                </a:solidFill>
                <a:latin typeface="Comic Neue"/>
              </a:rPr>
              <a:t>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0096"/>
            <a:ext cx="6675120" cy="1078992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5522976"/>
            <a:ext cx="640080" cy="64008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71126"/>
                </a:solidFill>
                <a:latin typeface="Comic Neue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486400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omic Neue"/>
              </a:rPr>
              <a:t>Draw the 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907024"/>
            <a:ext cx="4480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A6578"/>
                </a:solidFill>
                <a:latin typeface="Liberation Sans"/>
              </a:rPr>
              <a:t>A level is a path from START to GOAL with fun choices and challenges along the way.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86400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1677FF"/>
                </a:solidFill>
                <a:latin typeface="Comic Neue"/>
              </a:rPr>
              <a:t>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647688"/>
            <a:ext cx="6675120" cy="1078992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6830568"/>
            <a:ext cx="640080" cy="64008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839712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793992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omic Neue"/>
              </a:rPr>
              <a:t>Make the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7214616"/>
            <a:ext cx="4480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A6578"/>
                </a:solidFill>
                <a:latin typeface="Liberation Sans"/>
              </a:rPr>
              <a:t>Rules make the game clear, fair, and possible to play without the designer explaining every move.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6793992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F354A6"/>
                </a:solidFill>
                <a:latin typeface="Comic Neue"/>
              </a:rPr>
              <a:t>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7955279"/>
            <a:ext cx="6675120" cy="1078992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8138159"/>
            <a:ext cx="640080" cy="64008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8147304"/>
            <a:ext cx="64008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071126"/>
                </a:solidFill>
                <a:latin typeface="Comic Neue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8101583"/>
            <a:ext cx="4297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Comic Neue"/>
              </a:rPr>
              <a:t>Playtest Time!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8522207"/>
            <a:ext cx="4480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5A6578"/>
                </a:solidFill>
                <a:latin typeface="Liberation Sans"/>
              </a:rPr>
              <a:t>Game designers learn by watching real players and changing one thing at a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8101583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800" b="1">
                <a:solidFill>
                  <a:srgbClr val="8C4DFF"/>
                </a:solidFill>
                <a:latin typeface="Comic Neue"/>
              </a:rPr>
              <a:t>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1: THE GAME RECIPE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5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diagram_01_game_recipe.png"/>
          <p:cNvPicPr>
            <a:picLocks noChangeAspect="1"/>
          </p:cNvPicPr>
          <p:nvPr/>
        </p:nvPicPr>
        <p:blipFill>
          <a:blip r:embed="rId3"/>
          <a:srcRect t="292" b="292"/>
          <a:stretch>
            <a:fillRect/>
          </a:stretch>
        </p:blipFill>
        <p:spPr>
          <a:xfrm>
            <a:off x="411480" y="868680"/>
            <a:ext cx="694944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892040"/>
            <a:ext cx="6583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Draw one idea in each 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3246120" cy="164592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577840"/>
            <a:ext cx="290779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F9D19"/>
                </a:solidFill>
                <a:latin typeface="Comic Neue"/>
              </a:rPr>
              <a:t>CHARACTER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71032"/>
            <a:ext cx="27432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Who do you play?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373368"/>
            <a:ext cx="2788920" cy="54864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B8C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5440680"/>
            <a:ext cx="3246120" cy="164592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5577840"/>
            <a:ext cx="290779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Comic Neue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971032"/>
            <a:ext cx="27432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What do you try to do?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6373368"/>
            <a:ext cx="2788920" cy="54864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B8C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7379208"/>
            <a:ext cx="3246120" cy="164592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7516368"/>
            <a:ext cx="290779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8C4DFF"/>
                </a:solidFill>
                <a:latin typeface="Comic Neue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909560"/>
            <a:ext cx="27432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What makes it tricky?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8311896"/>
            <a:ext cx="2788920" cy="54864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B8C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0" y="7379208"/>
            <a:ext cx="3246120" cy="164592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7516368"/>
            <a:ext cx="2907792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354A6"/>
                </a:solidFill>
                <a:latin typeface="Comic Neue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7909560"/>
            <a:ext cx="27432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5A6578"/>
                </a:solidFill>
                <a:latin typeface="Liberation Sans"/>
              </a:rPr>
              <a:t>How do you play?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8311896"/>
            <a:ext cx="2788920" cy="54864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B8C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1: MATCH THE PARTS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6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68680"/>
            <a:ext cx="676656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Draw a line from each picture to the right 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05740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600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F9D19"/>
                </a:solidFill>
                <a:latin typeface="Comic Neue"/>
              </a:rPr>
              <a:t>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1783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HERO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39"/>
            <a:ext cx="205740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83279"/>
            <a:ext cx="1600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65D94D"/>
                </a:solidFill>
                <a:latin typeface="Comic Neue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41648"/>
            <a:ext cx="1783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TREASURE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205740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20640"/>
            <a:ext cx="1600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8C4DFF"/>
                </a:solidFill>
                <a:latin typeface="Comic Neue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79008"/>
            <a:ext cx="1783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ROCK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766559"/>
            <a:ext cx="205740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857999"/>
            <a:ext cx="1600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354A6"/>
                </a:solidFill>
                <a:latin typeface="Comic Neue"/>
              </a:rPr>
              <a:t>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7516367"/>
            <a:ext cx="1783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Liberation Sans"/>
              </a:rPr>
              <a:t>TAKE 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1554480"/>
            <a:ext cx="2057400" cy="1234440"/>
          </a:xfrm>
          <a:prstGeom prst="roundRect">
            <a:avLst/>
          </a:prstGeom>
          <a:solidFill>
            <a:srgbClr val="E7F6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947672"/>
            <a:ext cx="16916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9D19"/>
                </a:solidFill>
                <a:latin typeface="Comic Neue"/>
              </a:rPr>
              <a:t>CHARACTER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291839"/>
            <a:ext cx="2057400" cy="1234440"/>
          </a:xfrm>
          <a:prstGeom prst="roundRect">
            <a:avLst/>
          </a:prstGeom>
          <a:solidFill>
            <a:srgbClr val="E7F6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685031"/>
            <a:ext cx="16916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Comic Neue"/>
              </a:rPr>
              <a:t>GOAL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5029200"/>
            <a:ext cx="2057400" cy="1234440"/>
          </a:xfrm>
          <a:prstGeom prst="roundRect">
            <a:avLst/>
          </a:prstGeom>
          <a:solidFill>
            <a:srgbClr val="E7F6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5422392"/>
            <a:ext cx="16916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8C4DFF"/>
                </a:solidFill>
                <a:latin typeface="Comic Neue"/>
              </a:rPr>
              <a:t>CHALLENGE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6766559"/>
            <a:ext cx="2057400" cy="1234440"/>
          </a:xfrm>
          <a:prstGeom prst="roundRect">
            <a:avLst/>
          </a:prstGeom>
          <a:solidFill>
            <a:srgbClr val="E7F6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7159751"/>
            <a:ext cx="16916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354A6"/>
                </a:solidFill>
                <a:latin typeface="Comic Neue"/>
              </a:rPr>
              <a:t>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2: PICK YOUR THEME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7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lesson_02_visual_16x9.png"/>
          <p:cNvPicPr>
            <a:picLocks noChangeAspect="1"/>
          </p:cNvPicPr>
          <p:nvPr/>
        </p:nvPicPr>
        <p:blipFill>
          <a:blip r:embed="rId3"/>
          <a:srcRect t="8642" b="8642"/>
          <a:stretch>
            <a:fillRect/>
          </a:stretch>
        </p:blipFill>
        <p:spPr>
          <a:xfrm>
            <a:off x="594360" y="914400"/>
            <a:ext cx="658368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160520"/>
            <a:ext cx="6675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Circle one world - or draw your own!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214884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4873752"/>
            <a:ext cx="347472" cy="347472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325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B8FF"/>
                </a:solidFill>
                <a:latin typeface="Comic Neue"/>
              </a:rPr>
              <a:t>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709160"/>
            <a:ext cx="214884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90672" y="4873752"/>
            <a:ext cx="347472" cy="347472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4937760"/>
            <a:ext cx="1325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5D94D"/>
                </a:solidFill>
                <a:latin typeface="Comic Neue"/>
              </a:rPr>
              <a:t>JUNGLE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4709160"/>
            <a:ext cx="214884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13831" y="4873752"/>
            <a:ext cx="347472" cy="347472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937760"/>
            <a:ext cx="1325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77FF"/>
                </a:solidFill>
                <a:latin typeface="Comic Neue"/>
              </a:rPr>
              <a:t>OCEAN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126480"/>
            <a:ext cx="214884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6291072"/>
            <a:ext cx="347472" cy="347472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355080"/>
            <a:ext cx="1325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8C4DFF"/>
                </a:solidFill>
                <a:latin typeface="Comic Neue"/>
              </a:rPr>
              <a:t>MAGIC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6126480"/>
            <a:ext cx="214884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90672" y="6291072"/>
            <a:ext cx="347472" cy="347472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6355080"/>
            <a:ext cx="1325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9D19"/>
                </a:solidFill>
                <a:latin typeface="Comic Neue"/>
              </a:rPr>
              <a:t>DINOSAURS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6126480"/>
            <a:ext cx="214884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13831" y="6291072"/>
            <a:ext cx="347472" cy="347472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6355080"/>
            <a:ext cx="1325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354A6"/>
                </a:solidFill>
                <a:latin typeface="Comic Neue"/>
              </a:rPr>
              <a:t>ROBOT 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726679"/>
            <a:ext cx="31089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Liberation Sans"/>
              </a:rPr>
              <a:t>My world is called: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8156448"/>
            <a:ext cx="6583680" cy="65836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8577072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8942832"/>
            <a:ext cx="49377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4213D"/>
                </a:solidFill>
                <a:latin typeface="Liberation Sans"/>
              </a:rPr>
              <a:t>Draw one thing you would see there: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9308592"/>
            <a:ext cx="6583680" cy="502920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2: MY GAME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8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914400"/>
            <a:ext cx="67665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Liberation Sans"/>
              </a:rPr>
              <a:t>Finish the sentence. A grown-up can write your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675120" cy="1371600"/>
          </a:xfrm>
          <a:prstGeom prst="roundRect">
            <a:avLst/>
          </a:prstGeom>
          <a:solidFill>
            <a:srgbClr val="ECFBE8"/>
          </a:solidFill>
          <a:ln w="29209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603504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65D94D"/>
                </a:solidFill>
                <a:latin typeface="Comic Neue"/>
              </a:rPr>
              <a:t>In my game, the player will...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87168"/>
            <a:ext cx="594360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6675120" cy="1371600"/>
          </a:xfrm>
          <a:prstGeom prst="roundRect">
            <a:avLst/>
          </a:prstGeom>
          <a:solidFill>
            <a:srgbClr val="E7F6FF"/>
          </a:solidFill>
          <a:ln w="29209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603504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00B8FF"/>
                </a:solidFill>
                <a:latin typeface="Comic Neue"/>
              </a:rPr>
              <a:t>...in a world called...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24528"/>
            <a:ext cx="594360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166360"/>
            <a:ext cx="3474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Liberation Sans"/>
              </a:rPr>
              <a:t>My game is called: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577840"/>
            <a:ext cx="6583680" cy="7772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6080760"/>
            <a:ext cx="594360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720840"/>
            <a:ext cx="3657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Liberation Sans"/>
              </a:rPr>
              <a:t>Draw your game world: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7132320"/>
            <a:ext cx="6583680" cy="2377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3: DESIGN YOUR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9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lesson_03_visual_16x9.png"/>
          <p:cNvPicPr>
            <a:picLocks noChangeAspect="1"/>
          </p:cNvPicPr>
          <p:nvPr/>
        </p:nvPicPr>
        <p:blipFill>
          <a:blip r:embed="rId3"/>
          <a:srcRect l="20514" r="20514"/>
          <a:stretch>
            <a:fillRect/>
          </a:stretch>
        </p:blipFill>
        <p:spPr>
          <a:xfrm>
            <a:off x="594360" y="914400"/>
            <a:ext cx="297180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40480" y="914400"/>
            <a:ext cx="3337560" cy="2834640"/>
          </a:xfrm>
          <a:prstGeom prst="roundRect">
            <a:avLst/>
          </a:prstGeom>
          <a:solidFill>
            <a:srgbClr val="F7FAFF"/>
          </a:solidFill>
          <a:ln w="29209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28803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FF9D19"/>
                </a:solidFill>
                <a:latin typeface="Comic Neue"/>
              </a:rPr>
              <a:t>DRAW YOUR HERO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91640"/>
            <a:ext cx="2697480" cy="173736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C8D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Liberation Sans"/>
              </a:rPr>
              <a:t>Name: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4215384"/>
            <a:ext cx="4937760" cy="58521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87168" y="4590288"/>
            <a:ext cx="44348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Liberation Sans"/>
              </a:rPr>
              <a:t>One power: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175504"/>
            <a:ext cx="4937760" cy="58521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5550408"/>
            <a:ext cx="44348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17220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Liberation Sans"/>
              </a:rPr>
              <a:t>Colors: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6135624"/>
            <a:ext cx="4937760" cy="58521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7168" y="6510528"/>
            <a:ext cx="44348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7132320"/>
            <a:ext cx="2103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4213D"/>
                </a:solidFill>
                <a:latin typeface="Liberation Sans"/>
              </a:rPr>
              <a:t>Special item: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7095744"/>
            <a:ext cx="4937760" cy="585216"/>
          </a:xfrm>
          <a:prstGeom prst="roundRect">
            <a:avLst/>
          </a:prstGeom>
          <a:solidFill>
            <a:srgbClr val="F7FAFF"/>
          </a:solidFill>
          <a:ln w="2286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87168" y="7470648"/>
            <a:ext cx="44348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8183879"/>
            <a:ext cx="4114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9D19"/>
                </a:solidFill>
                <a:latin typeface="Liberation Sans"/>
              </a:rPr>
              <a:t>My hero helps by...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8641080"/>
            <a:ext cx="6583680" cy="914400"/>
          </a:xfrm>
          <a:prstGeom prst="roundRect">
            <a:avLst/>
          </a:prstGeom>
          <a:solidFill>
            <a:srgbClr val="FFF2DE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9189720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3: HERO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FF9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10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914400"/>
            <a:ext cx="67665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14213D"/>
                </a:solidFill>
                <a:latin typeface="Liberation Sans"/>
              </a:rPr>
              <a:t>Use one clear power. Make the challenge still possible!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2468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00B8FF"/>
                </a:solidFill>
                <a:latin typeface="Comic Neue"/>
              </a:rPr>
              <a:t>My hero is...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50008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3552"/>
            <a:ext cx="2468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F9D19"/>
                </a:solidFill>
                <a:latin typeface="Comic Neue"/>
              </a:rPr>
              <a:t>My hero can...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58768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61772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82312"/>
            <a:ext cx="2468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65D94D"/>
                </a:solidFill>
                <a:latin typeface="Comic Neue"/>
              </a:rPr>
              <a:t>My hero needs to...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367528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6126479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291071"/>
            <a:ext cx="2468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8C4DFF"/>
                </a:solidFill>
                <a:latin typeface="Comic Neue"/>
              </a:rPr>
              <a:t>A challenge is...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6876288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7818120"/>
            <a:ext cx="6583680" cy="1325880"/>
          </a:xfrm>
          <a:prstGeom prst="roundRect">
            <a:avLst/>
          </a:prstGeom>
          <a:solidFill>
            <a:srgbClr val="F2E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8028431"/>
            <a:ext cx="6035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8C4DFF"/>
                </a:solidFill>
                <a:latin typeface="Comic Neue"/>
              </a:rPr>
              <a:t>ACE'S POWER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8549640"/>
            <a:ext cx="6035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4213D"/>
                </a:solidFill>
                <a:latin typeface="Liberation Sans"/>
              </a:rPr>
              <a:t>Does the power help with the goal?   YES / NOT YET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4: PLAN LEVEL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11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diagram_02_level_path.png"/>
          <p:cNvPicPr>
            <a:picLocks noChangeAspect="1"/>
          </p:cNvPicPr>
          <p:nvPr/>
        </p:nvPicPr>
        <p:blipFill>
          <a:blip r:embed="rId3"/>
          <a:srcRect t="292" b="292"/>
          <a:stretch>
            <a:fillRect/>
          </a:stretch>
        </p:blipFill>
        <p:spPr>
          <a:xfrm>
            <a:off x="411480" y="868680"/>
            <a:ext cx="6949440" cy="3886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074920"/>
            <a:ext cx="3246120" cy="129844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221224"/>
            <a:ext cx="2834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0B8FF"/>
                </a:solidFill>
                <a:latin typeface="Comic Neue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0527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A6578"/>
                </a:solidFill>
                <a:latin typeface="Liberation Sans"/>
              </a:rPr>
              <a:t>Where do players begin?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6108192"/>
            <a:ext cx="2651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5074920"/>
            <a:ext cx="3246120" cy="129844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5221224"/>
            <a:ext cx="2834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65D94D"/>
                </a:solidFill>
                <a:latin typeface="Comic Neue"/>
              </a:rPr>
              <a:t>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560527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A6578"/>
                </a:solidFill>
                <a:latin typeface="Liberation Sans"/>
              </a:rPr>
              <a:t>How do they move?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6108192"/>
            <a:ext cx="2651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6675120"/>
            <a:ext cx="3246120" cy="129844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6821424"/>
            <a:ext cx="2834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9D19"/>
                </a:solidFill>
                <a:latin typeface="Comic Neue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720547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A6578"/>
                </a:solidFill>
                <a:latin typeface="Liberation Sans"/>
              </a:rPr>
              <a:t>What slows them down?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7708392"/>
            <a:ext cx="2651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6675120"/>
            <a:ext cx="3246120" cy="129844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6821424"/>
            <a:ext cx="2834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354A6"/>
                </a:solidFill>
                <a:latin typeface="Comic Neue"/>
              </a:rP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720547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5A6578"/>
                </a:solidFill>
                <a:latin typeface="Liberation Sans"/>
              </a:rPr>
              <a:t>How do they win?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7708392"/>
            <a:ext cx="2651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4: DRAW YOUR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12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68680"/>
            <a:ext cx="67665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Liberation Sans"/>
              </a:rPr>
              <a:t>Draw START, a path, one challenge, three bonus spaces, and the GOAL.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6949440" cy="768096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99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6972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796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708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532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444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59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268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81800" y="1417320"/>
            <a:ext cx="5486" cy="7680960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196596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51460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063239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1188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6052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709159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25780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80644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6355079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690372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745236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8001000"/>
            <a:ext cx="6949440" cy="5486"/>
          </a:xfrm>
          <a:prstGeom prst="rect">
            <a:avLst/>
          </a:prstGeom>
          <a:solidFill>
            <a:srgbClr val="D7E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1645920"/>
            <a:ext cx="1097280" cy="502920"/>
          </a:xfrm>
          <a:prstGeom prst="roundRect">
            <a:avLst/>
          </a:prstGeom>
          <a:solidFill>
            <a:srgbClr val="0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169164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71126"/>
                </a:solidFill>
                <a:latin typeface="Comic Neue"/>
              </a:rPr>
              <a:t>START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8321040"/>
            <a:ext cx="1051560" cy="50292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8366760"/>
            <a:ext cx="10515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71126"/>
                </a:solidFill>
                <a:latin typeface="Comic Neue"/>
              </a:rPr>
              <a:t>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9308592"/>
            <a:ext cx="6766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A6578"/>
                </a:solidFill>
                <a:latin typeface="Liberation Sans"/>
              </a:rPr>
              <a:t>Use the back if you need more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5: MAKE THE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13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lesson_05_visual_16x9.png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685800" y="914400"/>
            <a:ext cx="640080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114800"/>
            <a:ext cx="6492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0B8FF"/>
                </a:solidFill>
                <a:latin typeface="Comic Neue"/>
              </a:rPr>
              <a:t>1. How do we start?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462272"/>
            <a:ext cx="6583680" cy="594360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864608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285232"/>
            <a:ext cx="6492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65D94D"/>
                </a:solidFill>
                <a:latin typeface="Comic Neue"/>
              </a:rPr>
              <a:t>2. What happens on a turn?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632704"/>
            <a:ext cx="6583680" cy="594360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6035040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55664"/>
            <a:ext cx="6492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F9D19"/>
                </a:solidFill>
                <a:latin typeface="Comic Neue"/>
              </a:rPr>
              <a:t>3. What do special spaces 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803136"/>
            <a:ext cx="6583680" cy="594360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7205472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626096"/>
            <a:ext cx="6492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354A6"/>
                </a:solidFill>
                <a:latin typeface="Comic Neue"/>
              </a:rPr>
              <a:t>4. How do we win?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7973568"/>
            <a:ext cx="6583680" cy="594360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8375904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5: CUT OUT MOVE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14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68680"/>
            <a:ext cx="67665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Liberation Sans"/>
              </a:rPr>
              <a:t>Cut on the dotted lines. Mix the cards. Draw one card on each turn.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743200" cy="21031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27432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00B8FF"/>
                </a:solidFill>
                <a:latin typeface="Comic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08760"/>
            <a:ext cx="2743200" cy="21031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764792"/>
            <a:ext cx="27432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65D94D"/>
                </a:solidFill>
                <a:latin typeface="Comic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62072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87368"/>
            <a:ext cx="2743200" cy="21031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27432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9D19"/>
                </a:solidFill>
                <a:latin typeface="Comic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79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087368"/>
            <a:ext cx="2743200" cy="21031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00B8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343400"/>
            <a:ext cx="27432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00B8FF"/>
                </a:solidFill>
                <a:latin typeface="Comic Neue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5440679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6665975"/>
            <a:ext cx="2743200" cy="21031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65D94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922007"/>
            <a:ext cx="27432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65D94D"/>
                </a:solidFill>
                <a:latin typeface="Comic Neue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801928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6665975"/>
            <a:ext cx="2743200" cy="2103120"/>
          </a:xfrm>
          <a:prstGeom prst="roundRect">
            <a:avLst/>
          </a:prstGeom>
          <a:solidFill>
            <a:srgbClr val="F7FAFF"/>
          </a:solidFill>
          <a:ln w="31750">
            <a:solidFill>
              <a:srgbClr val="FF9D1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6922007"/>
            <a:ext cx="2743200" cy="1051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9D19"/>
                </a:solidFill>
                <a:latin typeface="Comic Neue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8019288"/>
            <a:ext cx="27432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13D"/>
                </a:solidFill>
                <a:latin typeface="Liberation Sans"/>
              </a:rPr>
              <a:t>MOVE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5: GAME ART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15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59536"/>
            <a:ext cx="6766560" cy="58521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Liberation Sans"/>
              </a:rPr>
              <a:t>Write the prompt on paper. A grown-up can type it later.</a:t>
            </a:r>
          </a:p>
        </p:txBody>
      </p:sp>
      <p:pic>
        <p:nvPicPr>
          <p:cNvPr id="8" name="Picture 7" descr="diagram_04_ai_prompt_recipe.png"/>
          <p:cNvPicPr>
            <a:picLocks noChangeAspect="1"/>
          </p:cNvPicPr>
          <p:nvPr/>
        </p:nvPicPr>
        <p:blipFill>
          <a:blip r:embed="rId3"/>
          <a:srcRect t="292" b="292"/>
          <a:stretch>
            <a:fillRect/>
          </a:stretch>
        </p:blipFill>
        <p:spPr>
          <a:xfrm>
            <a:off x="411480" y="1417320"/>
            <a:ext cx="6949440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486400"/>
            <a:ext cx="6583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9D19"/>
                </a:solidFill>
                <a:latin typeface="Comic Neue"/>
              </a:rPr>
              <a:t>CHARACTER ART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897880"/>
            <a:ext cx="658368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6400800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6729984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7269480"/>
            <a:ext cx="6583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65D94D"/>
                </a:solidFill>
                <a:latin typeface="Comic Neue"/>
              </a:rPr>
              <a:t>LEVEL ART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7680960"/>
            <a:ext cx="658368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8183879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8513063"/>
            <a:ext cx="608076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9006840"/>
            <a:ext cx="6583680" cy="640080"/>
          </a:xfrm>
          <a:prstGeom prst="roundRect">
            <a:avLst/>
          </a:prstGeom>
          <a:solidFill>
            <a:srgbClr val="FFEAF5"/>
          </a:solidFill>
          <a:ln w="2286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9125712"/>
            <a:ext cx="62179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Liberation Sans"/>
              </a:rPr>
              <a:t>PRIVATE INFO CHECK: I did not use my full name, school, address, phone, or face photo.  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MISSION 6: PLAYTEST TIME!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16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lesson_06_visual_16x9.png"/>
          <p:cNvPicPr>
            <a:picLocks noChangeAspect="1"/>
          </p:cNvPicPr>
          <p:nvPr/>
        </p:nvPicPr>
        <p:blipFill>
          <a:blip r:embed="rId3"/>
          <a:srcRect t="11111" b="11111"/>
          <a:stretch>
            <a:fillRect/>
          </a:stretch>
        </p:blipFill>
        <p:spPr>
          <a:xfrm>
            <a:off x="594360" y="868680"/>
            <a:ext cx="658368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069080"/>
            <a:ext cx="3566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Liberation Sans"/>
              </a:rPr>
              <a:t>My tester's name or nickname: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986784"/>
            <a:ext cx="3200400" cy="566928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4370832"/>
            <a:ext cx="274320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4800600"/>
            <a:ext cx="6583680" cy="111556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97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65D94D"/>
                </a:solidFill>
                <a:latin typeface="Comic Neue"/>
              </a:rPr>
              <a:t>FUN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19472"/>
            <a:ext cx="3657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Did you want to keep playing?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5312664"/>
            <a:ext cx="530352" cy="38404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5321808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4728" y="5312664"/>
            <a:ext cx="530352" cy="384048"/>
          </a:xfrm>
          <a:prstGeom prst="roundRect">
            <a:avLst/>
          </a:prstGeom>
          <a:solidFill>
            <a:srgbClr val="FFD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5321808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5312664"/>
            <a:ext cx="530352" cy="38404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5321808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153912"/>
            <a:ext cx="6583680" cy="111556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291072"/>
            <a:ext cx="1097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9D19"/>
                </a:solidFill>
                <a:latin typeface="Comic Neue"/>
              </a:rPr>
              <a:t>FAIR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272784"/>
            <a:ext cx="3657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Did everyone have a chance?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6665976"/>
            <a:ext cx="530352" cy="38404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6675120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4728" y="6665976"/>
            <a:ext cx="530352" cy="384048"/>
          </a:xfrm>
          <a:prstGeom prst="roundRect">
            <a:avLst/>
          </a:prstGeom>
          <a:solidFill>
            <a:srgbClr val="FFD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6675120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3096" y="6665976"/>
            <a:ext cx="530352" cy="38404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6675120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7507224"/>
            <a:ext cx="6583680" cy="1115568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7644384"/>
            <a:ext cx="1097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0B8FF"/>
                </a:solidFill>
                <a:latin typeface="Comic Neue"/>
              </a:rPr>
              <a:t>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7626096"/>
            <a:ext cx="3657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Did the rules make sense?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8019288"/>
            <a:ext cx="530352" cy="384048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8028432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24728" y="8019288"/>
            <a:ext cx="530352" cy="384048"/>
          </a:xfrm>
          <a:prstGeom prst="roundRect">
            <a:avLst/>
          </a:prstGeom>
          <a:solidFill>
            <a:srgbClr val="FFD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8028432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3096" y="8019288"/>
            <a:ext cx="530352" cy="384048"/>
          </a:xfrm>
          <a:prstGeom prst="roundRect">
            <a:avLst/>
          </a:prstGeom>
          <a:solidFill>
            <a:srgbClr val="F3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8028432"/>
            <a:ext cx="53035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71126"/>
                </a:solidFill>
                <a:latin typeface="Liberation Sans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8897112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Liberation Sans"/>
              </a:rPr>
              <a:t>One kind compliment: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9189720"/>
            <a:ext cx="6583680" cy="502920"/>
          </a:xfrm>
          <a:prstGeom prst="roundRect">
            <a:avLst/>
          </a:prstGeom>
          <a:solidFill>
            <a:srgbClr val="F7FAFF"/>
          </a:solidFill>
          <a:ln w="1905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MAKE IT BETTER!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8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17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pic>
        <p:nvPicPr>
          <p:cNvPr id="7" name="Picture 6" descr="diagram_03_playtest_loop.png"/>
          <p:cNvPicPr>
            <a:picLocks noChangeAspect="1"/>
          </p:cNvPicPr>
          <p:nvPr/>
        </p:nvPicPr>
        <p:blipFill>
          <a:blip r:embed="rId3"/>
          <a:srcRect t="292" b="292"/>
          <a:stretch>
            <a:fillRect/>
          </a:stretch>
        </p:blipFill>
        <p:spPr>
          <a:xfrm>
            <a:off x="411480" y="868680"/>
            <a:ext cx="694944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98348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0B8FF"/>
                </a:solidFill>
                <a:latin typeface="Comic Neue"/>
              </a:rPr>
              <a:t>I noticed...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94960"/>
            <a:ext cx="658368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897880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6227064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72084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354A6"/>
                </a:solidFill>
                <a:latin typeface="Comic Neue"/>
              </a:rPr>
              <a:t>I changed...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7132320"/>
            <a:ext cx="6583680" cy="10058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7635240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7964423"/>
            <a:ext cx="603504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8458200"/>
            <a:ext cx="3474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65D94D"/>
                </a:solidFill>
                <a:latin typeface="Comic Neue"/>
              </a:rPr>
              <a:t>Now my game is...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8869680"/>
            <a:ext cx="6583680" cy="658368"/>
          </a:xfrm>
          <a:prstGeom prst="roundRect">
            <a:avLst/>
          </a:prstGeom>
          <a:solidFill>
            <a:srgbClr val="ECFBE8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8997696"/>
            <a:ext cx="6583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4213D"/>
                </a:solidFill>
                <a:latin typeface="Liberation Sans"/>
              </a:rPr>
              <a:t>MORE FUN  /  MORE FAIR  /  MORE CLEAR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MY GAME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FFD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18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960120"/>
            <a:ext cx="3246120" cy="10972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078992"/>
            <a:ext cx="28803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B8FF"/>
                </a:solidFill>
                <a:latin typeface="Comic Neue"/>
              </a:rPr>
              <a:t>GAME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1709928"/>
            <a:ext cx="269748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960120"/>
            <a:ext cx="3246120" cy="10972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078992"/>
            <a:ext cx="28803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5D94D"/>
                </a:solidFill>
                <a:latin typeface="Comic Neue"/>
              </a:rPr>
              <a:t>THEME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709928"/>
            <a:ext cx="269748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3246120" cy="10972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96312"/>
            <a:ext cx="28803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9D19"/>
                </a:solidFill>
                <a:latin typeface="Comic Neue"/>
              </a:rPr>
              <a:t>HERO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127248"/>
            <a:ext cx="269748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2377440"/>
            <a:ext cx="3246120" cy="10972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2496312"/>
            <a:ext cx="28803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354A6"/>
                </a:solidFill>
                <a:latin typeface="Comic Neue"/>
              </a:rPr>
              <a:t>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3127248"/>
            <a:ext cx="269748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794760"/>
            <a:ext cx="3246120" cy="10972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913632"/>
            <a:ext cx="28803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8C4DFF"/>
                </a:solidFill>
                <a:latin typeface="Comic Neue"/>
              </a:rPr>
              <a:t>CHALLENGE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4544568"/>
            <a:ext cx="269748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3794760"/>
            <a:ext cx="3246120" cy="109728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3913632"/>
            <a:ext cx="28803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77FF"/>
                </a:solidFill>
                <a:latin typeface="Comic Neue"/>
              </a:rPr>
              <a:t>BEST PART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0832" y="4544568"/>
            <a:ext cx="269748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44068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Liberation Sans"/>
              </a:rPr>
              <a:t>Draw a tiny picture of your game: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897880"/>
            <a:ext cx="6583680" cy="2926080"/>
          </a:xfrm>
          <a:prstGeom prst="roundRect">
            <a:avLst/>
          </a:prstGeom>
          <a:solidFill>
            <a:srgbClr val="F7FAFF"/>
          </a:solidFill>
          <a:ln w="27940">
            <a:solidFill>
              <a:srgbClr val="FFD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9162288"/>
            <a:ext cx="65836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65D94D"/>
                </a:solidFill>
                <a:latin typeface="Liberation Sans"/>
              </a:rPr>
              <a:t>My game is ready to share!  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58368"/>
          </a:xfrm>
          <a:prstGeom prst="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7FAFF"/>
                </a:solidFill>
                <a:latin typeface="Comic Neue"/>
              </a:rPr>
              <a:t>MY 30-SECOND GAME PITCH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0" y="91440"/>
            <a:ext cx="566928" cy="457200"/>
          </a:xfrm>
          <a:prstGeom prst="roundRect">
            <a:avLst/>
          </a:prstGeom>
          <a:solidFill>
            <a:srgbClr val="65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00584"/>
            <a:ext cx="566928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071126"/>
                </a:solidFill>
                <a:latin typeface="Comic Neue"/>
              </a:rPr>
              <a:t>19</a:t>
            </a:r>
          </a:p>
        </p:txBody>
      </p:sp>
      <p:pic>
        <p:nvPicPr>
          <p:cNvPr id="6" name="Picture 5" descr="lux_ai_kid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3152"/>
            <a:ext cx="475488" cy="5009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114300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6126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B8FF"/>
                </a:solidFill>
                <a:latin typeface="Comic Neue"/>
              </a:rPr>
              <a:t>My game is called...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29384"/>
            <a:ext cx="59893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65176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F9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6126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9D19"/>
                </a:solidFill>
                <a:latin typeface="Comic Neue"/>
              </a:rPr>
              <a:t>The player is...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38144"/>
            <a:ext cx="59893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65D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6126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65D94D"/>
                </a:solidFill>
                <a:latin typeface="Comic Neue"/>
              </a:rPr>
              <a:t>The goal is...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946904"/>
            <a:ext cx="59893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5669279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F3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824727"/>
            <a:ext cx="6126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354A6"/>
                </a:solidFill>
                <a:latin typeface="Comic Neue"/>
              </a:rPr>
              <a:t>The challenge is...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6455664"/>
            <a:ext cx="59893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7178040"/>
            <a:ext cx="6583680" cy="123444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7333488"/>
            <a:ext cx="6126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8C4DFF"/>
                </a:solidFill>
                <a:latin typeface="Comic Neue"/>
              </a:rPr>
              <a:t>The coolest part is...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7964423"/>
            <a:ext cx="59893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8823960"/>
            <a:ext cx="6583680" cy="685800"/>
          </a:xfrm>
          <a:prstGeom prst="roundRect">
            <a:avLst/>
          </a:prstGeom>
          <a:solidFill>
            <a:srgbClr val="07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8942832"/>
            <a:ext cx="65836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7FAFF"/>
                </a:solidFill>
                <a:latin typeface="Liberation Sans"/>
              </a:rPr>
              <a:t>Stand tall. Smile. Speak slowly. Show your game!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x_ai_kid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20040"/>
            <a:ext cx="2651760" cy="1433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508760"/>
            <a:ext cx="65836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500" b="1">
                <a:solidFill>
                  <a:srgbClr val="FFD64A"/>
                </a:solidFill>
                <a:latin typeface="Comic Neue"/>
              </a:rPr>
              <a:t>CERTIFICATE OF GAME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65836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0">
                <a:solidFill>
                  <a:srgbClr val="F7FAFF"/>
                </a:solidFill>
                <a:latin typeface="Liberation Sans"/>
              </a:rPr>
              <a:t>This certifies that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80360"/>
            <a:ext cx="6035040" cy="822960"/>
          </a:xfrm>
          <a:prstGeom prst="roundRect">
            <a:avLst/>
          </a:prstGeom>
          <a:solidFill>
            <a:srgbClr val="F7FAFF"/>
          </a:solidFill>
          <a:ln w="25400">
            <a:solidFill>
              <a:srgbClr val="0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3456432"/>
            <a:ext cx="530352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630936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F7FAFF"/>
                </a:solidFill>
                <a:latin typeface="Liberation Sans"/>
              </a:rPr>
              <a:t>imagined, drew, built, and playtested an original paper game!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57800"/>
            <a:ext cx="5760720" cy="1325880"/>
          </a:xfrm>
          <a:prstGeom prst="roundRect">
            <a:avLst/>
          </a:prstGeom>
          <a:solidFill>
            <a:srgbClr val="F2EAFF"/>
          </a:solidFill>
          <a:ln w="25400">
            <a:solidFill>
              <a:srgbClr val="8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68112"/>
            <a:ext cx="5760720" cy="8686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8C4DFF"/>
                </a:solidFill>
                <a:latin typeface="Comic Neue"/>
              </a:rPr>
              <a:t>SMART • KIND • CREATIVE
GAME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7543800"/>
            <a:ext cx="118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7FAFF"/>
                </a:solidFill>
                <a:latin typeface="Liberation Sans"/>
              </a:rPr>
              <a:t>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8001000"/>
            <a:ext cx="182880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754380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7FAFF"/>
                </a:solidFill>
                <a:latin typeface="Liberation Sans"/>
              </a:rPr>
              <a:t>Grown-up / Teacher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8001000"/>
            <a:ext cx="2286000" cy="10972"/>
          </a:xfrm>
          <a:prstGeom prst="rect">
            <a:avLst/>
          </a:prstGeom>
          <a:solidFill>
            <a:srgbClr val="A9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8823960"/>
            <a:ext cx="6583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65D94D"/>
                </a:solidFill>
                <a:latin typeface="Comic Neue"/>
              </a:rPr>
              <a:t>IMAGINE IT. DRAW IT. PLAY IT. SHARE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