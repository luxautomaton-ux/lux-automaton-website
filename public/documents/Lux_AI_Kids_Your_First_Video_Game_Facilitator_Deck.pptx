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_workshop_thumbnail_16x9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508760" cy="8154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Comic Neue"/>
              </a:rPr>
              <a:t>TODAY YOU BECOME A GAME DESIGNER!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64208"/>
            <a:ext cx="4114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77FF"/>
                </a:solidFill>
                <a:latin typeface="Liberation Sans"/>
              </a:rPr>
              <a:t>You will make five cool things: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502920" cy="50292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21408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57984"/>
            <a:ext cx="3840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Liberation Sans"/>
              </a:rPr>
              <a:t>A game 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16352"/>
            <a:ext cx="502920" cy="50292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71216"/>
            <a:ext cx="3840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Liberation Sans"/>
              </a:rPr>
              <a:t>A hero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9584"/>
            <a:ext cx="502920" cy="50292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47872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84448"/>
            <a:ext cx="3840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Liberation Sans"/>
              </a:rPr>
              <a:t>A level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42816"/>
            <a:ext cx="502920" cy="50292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61104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97680"/>
            <a:ext cx="3840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Liberation Sans"/>
              </a:rPr>
              <a:t>Easy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56048"/>
            <a:ext cx="502920" cy="502920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74336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10912"/>
            <a:ext cx="3840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Liberation Sans"/>
              </a:rPr>
              <a:t>A better game after testing</a:t>
            </a:r>
          </a:p>
        </p:txBody>
      </p:sp>
      <p:pic>
        <p:nvPicPr>
          <p:cNvPr id="20" name="Picture 19" descr="01_workshop_hero_16x9.png"/>
          <p:cNvPicPr>
            <a:picLocks noChangeAspect="1"/>
          </p:cNvPicPr>
          <p:nvPr/>
        </p:nvPicPr>
        <p:blipFill>
          <a:blip r:embed="rId3"/>
          <a:srcRect l="8871" r="8871"/>
          <a:stretch>
            <a:fillRect/>
          </a:stretch>
        </p:blipFill>
        <p:spPr>
          <a:xfrm>
            <a:off x="5486400" y="1691640"/>
            <a:ext cx="6217920" cy="42519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960120"/>
            <a:ext cx="54864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14213D"/>
                </a:solidFill>
                <a:latin typeface="Comic Neue"/>
              </a:rPr>
              <a:t>WHAT YOU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200400" cy="16459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1901952"/>
            <a:ext cx="658368" cy="658368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01952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920240"/>
            <a:ext cx="2057400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Liberation Sans"/>
              </a:rPr>
              <a:t>Paper or cardboard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37360"/>
            <a:ext cx="3200400" cy="16459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06824" y="1901952"/>
            <a:ext cx="658368" cy="658368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901952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1920240"/>
            <a:ext cx="2057400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Liberation Sans"/>
              </a:rPr>
              <a:t>Crayons and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37360"/>
            <a:ext cx="3200400" cy="16459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27264" y="1901952"/>
            <a:ext cx="658368" cy="65836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1901952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1920240"/>
            <a:ext cx="2057400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Liberation Sans"/>
              </a:rPr>
              <a:t>Child-safe scissors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3200400" cy="16459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4050791"/>
            <a:ext cx="658368" cy="658368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050791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69080"/>
            <a:ext cx="2057400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Liberation Sans"/>
              </a:rPr>
              <a:t>Index cards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886200"/>
            <a:ext cx="3200400" cy="16459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6824" y="4050791"/>
            <a:ext cx="658368" cy="65836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4050791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4069080"/>
            <a:ext cx="2057400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Liberation Sans"/>
              </a:rPr>
              <a:t>Stickers for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886200"/>
            <a:ext cx="3200400" cy="16459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D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27264" y="4050791"/>
            <a:ext cx="658368" cy="658368"/>
          </a:xfrm>
          <a:prstGeom prst="roundRect">
            <a:avLst/>
          </a:prstGeom>
          <a:solidFill>
            <a:srgbClr val="FFD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4050791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4069080"/>
            <a:ext cx="2057400" cy="10972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Liberation Sans"/>
              </a:rPr>
              <a:t>A ruler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F7FAFF"/>
                </a:solidFill>
                <a:latin typeface="Comic Neue"/>
              </a:rPr>
              <a:t>6 FUN 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29000" cy="1828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764792"/>
            <a:ext cx="594360" cy="59436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594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755648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7FAFF"/>
                </a:solidFill>
                <a:latin typeface="Comic Neue"/>
              </a:rPr>
              <a:t>What Makes a Game a Game?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624328"/>
            <a:ext cx="1097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0B8FF"/>
                </a:solidFill>
                <a:latin typeface="Liberation Sans"/>
              </a:rPr>
              <a:t>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53512"/>
            <a:ext cx="2971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7FAFF"/>
                </a:solidFill>
                <a:latin typeface="Liberation Sans"/>
              </a:rPr>
              <a:t>Every game needs a character, a goal, a challenge, and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1828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1764792"/>
            <a:ext cx="594360" cy="59436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73936"/>
            <a:ext cx="594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1755648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7FAFF"/>
                </a:solidFill>
                <a:latin typeface="Comic Neue"/>
              </a:rPr>
              <a:t>Pick Your 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1" y="2624328"/>
            <a:ext cx="1097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65D94D"/>
                </a:solidFill>
                <a:latin typeface="Liberation Sans"/>
              </a:rPr>
              <a:t>15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53512"/>
            <a:ext cx="2971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7FAFF"/>
                </a:solidFill>
                <a:latin typeface="Liberation Sans"/>
              </a:rPr>
              <a:t>A theme tells where the game happens and what kind of adventure it feels like.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429000" cy="1828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94192" y="1764792"/>
            <a:ext cx="594360" cy="59436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773936"/>
            <a:ext cx="594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1755648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7FAFF"/>
                </a:solidFill>
                <a:latin typeface="Comic Neue"/>
              </a:rPr>
              <a:t>Design Your Character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624328"/>
            <a:ext cx="1097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9D19"/>
                </a:solidFill>
                <a:latin typeface="Liberation Sans"/>
              </a:rPr>
              <a:t>20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53512"/>
            <a:ext cx="2971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7FAFF"/>
                </a:solidFill>
                <a:latin typeface="Liberation Sans"/>
              </a:rPr>
              <a:t>A strong game hero has a name, a clear look, one useful power, and a reason to 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3429000" cy="1828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913631"/>
            <a:ext cx="594360" cy="59436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22776"/>
            <a:ext cx="594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904487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7FAFF"/>
                </a:solidFill>
                <a:latin typeface="Comic Neue"/>
              </a:rPr>
              <a:t>Draw the 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773168"/>
            <a:ext cx="1097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677FF"/>
                </a:solidFill>
                <a:latin typeface="Liberation Sans"/>
              </a:rPr>
              <a:t>20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02352"/>
            <a:ext cx="2971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7FAFF"/>
                </a:solidFill>
                <a:latin typeface="Liberation Sans"/>
              </a:rPr>
              <a:t>A level is a path from START to GOAL with fun choices and challenges along the way.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749039"/>
            <a:ext cx="3429000" cy="1828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53712" y="3913631"/>
            <a:ext cx="594360" cy="59436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3922776"/>
            <a:ext cx="594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1" y="3904487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7FAFF"/>
                </a:solidFill>
                <a:latin typeface="Comic Neue"/>
              </a:rPr>
              <a:t>Make the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1" y="4773168"/>
            <a:ext cx="1097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354A6"/>
                </a:solidFill>
                <a:latin typeface="Liberation Sans"/>
              </a:rPr>
              <a:t>20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102352"/>
            <a:ext cx="2971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7FAFF"/>
                </a:solidFill>
                <a:latin typeface="Liberation Sans"/>
              </a:rPr>
              <a:t>Rules make the game clear, fair, and possible to play without the designer explaining every move.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49039"/>
            <a:ext cx="3429000" cy="1828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94192" y="3913631"/>
            <a:ext cx="594360" cy="594360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922776"/>
            <a:ext cx="594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5712" y="3904487"/>
            <a:ext cx="2240280" cy="7132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7FAFF"/>
                </a:solidFill>
                <a:latin typeface="Comic Neue"/>
              </a:rPr>
              <a:t>Playtest Time!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5712" y="4773168"/>
            <a:ext cx="1097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8C4DFF"/>
                </a:solidFill>
                <a:latin typeface="Liberation Sans"/>
              </a:rPr>
              <a:t>25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102352"/>
            <a:ext cx="2971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7FAFF"/>
                </a:solidFill>
                <a:latin typeface="Liberation Sans"/>
              </a:rPr>
              <a:t>Game designers learn by watching real players and changing one thing at a time.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Imagine it. Draw it. Play it. Make it better!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960120"/>
            <a:ext cx="111556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000" b="1">
                <a:solidFill>
                  <a:srgbClr val="14213D"/>
                </a:solidFill>
                <a:latin typeface="Comic Neue"/>
              </a:rPr>
              <a:t>LANA'S AI HELPER 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8C4DFF"/>
                </a:solidFill>
                <a:latin typeface="Liberation Sans"/>
              </a:rPr>
              <a:t>AI can help with ideas. YOU are the game designer.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68880"/>
            <a:ext cx="5257800" cy="118872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640080" cy="64008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70048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651760"/>
            <a:ext cx="3977639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0B8FF"/>
                </a:solidFill>
                <a:latin typeface="Liberation Sans"/>
              </a:rPr>
              <a:t>ASK A GROWN-UP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3072384"/>
            <a:ext cx="3977639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0">
                <a:solidFill>
                  <a:srgbClr val="14213D"/>
                </a:solidFill>
                <a:latin typeface="Liberation Sans"/>
              </a:rPr>
              <a:t>before using an AI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68880"/>
            <a:ext cx="5257800" cy="118872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651760"/>
            <a:ext cx="640080" cy="64008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70048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2651760"/>
            <a:ext cx="3977639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354A6"/>
                </a:solidFill>
                <a:latin typeface="Liberation Sans"/>
              </a:rPr>
              <a:t>KEEP IT 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3072384"/>
            <a:ext cx="3977639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0">
                <a:solidFill>
                  <a:srgbClr val="14213D"/>
                </a:solidFill>
                <a:latin typeface="Liberation Sans"/>
              </a:rPr>
              <a:t>no full name, school, address, or face photo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5257800" cy="118872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160520"/>
            <a:ext cx="640080" cy="64008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78807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160520"/>
            <a:ext cx="3977639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9D19"/>
                </a:solidFill>
                <a:latin typeface="Liberation Sans"/>
              </a:rPr>
              <a:t>CHECK THE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581144"/>
            <a:ext cx="3977639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0">
                <a:solidFill>
                  <a:srgbClr val="14213D"/>
                </a:solidFill>
                <a:latin typeface="Liberation Sans"/>
              </a:rPr>
              <a:t>AI can be silly or wrong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977639"/>
            <a:ext cx="5257800" cy="118872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4160520"/>
            <a:ext cx="640080" cy="64008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178807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4160520"/>
            <a:ext cx="3977639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65D94D"/>
                </a:solidFill>
                <a:latin typeface="Liberation Sans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581144"/>
            <a:ext cx="3977639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0">
                <a:solidFill>
                  <a:srgbClr val="14213D"/>
                </a:solidFill>
                <a:latin typeface="Liberation Sans"/>
              </a:rPr>
              <a:t>keep, change, or skip every idea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esson_01_visual_16x9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960120"/>
            <a:ext cx="1554480" cy="50292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MISSION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877824"/>
            <a:ext cx="93726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700" b="1">
                <a:solidFill>
                  <a:srgbClr val="14213D"/>
                </a:solidFill>
                <a:latin typeface="Comic Neue"/>
              </a:rPr>
              <a:t>What Makes a Game a Game?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0972800" cy="1005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00B8FF"/>
                </a:solidFill>
                <a:latin typeface="Liberation Sans"/>
              </a:rPr>
              <a:t>Every game needs a character, a goal, a challenge, and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011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8C4DFF"/>
                </a:solidFill>
                <a:latin typeface="Comic Neue"/>
              </a:rPr>
              <a:t>ACE SAYS: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577840" cy="1737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0">
                <a:solidFill>
                  <a:srgbClr val="14213D"/>
                </a:solidFill>
                <a:latin typeface="Liberation Sans"/>
              </a:rPr>
              <a:t>A game is a tiny world with something to do. A character tries to reach a goal. A challenge makes the trip interesting. Rules tell everyone how to play.</a:t>
            </a:r>
          </a:p>
        </p:txBody>
      </p:sp>
      <p:pic>
        <p:nvPicPr>
          <p:cNvPr id="10" name="Picture 9" descr="lesson_01_visual_16x9.png"/>
          <p:cNvPicPr>
            <a:picLocks noChangeAspect="1"/>
          </p:cNvPicPr>
          <p:nvPr/>
        </p:nvPicPr>
        <p:blipFill>
          <a:blip r:embed="rId3"/>
          <a:srcRect t="987" b="987"/>
          <a:stretch>
            <a:fillRect/>
          </a:stretch>
        </p:blipFill>
        <p:spPr>
          <a:xfrm>
            <a:off x="6629400" y="3063240"/>
            <a:ext cx="4892040" cy="2697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41248"/>
            <a:ext cx="111556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>
                <a:solidFill>
                  <a:srgbClr val="F7FAFF"/>
                </a:solidFill>
                <a:latin typeface="Comic Neue"/>
              </a:rPr>
              <a:t>LET'S DO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7899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B8FF"/>
                </a:solidFill>
                <a:latin typeface="Liberation Sans"/>
              </a:rPr>
              <a:t>Game Recipe Sort: match picture cards to CHARACTER, GOAL, CHALLENGE, and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566928" cy="566928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Show the four Game Recipe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01952"/>
            <a:ext cx="566928" cy="566928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Say and act out each part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901952"/>
            <a:ext cx="566928" cy="566928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Use a familiar game such as tag to find the four parts.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9352"/>
            <a:ext cx="566928" cy="566928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Kids place or draw the four parts on their worksheet.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959352"/>
            <a:ext cx="566928" cy="566928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Invite two children to share their recipe.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Make: A completed four-part Game Recipe strip.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914400"/>
            <a:ext cx="52120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omic Neue"/>
              </a:rPr>
              <a:t>TRY THIS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623560" cy="23774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5074920" cy="1783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0">
                <a:solidFill>
                  <a:srgbClr val="14213D"/>
                </a:solidFill>
                <a:latin typeface="Liberation Sans"/>
              </a:rPr>
              <a:t>In a treasure game, the explorer is the character, the treasure chest is the goal, the river is the challenge, and “move one card each turn” is a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27632"/>
            <a:ext cx="5074920" cy="2377440"/>
          </a:xfrm>
          <a:prstGeom prst="roundRect">
            <a:avLst/>
          </a:prstGeom>
          <a:solidFill>
            <a:srgbClr val="F2E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74519"/>
            <a:ext cx="4297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8C4DFF"/>
                </a:solidFill>
                <a:latin typeface="Comic Neue"/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297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700" b="1">
                <a:solidFill>
                  <a:srgbClr val="14213D"/>
                </a:solidFill>
                <a:latin typeface="Liberation Sans"/>
              </a:rPr>
              <a:t>What tells the player how to win?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246120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Liberation Sans"/>
              </a:rPr>
              <a:t>Answer: The goal.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434840"/>
            <a:ext cx="11018520" cy="1234440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45152"/>
            <a:ext cx="1874519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D64A"/>
                </a:solidFill>
                <a:latin typeface="Comic Neue"/>
              </a:rPr>
              <a:t>ACE'S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572000"/>
            <a:ext cx="873252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Liberation Sans"/>
              </a:rPr>
              <a:t>Use movement: pose as a hero, point to a goal, step over a pretend obstacle, then freeze for a rule.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esson_02_visual_16x9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960120"/>
            <a:ext cx="1554480" cy="50292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MISSION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877824"/>
            <a:ext cx="93726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700" b="1">
                <a:solidFill>
                  <a:srgbClr val="14213D"/>
                </a:solidFill>
                <a:latin typeface="Comic Neue"/>
              </a:rPr>
              <a:t>Pick Your Theme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0972800" cy="1005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65D94D"/>
                </a:solidFill>
                <a:latin typeface="Liberation Sans"/>
              </a:rPr>
              <a:t>A theme tells where the game happens and what kind of adventure it feels like.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011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8C4DFF"/>
                </a:solidFill>
                <a:latin typeface="Comic Neue"/>
              </a:rPr>
              <a:t>ACE SAYS: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577840" cy="1737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0">
                <a:solidFill>
                  <a:srgbClr val="14213D"/>
                </a:solidFill>
                <a:latin typeface="Liberation Sans"/>
              </a:rPr>
              <a:t>A theme is the world of your game. It can be space, a jungle, the ocean, a magic castle, Dinosaur Land, Robot City, or a world you invent.</a:t>
            </a:r>
          </a:p>
        </p:txBody>
      </p:sp>
      <p:pic>
        <p:nvPicPr>
          <p:cNvPr id="10" name="Picture 9" descr="lesson_02_visual_16x9.png"/>
          <p:cNvPicPr>
            <a:picLocks noChangeAspect="1"/>
          </p:cNvPicPr>
          <p:nvPr/>
        </p:nvPicPr>
        <p:blipFill>
          <a:blip r:embed="rId3"/>
          <a:srcRect t="987" b="987"/>
          <a:stretch>
            <a:fillRect/>
          </a:stretch>
        </p:blipFill>
        <p:spPr>
          <a:xfrm>
            <a:off x="6629400" y="3063240"/>
            <a:ext cx="4892040" cy="2697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41248"/>
            <a:ext cx="111556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>
                <a:solidFill>
                  <a:srgbClr val="F7FAFF"/>
                </a:solidFill>
                <a:latin typeface="Comic Neue"/>
              </a:rPr>
              <a:t>LET'S DO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7899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5D94D"/>
                </a:solidFill>
                <a:latin typeface="Liberation Sans"/>
              </a:rPr>
              <a:t>Theme Dash: choose a world card, then add one place and one mission.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566928" cy="56692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Spread out the theme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01952"/>
            <a:ext cx="566928" cy="56692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Let each child point to or draw a favorite world.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901952"/>
            <a:ext cx="566928" cy="56692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Ask: Who lives there? What could they need?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9352"/>
            <a:ext cx="566928" cy="56692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Complete the sentence: “In my game, the player will ___ in ___.”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959352"/>
            <a:ext cx="566928" cy="56692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Give the game a fun name.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Make: A theme card and one-sentence game 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914400"/>
            <a:ext cx="52120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omic Neue"/>
              </a:rPr>
              <a:t>TRY THIS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623560" cy="23774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5074920" cy="1783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0">
                <a:solidFill>
                  <a:srgbClr val="14213D"/>
                </a:solidFill>
                <a:latin typeface="Liberation Sans"/>
              </a:rPr>
              <a:t>Theme: Underwater City. Mission: Help a tiny submarine collect three pearls and reach the coral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27632"/>
            <a:ext cx="5074920" cy="2377440"/>
          </a:xfrm>
          <a:prstGeom prst="roundRect">
            <a:avLst/>
          </a:prstGeom>
          <a:solidFill>
            <a:srgbClr val="F2E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74519"/>
            <a:ext cx="4297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8C4DFF"/>
                </a:solidFill>
                <a:latin typeface="Comic Neue"/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297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700" b="1">
                <a:solidFill>
                  <a:srgbClr val="14213D"/>
                </a:solidFill>
                <a:latin typeface="Liberation Sans"/>
              </a:rPr>
              <a:t>What does a theme tell us?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246120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Liberation Sans"/>
              </a:rPr>
              <a:t>Answer: Where the game happens and what it feels like.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434840"/>
            <a:ext cx="11018520" cy="1234440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45152"/>
            <a:ext cx="1874519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D64A"/>
                </a:solidFill>
                <a:latin typeface="Comic Neue"/>
              </a:rPr>
              <a:t>ACE'S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572000"/>
            <a:ext cx="873252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Liberation Sans"/>
              </a:rPr>
              <a:t>Offer six choices, not twenty.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esson_03_visual_16x9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960120"/>
            <a:ext cx="1554480" cy="50292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MISSION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877824"/>
            <a:ext cx="93726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700" b="1">
                <a:solidFill>
                  <a:srgbClr val="14213D"/>
                </a:solidFill>
                <a:latin typeface="Comic Neue"/>
              </a:rPr>
              <a:t>Design Your Character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0972800" cy="1005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9D19"/>
                </a:solidFill>
                <a:latin typeface="Liberation Sans"/>
              </a:rPr>
              <a:t>A strong game hero has a name, a clear look, one useful power, and a reason to 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011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8C4DFF"/>
                </a:solidFill>
                <a:latin typeface="Comic Neue"/>
              </a:rPr>
              <a:t>ACE SAYS: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577840" cy="1737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0">
                <a:solidFill>
                  <a:srgbClr val="14213D"/>
                </a:solidFill>
                <a:latin typeface="Liberation Sans"/>
              </a:rPr>
              <a:t>Your character is the one the player helps. Give the hero one special power. One strong power is easier to understand than ten powers.</a:t>
            </a:r>
          </a:p>
        </p:txBody>
      </p:sp>
      <p:pic>
        <p:nvPicPr>
          <p:cNvPr id="10" name="Picture 9" descr="lesson_03_visual_16x9.png"/>
          <p:cNvPicPr>
            <a:picLocks noChangeAspect="1"/>
          </p:cNvPicPr>
          <p:nvPr/>
        </p:nvPicPr>
        <p:blipFill>
          <a:blip r:embed="rId3"/>
          <a:srcRect t="987" b="987"/>
          <a:stretch>
            <a:fillRect/>
          </a:stretch>
        </p:blipFill>
        <p:spPr>
          <a:xfrm>
            <a:off x="6629400" y="3063240"/>
            <a:ext cx="4892040" cy="2697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41248"/>
            <a:ext cx="111556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>
                <a:solidFill>
                  <a:srgbClr val="F7FAFF"/>
                </a:solidFill>
                <a:latin typeface="Comic Neue"/>
              </a:rPr>
              <a:t>LET'S DO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7899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9D19"/>
                </a:solidFill>
                <a:latin typeface="Liberation Sans"/>
              </a:rPr>
              <a:t>Create a two-sided Character Card on an index card: picture on the front, name/power/story on the 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566928" cy="566928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Pick a shape, animal, person, robot, or creature.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01952"/>
            <a:ext cx="566928" cy="566928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Draw the face and body with big simple shapes.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901952"/>
            <a:ext cx="566928" cy="566928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Add one color clue or special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9352"/>
            <a:ext cx="566928" cy="566928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Choose one power that helps with the game goal.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959352"/>
            <a:ext cx="566928" cy="566928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Finish: “My hero is ___. They can ___. They need to ___.”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Make: A finished character card with one power and a short story.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914400"/>
            <a:ext cx="52120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omic Neue"/>
              </a:rPr>
              <a:t>TRY THIS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623560" cy="23774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5074920" cy="1783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0">
                <a:solidFill>
                  <a:srgbClr val="14213D"/>
                </a:solidFill>
                <a:latin typeface="Liberation Sans"/>
              </a:rPr>
              <a:t>Milo Mooncat glows in dark caves. He wants to return a lost star to the sky before sunrise.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27632"/>
            <a:ext cx="5074920" cy="2377440"/>
          </a:xfrm>
          <a:prstGeom prst="roundRect">
            <a:avLst/>
          </a:prstGeom>
          <a:solidFill>
            <a:srgbClr val="F2E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74519"/>
            <a:ext cx="4297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8C4DFF"/>
                </a:solidFill>
                <a:latin typeface="Comic Neue"/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297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700" b="1">
                <a:solidFill>
                  <a:srgbClr val="14213D"/>
                </a:solidFill>
                <a:latin typeface="Liberation Sans"/>
              </a:rPr>
              <a:t>Why should the hero have one clear power?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246120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Liberation Sans"/>
              </a:rPr>
              <a:t>Answer: It is easier to understand and makes the challenge more fun.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434840"/>
            <a:ext cx="11018520" cy="1234440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45152"/>
            <a:ext cx="1874519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D64A"/>
                </a:solidFill>
                <a:latin typeface="Comic Neue"/>
              </a:rPr>
              <a:t>ACE'S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572000"/>
            <a:ext cx="873252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Liberation Sans"/>
              </a:rPr>
              <a:t>Start with circles, squares, and triangles.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esson_04_visual_16x9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960120"/>
            <a:ext cx="1554480" cy="50292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MISSION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877824"/>
            <a:ext cx="93726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700" b="1">
                <a:solidFill>
                  <a:srgbClr val="14213D"/>
                </a:solidFill>
                <a:latin typeface="Comic Neue"/>
              </a:rPr>
              <a:t>Draw the 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0972800" cy="1005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1677FF"/>
                </a:solidFill>
                <a:latin typeface="Liberation Sans"/>
              </a:rPr>
              <a:t>A level is a path from START to GOAL with fun choices and challenges along the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011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8C4DFF"/>
                </a:solidFill>
                <a:latin typeface="Comic Neue"/>
              </a:rPr>
              <a:t>ACE SAYS: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577840" cy="1737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0">
                <a:solidFill>
                  <a:srgbClr val="14213D"/>
                </a:solidFill>
                <a:latin typeface="Liberation Sans"/>
              </a:rPr>
              <a:t>Your paper board is a map of the first game level. The player needs a way to start, move, meet a challenge, and reach the goal.</a:t>
            </a:r>
          </a:p>
        </p:txBody>
      </p:sp>
      <p:pic>
        <p:nvPicPr>
          <p:cNvPr id="10" name="Picture 9" descr="lesson_04_visual_16x9.png"/>
          <p:cNvPicPr>
            <a:picLocks noChangeAspect="1"/>
          </p:cNvPicPr>
          <p:nvPr/>
        </p:nvPicPr>
        <p:blipFill>
          <a:blip r:embed="rId3"/>
          <a:srcRect t="987" b="987"/>
          <a:stretch>
            <a:fillRect/>
          </a:stretch>
        </p:blipFill>
        <p:spPr>
          <a:xfrm>
            <a:off x="6629400" y="3063240"/>
            <a:ext cx="4892040" cy="2697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41248"/>
            <a:ext cx="111556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>
                <a:solidFill>
                  <a:srgbClr val="F7FAFF"/>
                </a:solidFill>
                <a:latin typeface="Comic Neue"/>
              </a:rPr>
              <a:t>LET'S DO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7899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77FF"/>
                </a:solidFill>
                <a:latin typeface="Liberation Sans"/>
              </a:rPr>
              <a:t>Build Level 1 on paper or cardboard using a ruler, crayons, and sticker 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566928" cy="566928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Draw a large START shape.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01952"/>
            <a:ext cx="566928" cy="566928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Draw a winding path of 12-20 spaces.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901952"/>
            <a:ext cx="566928" cy="566928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Add one challenge 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9352"/>
            <a:ext cx="566928" cy="566928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Add three star or bonus spaces.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959352"/>
            <a:ext cx="566928" cy="566928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Draw the GOAL and decorate the world after the path works.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Make: A paper game level with start, path, challenge, special spaces, and goal.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914400"/>
            <a:ext cx="52120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omic Neue"/>
              </a:rPr>
              <a:t>TRY THIS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623560" cy="23774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5074920" cy="1783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0">
                <a:solidFill>
                  <a:srgbClr val="14213D"/>
                </a:solidFill>
                <a:latin typeface="Liberation Sans"/>
              </a:rPr>
              <a:t>Start at the treehouse. Follow the river path. A broken bridge sends you back one space. Star spaces give another turn. The goal is the treasure cave.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27632"/>
            <a:ext cx="5074920" cy="2377440"/>
          </a:xfrm>
          <a:prstGeom prst="roundRect">
            <a:avLst/>
          </a:prstGeom>
          <a:solidFill>
            <a:srgbClr val="F2E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74519"/>
            <a:ext cx="4297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8C4DFF"/>
                </a:solidFill>
                <a:latin typeface="Comic Neue"/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297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700" b="1">
                <a:solidFill>
                  <a:srgbClr val="14213D"/>
                </a:solidFill>
                <a:latin typeface="Liberation Sans"/>
              </a:rPr>
              <a:t>What four things belong in every level path?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246120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Liberation Sans"/>
              </a:rPr>
              <a:t>Answer: Start, path, challenge, and goal.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434840"/>
            <a:ext cx="11018520" cy="1234440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45152"/>
            <a:ext cx="1874519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D64A"/>
                </a:solidFill>
                <a:latin typeface="Comic Neue"/>
              </a:rPr>
              <a:t>ACE'S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572000"/>
            <a:ext cx="873252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Liberation Sans"/>
              </a:rPr>
              <a:t>Draw the path lightly in pencil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esson_05_visual_16x9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960120"/>
            <a:ext cx="1554480" cy="50292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MISSION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877824"/>
            <a:ext cx="93726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700" b="1">
                <a:solidFill>
                  <a:srgbClr val="14213D"/>
                </a:solidFill>
                <a:latin typeface="Comic Neue"/>
              </a:rPr>
              <a:t>Make the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0972800" cy="1005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354A6"/>
                </a:solidFill>
                <a:latin typeface="Liberation Sans"/>
              </a:rPr>
              <a:t>Rules make the game clear, fair, and possible to play without the designer explaining every move.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011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8C4DFF"/>
                </a:solidFill>
                <a:latin typeface="Comic Neue"/>
              </a:rPr>
              <a:t>ACE SAYS: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577840" cy="1737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0">
                <a:solidFill>
                  <a:srgbClr val="14213D"/>
                </a:solidFill>
                <a:latin typeface="Liberation Sans"/>
              </a:rPr>
              <a:t>Rules answer four questions: How do we start? What happens on a turn? What do special spaces do? How do we win?</a:t>
            </a:r>
          </a:p>
        </p:txBody>
      </p:sp>
      <p:pic>
        <p:nvPicPr>
          <p:cNvPr id="10" name="Picture 9" descr="lesson_05_visual_16x9.png"/>
          <p:cNvPicPr>
            <a:picLocks noChangeAspect="1"/>
          </p:cNvPicPr>
          <p:nvPr/>
        </p:nvPicPr>
        <p:blipFill>
          <a:blip r:embed="rId3"/>
          <a:srcRect t="987" b="987"/>
          <a:stretch>
            <a:fillRect/>
          </a:stretch>
        </p:blipFill>
        <p:spPr>
          <a:xfrm>
            <a:off x="6629400" y="3063240"/>
            <a:ext cx="4892040" cy="2697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41248"/>
            <a:ext cx="111556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>
                <a:solidFill>
                  <a:srgbClr val="F7FAFF"/>
                </a:solidFill>
                <a:latin typeface="Comic Neue"/>
              </a:rPr>
              <a:t>LET'S DO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7899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354A6"/>
                </a:solidFill>
                <a:latin typeface="Liberation Sans"/>
              </a:rPr>
              <a:t>Create a Rules Card and test the rules with a pretend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566928" cy="56692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Write or dictate the start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01952"/>
            <a:ext cx="566928" cy="56692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Make move cards 1, 2, and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901952"/>
            <a:ext cx="566928" cy="56692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Choose what bonus and challenge spaces 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9352"/>
            <a:ext cx="566928" cy="56692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Write the winning rule.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959352"/>
            <a:ext cx="566928" cy="56692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Read the rules aloud and remove extra words.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3959352"/>
            <a:ext cx="566928" cy="56692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With a grown-up, build one character-art prompt and one level-art prompt.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Make: A four-rule card, three move cards, and two paper AI prompts.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914400"/>
            <a:ext cx="52120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omic Neue"/>
              </a:rPr>
              <a:t>TRY THIS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623560" cy="23774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5074920" cy="1783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0">
                <a:solidFill>
                  <a:srgbClr val="14213D"/>
                </a:solidFill>
                <a:latin typeface="Liberation Sans"/>
              </a:rPr>
              <a:t>1. Put your token on START. 2. Draw a move card and move that many spaces. 3. A star gives one extra turn; a cloud sends you back one space. 4. The first player to reach the treasure wins.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27632"/>
            <a:ext cx="5074920" cy="2377440"/>
          </a:xfrm>
          <a:prstGeom prst="roundRect">
            <a:avLst/>
          </a:prstGeom>
          <a:solidFill>
            <a:srgbClr val="F2E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74519"/>
            <a:ext cx="4297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8C4DFF"/>
                </a:solidFill>
                <a:latin typeface="Comic Neue"/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297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700" b="1">
                <a:solidFill>
                  <a:srgbClr val="14213D"/>
                </a:solidFill>
                <a:latin typeface="Liberation Sans"/>
              </a:rPr>
              <a:t>How do you know a rule is clear?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246120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Liberation Sans"/>
              </a:rPr>
              <a:t>Answer: Another player can follow it without extra help.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434840"/>
            <a:ext cx="11018520" cy="1234440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45152"/>
            <a:ext cx="1874519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D64A"/>
                </a:solidFill>
                <a:latin typeface="Comic Neue"/>
              </a:rPr>
              <a:t>ACE'S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572000"/>
            <a:ext cx="873252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Liberation Sans"/>
              </a:rPr>
              <a:t>Use short sentences and one action at a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esson_06_visual_16x9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960120"/>
            <a:ext cx="1554480" cy="502920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MISSION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877824"/>
            <a:ext cx="93726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700" b="1">
                <a:solidFill>
                  <a:srgbClr val="14213D"/>
                </a:solidFill>
                <a:latin typeface="Comic Neue"/>
              </a:rPr>
              <a:t>Playtest Time!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0972800" cy="1005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042416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8C4DFF"/>
                </a:solidFill>
                <a:latin typeface="Liberation Sans"/>
              </a:rPr>
              <a:t>Game designers learn by watching real players and changing one thing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011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8C4DFF"/>
                </a:solidFill>
                <a:latin typeface="Comic Neue"/>
              </a:rPr>
              <a:t>ACE SAYS: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577840" cy="1737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0">
                <a:solidFill>
                  <a:srgbClr val="14213D"/>
                </a:solidFill>
                <a:latin typeface="Liberation Sans"/>
              </a:rPr>
              <a:t>A playtest is not a test of you. It is a test of the game. If someone gets confused, that is useful information for the designer.</a:t>
            </a:r>
          </a:p>
        </p:txBody>
      </p:sp>
      <p:pic>
        <p:nvPicPr>
          <p:cNvPr id="10" name="Picture 9" descr="lesson_06_visual_16x9.png"/>
          <p:cNvPicPr>
            <a:picLocks noChangeAspect="1"/>
          </p:cNvPicPr>
          <p:nvPr/>
        </p:nvPicPr>
        <p:blipFill>
          <a:blip r:embed="rId3"/>
          <a:srcRect t="987" b="987"/>
          <a:stretch>
            <a:fillRect/>
          </a:stretch>
        </p:blipFill>
        <p:spPr>
          <a:xfrm>
            <a:off x="6629400" y="3063240"/>
            <a:ext cx="4892040" cy="2697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41248"/>
            <a:ext cx="1115568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>
                <a:solidFill>
                  <a:srgbClr val="F7FAFF"/>
                </a:solidFill>
                <a:latin typeface="Comic Neue"/>
              </a:rPr>
              <a:t>LET'S DO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07592"/>
            <a:ext cx="107899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8C4DFF"/>
                </a:solidFill>
                <a:latin typeface="Liberation Sans"/>
              </a:rPr>
              <a:t>Play, Watch, Ask, Fix, Play Again.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566928" cy="566928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Pair up or make groups of three.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01952"/>
            <a:ext cx="566928" cy="566928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Designer gives a 30-second explanation, then watches quietly.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901952"/>
            <a:ext cx="566928" cy="566928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11095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Players take a few turns or finish the game.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59352"/>
            <a:ext cx="566928" cy="566928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Ask: Was it fun? Was it fair? Was it clear?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959352"/>
            <a:ext cx="566928" cy="566928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Choose one change to make.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794760"/>
            <a:ext cx="3429000" cy="1627632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3959352"/>
            <a:ext cx="566928" cy="566928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968496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071126"/>
                </a:solidFill>
                <a:latin typeface="Comic Neue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931920"/>
            <a:ext cx="2331720" cy="11887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F7FAFF"/>
                </a:solidFill>
                <a:latin typeface="Liberation Sans"/>
              </a:rPr>
              <a:t>Play one more quick round.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Make: A completed playtest sheet and one “Make It Better” change ticket.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914400"/>
            <a:ext cx="52120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omic Neue"/>
              </a:rPr>
              <a:t>TRY THIS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5623560" cy="23774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5074920" cy="1783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600" b="0">
                <a:solidFill>
                  <a:srgbClr val="14213D"/>
                </a:solidFill>
                <a:latin typeface="Liberation Sans"/>
              </a:rPr>
              <a:t>A player keeps missing the bridge rule. The designer adds a bright orange arrow and changes the rule to “Bridge: go back 1.”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27632"/>
            <a:ext cx="5074920" cy="2377440"/>
          </a:xfrm>
          <a:prstGeom prst="roundRect">
            <a:avLst/>
          </a:prstGeom>
          <a:solidFill>
            <a:srgbClr val="F2E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74519"/>
            <a:ext cx="4297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8C4DFF"/>
                </a:solidFill>
                <a:latin typeface="Comic Neue"/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297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700" b="1">
                <a:solidFill>
                  <a:srgbClr val="14213D"/>
                </a:solidFill>
                <a:latin typeface="Liberation Sans"/>
              </a:rPr>
              <a:t>What are the three playtest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246120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Liberation Sans"/>
              </a:rPr>
              <a:t>Answer: Was it fun, fair, and clear?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434840"/>
            <a:ext cx="11018520" cy="1234440"/>
          </a:xfrm>
          <a:prstGeom prst="roundRect">
            <a:avLst/>
          </a:prstGeom>
          <a:solidFill>
            <a:srgbClr val="0C1C3A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45152"/>
            <a:ext cx="1874519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D64A"/>
                </a:solidFill>
                <a:latin typeface="Comic Neue"/>
              </a:rPr>
              <a:t>ACE'S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572000"/>
            <a:ext cx="8732520" cy="777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7FAFF"/>
                </a:solidFill>
                <a:latin typeface="Liberation Sans"/>
              </a:rPr>
              <a:t>Watch where players pause or ask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agram_04_ai_prompt_recipe.png"/>
          <p:cNvPicPr>
            <a:picLocks noChangeAspect="1"/>
          </p:cNvPicPr>
          <p:nvPr/>
        </p:nvPicPr>
        <p:blipFill>
          <a:blip r:embed="rId2"/>
          <a:srcRect t="3550" b="3550"/>
          <a:stretch>
            <a:fillRect/>
          </a:stretch>
        </p:blipFill>
        <p:spPr>
          <a:xfrm>
            <a:off x="320040" y="502920"/>
            <a:ext cx="11548872" cy="60350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agram_03_playtest_loop.png"/>
          <p:cNvPicPr>
            <a:picLocks noChangeAspect="1"/>
          </p:cNvPicPr>
          <p:nvPr/>
        </p:nvPicPr>
        <p:blipFill>
          <a:blip r:embed="rId2"/>
          <a:srcRect t="3550" b="3550"/>
          <a:stretch>
            <a:fillRect/>
          </a:stretch>
        </p:blipFill>
        <p:spPr>
          <a:xfrm>
            <a:off x="320040" y="502920"/>
            <a:ext cx="11548872" cy="60350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AI helps. People decide. Ask a grown-up first.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800" b="1">
                <a:solidFill>
                  <a:srgbClr val="14213D"/>
                </a:solidFill>
                <a:latin typeface="Comic Neue"/>
              </a:rPr>
              <a:t>FINAL BUILD: MY FIRST GAME PACK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2651760" cy="1783080"/>
          </a:xfrm>
          <a:prstGeom prst="roundRect">
            <a:avLst/>
          </a:prstGeom>
          <a:solidFill>
            <a:srgbClr val="F7FAFF"/>
          </a:solidFill>
          <a:ln w="3048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66928" cy="566928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47088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56232"/>
            <a:ext cx="169164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latin typeface="Liberation Sans"/>
              </a:rPr>
              <a:t>Theme and game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691640"/>
            <a:ext cx="2651760" cy="1783080"/>
          </a:xfrm>
          <a:prstGeom prst="roundRect">
            <a:avLst/>
          </a:prstGeom>
          <a:solidFill>
            <a:srgbClr val="F7FAFF"/>
          </a:solidFill>
          <a:ln w="3048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93008" y="1828800"/>
            <a:ext cx="566928" cy="56692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847088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1856232"/>
            <a:ext cx="169164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latin typeface="Liberation Sans"/>
              </a:rPr>
              <a:t>Character card with one power and 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1691640"/>
            <a:ext cx="2651760" cy="1783080"/>
          </a:xfrm>
          <a:prstGeom prst="roundRect">
            <a:avLst/>
          </a:prstGeom>
          <a:solidFill>
            <a:srgbClr val="F7FAFF"/>
          </a:solidFill>
          <a:ln w="3048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37376" y="1828800"/>
            <a:ext cx="566928" cy="566928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47088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1856232"/>
            <a:ext cx="169164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latin typeface="Liberation Sans"/>
              </a:rPr>
              <a:t>Level 1 board with start, path, challenge, and goal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4584" y="1691640"/>
            <a:ext cx="2651760" cy="1783080"/>
          </a:xfrm>
          <a:prstGeom prst="roundRect">
            <a:avLst/>
          </a:prstGeom>
          <a:solidFill>
            <a:srgbClr val="F7FAFF"/>
          </a:solidFill>
          <a:ln w="3048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81744" y="1828800"/>
            <a:ext cx="566928" cy="566928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1847088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1824" y="1856232"/>
            <a:ext cx="169164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latin typeface="Liberation Sans"/>
              </a:rPr>
              <a:t>Four-rule card and move cards 1-3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40480"/>
            <a:ext cx="2651760" cy="1783080"/>
          </a:xfrm>
          <a:prstGeom prst="roundRect">
            <a:avLst/>
          </a:prstGeom>
          <a:solidFill>
            <a:srgbClr val="F7FAFF"/>
          </a:solidFill>
          <a:ln w="3048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977640"/>
            <a:ext cx="566928" cy="56692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95928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05072"/>
            <a:ext cx="169164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latin typeface="Liberation Sans"/>
              </a:rPr>
              <a:t>Two safe AI art prompts written on paper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3840480"/>
            <a:ext cx="2651760" cy="1783080"/>
          </a:xfrm>
          <a:prstGeom prst="roundRect">
            <a:avLst/>
          </a:prstGeom>
          <a:solidFill>
            <a:srgbClr val="F7FAFF"/>
          </a:solidFill>
          <a:ln w="3048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93008" y="3977640"/>
            <a:ext cx="566928" cy="566928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3995928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8" y="4005072"/>
            <a:ext cx="169164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latin typeface="Liberation Sans"/>
              </a:rPr>
              <a:t>Playtest sheet with one improvement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0216" y="3840480"/>
            <a:ext cx="2651760" cy="1783080"/>
          </a:xfrm>
          <a:prstGeom prst="roundRect">
            <a:avLst/>
          </a:prstGeom>
          <a:solidFill>
            <a:srgbClr val="F7FAFF"/>
          </a:solidFill>
          <a:ln w="30480">
            <a:solidFill>
              <a:srgbClr val="FFD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37376" y="3977640"/>
            <a:ext cx="566928" cy="566928"/>
          </a:xfrm>
          <a:prstGeom prst="roundRect">
            <a:avLst/>
          </a:prstGeom>
          <a:solidFill>
            <a:srgbClr val="FFD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995928"/>
            <a:ext cx="566928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71126"/>
                </a:solidFill>
                <a:latin typeface="Comic Neue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6" y="4005072"/>
            <a:ext cx="1691640" cy="12801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latin typeface="Liberation Sans"/>
              </a:rPr>
              <a:t>30-second game pitch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You made a real game prototype. That makes you a game designer!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600200" cy="86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896112"/>
            <a:ext cx="11155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000" b="1">
                <a:solidFill>
                  <a:srgbClr val="F7FAFF"/>
                </a:solidFill>
                <a:latin typeface="Comic Neue"/>
              </a:rPr>
              <a:t>SHARE YOUR GAME IN 30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783080"/>
            <a:ext cx="9601200" cy="685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1874519"/>
            <a:ext cx="89611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F7FAFF"/>
                </a:solidFill>
                <a:latin typeface="Liberation Sans"/>
              </a:rPr>
              <a:t>My game is called...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651760"/>
            <a:ext cx="9601200" cy="685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743200"/>
            <a:ext cx="89611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F7FAFF"/>
                </a:solidFill>
                <a:latin typeface="Liberation Sans"/>
              </a:rPr>
              <a:t>The player is...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520439"/>
            <a:ext cx="9601200" cy="685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3611879"/>
            <a:ext cx="89611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F7FAFF"/>
                </a:solidFill>
                <a:latin typeface="Liberation Sans"/>
              </a:rPr>
              <a:t>The goal is...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389120"/>
            <a:ext cx="9601200" cy="685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4480559"/>
            <a:ext cx="89611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F7FAFF"/>
                </a:solidFill>
                <a:latin typeface="Liberation Sans"/>
              </a:rPr>
              <a:t>The challenge is...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257800"/>
            <a:ext cx="9601200" cy="685800"/>
          </a:xfrm>
          <a:prstGeom prst="roundRect">
            <a:avLst/>
          </a:prstGeom>
          <a:solidFill>
            <a:srgbClr val="0C1C3A"/>
          </a:solidFill>
          <a:ln w="2794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5349240"/>
            <a:ext cx="89611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F7FAFF"/>
                </a:solidFill>
                <a:latin typeface="Liberation Sans"/>
              </a:rPr>
              <a:t>The coolest part is...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6455664"/>
            <a:ext cx="11548872" cy="256032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AFF"/>
                </a:solidFill>
                <a:latin typeface="Liberation Sans"/>
              </a:rPr>
              <a:t>Clap for every creator. Great games begin with brave ideas!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cial_square_pro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0" y="1051560"/>
            <a:ext cx="46634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5400" b="1">
                <a:solidFill>
                  <a:srgbClr val="FFD64A"/>
                </a:solidFill>
                <a:latin typeface="Comic Neue"/>
              </a:rPr>
              <a:t>YOU DID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78040" y="1965960"/>
            <a:ext cx="4389120" cy="30632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7FAFF"/>
                </a:solidFill>
                <a:latin typeface="Liberation Sans"/>
              </a:rPr>
              <a:t>You imagined a world.
You built a hero.
You made rules.
You tested your game.
YOU ARE A GAME DESIGNER!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5440680"/>
            <a:ext cx="3977639" cy="68580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5504688"/>
            <a:ext cx="3977639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071126"/>
                </a:solidFill>
                <a:latin typeface="Comic Neue"/>
              </a:rPr>
              <a:t>LEVEL UP!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